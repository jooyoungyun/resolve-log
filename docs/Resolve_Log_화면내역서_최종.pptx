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63741a748d4919" /><Relationship Type="http://schemas.openxmlformats.org/officeDocument/2006/relationships/extended-properties" Target="/docProps/app.xml" Id="Re02041aef42a4b79" /><Relationship Type="http://schemas.openxmlformats.org/officeDocument/2006/relationships/officeDocument" Target="/ppt/presentation.xml" Id="R263151ae156340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70ca3c28934ecc"/>
  </p:sldMasterIdLst>
  <p:notesMasterIdLst>
    <p:notesMasterId xmlns:r="http://schemas.openxmlformats.org/officeDocument/2006/relationships" r:id="R52e04a5faa7d468c"/>
  </p:notesMasterIdLst>
  <p:sldIdLst>
    <p:sldId xmlns:r="http://schemas.openxmlformats.org/officeDocument/2006/relationships" id="256" r:id="R4a11fe8953c242a0"/>
    <p:sldId xmlns:r="http://schemas.openxmlformats.org/officeDocument/2006/relationships" id="257" r:id="R6473faf21cf44f71"/>
    <p:sldId xmlns:r="http://schemas.openxmlformats.org/officeDocument/2006/relationships" id="258" r:id="Ra794c22145b34c37"/>
    <p:sldId xmlns:r="http://schemas.openxmlformats.org/officeDocument/2006/relationships" id="259" r:id="R466626d274564294"/>
    <p:sldId xmlns:r="http://schemas.openxmlformats.org/officeDocument/2006/relationships" id="260" r:id="R0e7589eb862640f8"/>
    <p:sldId xmlns:r="http://schemas.openxmlformats.org/officeDocument/2006/relationships" id="261" r:id="Rfed0c00494454009"/>
    <p:sldId xmlns:r="http://schemas.openxmlformats.org/officeDocument/2006/relationships" id="262" r:id="R5908d063baeb4e7f"/>
    <p:sldId xmlns:r="http://schemas.openxmlformats.org/officeDocument/2006/relationships" id="263" r:id="R5e2571441aee4609"/>
    <p:sldId xmlns:r="http://schemas.openxmlformats.org/officeDocument/2006/relationships" id="264" r:id="R5e38720b53af4b9a"/>
    <p:sldId xmlns:r="http://schemas.openxmlformats.org/officeDocument/2006/relationships" id="265" r:id="Rf6211286e54a4666"/>
    <p:sldId xmlns:r="http://schemas.openxmlformats.org/officeDocument/2006/relationships" id="266" r:id="Ra4fae95925464371"/>
    <p:sldId xmlns:r="http://schemas.openxmlformats.org/officeDocument/2006/relationships" id="267" r:id="R25c5854620a1456f"/>
    <p:sldId xmlns:r="http://schemas.openxmlformats.org/officeDocument/2006/relationships" id="268" r:id="Rccbf536d510b4efe"/>
    <p:sldId xmlns:r="http://schemas.openxmlformats.org/officeDocument/2006/relationships" id="269" r:id="Rd4b9c6c779f645b3"/>
    <p:sldId xmlns:r="http://schemas.openxmlformats.org/officeDocument/2006/relationships" id="270" r:id="R17de16cd5eee4d02"/>
    <p:sldId xmlns:r="http://schemas.openxmlformats.org/officeDocument/2006/relationships" id="271" r:id="R1616136166b640b9"/>
    <p:sldId xmlns:r="http://schemas.openxmlformats.org/officeDocument/2006/relationships" id="272" r:id="Rad3898a4752b4c5b"/>
    <p:sldId xmlns:r="http://schemas.openxmlformats.org/officeDocument/2006/relationships" id="273" r:id="Rde55106895c54acc"/>
    <p:sldId xmlns:r="http://schemas.openxmlformats.org/officeDocument/2006/relationships" id="274" r:id="Ref419264e50d441a"/>
    <p:sldId xmlns:r="http://schemas.openxmlformats.org/officeDocument/2006/relationships" id="275" r:id="R443ce34a2ea7407e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ecdb1505964656" /><Relationship Type="http://schemas.openxmlformats.org/officeDocument/2006/relationships/slideMaster" Target="/ppt/slideMasters/slideMaster1.xml" Id="Ra970ca3c28934ecc" /><Relationship Type="http://schemas.openxmlformats.org/officeDocument/2006/relationships/notesMaster" Target="/ppt/notesMasters/notesMaster1.xml" Id="R52e04a5faa7d468c" /><Relationship Type="http://schemas.openxmlformats.org/officeDocument/2006/relationships/presProps" Target="/ppt/presProps.xml" Id="Ra0163d26be4f4183" /><Relationship Type="http://schemas.openxmlformats.org/officeDocument/2006/relationships/tableStyles" Target="/ppt/tableStyles.xml" Id="R1064b462a8a942cc" /><Relationship Type="http://schemas.openxmlformats.org/officeDocument/2006/relationships/slide" Target="/ppt/slides/slide1.xml" Id="R4a11fe8953c242a0" /><Relationship Type="http://schemas.openxmlformats.org/officeDocument/2006/relationships/slide" Target="/ppt/slides/slide2.xml" Id="R6473faf21cf44f71" /><Relationship Type="http://schemas.openxmlformats.org/officeDocument/2006/relationships/slide" Target="/ppt/slides/slide3.xml" Id="Ra794c22145b34c37" /><Relationship Type="http://schemas.openxmlformats.org/officeDocument/2006/relationships/slide" Target="/ppt/slides/slide4.xml" Id="R466626d274564294" /><Relationship Type="http://schemas.openxmlformats.org/officeDocument/2006/relationships/slide" Target="/ppt/slides/slide5.xml" Id="R0e7589eb862640f8" /><Relationship Type="http://schemas.openxmlformats.org/officeDocument/2006/relationships/slide" Target="/ppt/slides/slide6.xml" Id="Rfed0c00494454009" /><Relationship Type="http://schemas.openxmlformats.org/officeDocument/2006/relationships/slide" Target="/ppt/slides/slide7.xml" Id="R5908d063baeb4e7f" /><Relationship Type="http://schemas.openxmlformats.org/officeDocument/2006/relationships/slide" Target="/ppt/slides/slide8.xml" Id="R5e2571441aee4609" /><Relationship Type="http://schemas.openxmlformats.org/officeDocument/2006/relationships/slide" Target="/ppt/slides/slide9.xml" Id="R5e38720b53af4b9a" /><Relationship Type="http://schemas.openxmlformats.org/officeDocument/2006/relationships/slide" Target="/ppt/slides/slide10.xml" Id="Rf6211286e54a4666" /><Relationship Type="http://schemas.openxmlformats.org/officeDocument/2006/relationships/slide" Target="/ppt/slides/slide11.xml" Id="Ra4fae95925464371" /><Relationship Type="http://schemas.openxmlformats.org/officeDocument/2006/relationships/slide" Target="/ppt/slides/slide12.xml" Id="R25c5854620a1456f" /><Relationship Type="http://schemas.openxmlformats.org/officeDocument/2006/relationships/slide" Target="/ppt/slides/slide13.xml" Id="Rccbf536d510b4efe" /><Relationship Type="http://schemas.openxmlformats.org/officeDocument/2006/relationships/slide" Target="/ppt/slides/slide14.xml" Id="Rd4b9c6c779f645b3" /><Relationship Type="http://schemas.openxmlformats.org/officeDocument/2006/relationships/slide" Target="/ppt/slides/slide15.xml" Id="R17de16cd5eee4d02" /><Relationship Type="http://schemas.openxmlformats.org/officeDocument/2006/relationships/slide" Target="/ppt/slides/slide16.xml" Id="R1616136166b640b9" /><Relationship Type="http://schemas.openxmlformats.org/officeDocument/2006/relationships/slide" Target="/ppt/slides/slide17.xml" Id="Rad3898a4752b4c5b" /><Relationship Type="http://schemas.openxmlformats.org/officeDocument/2006/relationships/slide" Target="/ppt/slides/slide18.xml" Id="Rde55106895c54acc" /><Relationship Type="http://schemas.openxmlformats.org/officeDocument/2006/relationships/slide" Target="/ppt/slides/slide19.xml" Id="Ref419264e50d441a" /><Relationship Type="http://schemas.openxmlformats.org/officeDocument/2006/relationships/slide" Target="/ppt/slides/slide20.xml" Id="R443ce34a2ea740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6a6fe9b4ec4f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ac71a9be324419" /><Relationship Type="http://schemas.openxmlformats.org/officeDocument/2006/relationships/notesMaster" Target="/ppt/notesMasters/notesMaster1.xml" Id="Rff0938859a9948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08bb597b7a4275" /><Relationship Type="http://schemas.openxmlformats.org/officeDocument/2006/relationships/notesMaster" Target="/ppt/notesMasters/notesMaster1.xml" Id="Rbc2f535e7abf4a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4170c3445c4818" /><Relationship Type="http://schemas.openxmlformats.org/officeDocument/2006/relationships/notesMaster" Target="/ppt/notesMasters/notesMaster1.xml" Id="Rce35fd0a20de431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3c216e7f224fe0" /><Relationship Type="http://schemas.openxmlformats.org/officeDocument/2006/relationships/notesMaster" Target="/ppt/notesMasters/notesMaster1.xml" Id="R7e8f0beef0d547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997dab7e8646a1" /><Relationship Type="http://schemas.openxmlformats.org/officeDocument/2006/relationships/notesMaster" Target="/ppt/notesMasters/notesMaster1.xml" Id="R23948c4279c847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11b3ab49c04451" /><Relationship Type="http://schemas.openxmlformats.org/officeDocument/2006/relationships/notesMaster" Target="/ppt/notesMasters/notesMaster1.xml" Id="Rc5564964b53749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915ea1dc6c46d1" /><Relationship Type="http://schemas.openxmlformats.org/officeDocument/2006/relationships/notesMaster" Target="/ppt/notesMasters/notesMaster1.xml" Id="R4b4428acd03a4c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6be9fa4ec84ae0" /><Relationship Type="http://schemas.openxmlformats.org/officeDocument/2006/relationships/notesMaster" Target="/ppt/notesMasters/notesMaster1.xml" Id="R85d9bdb6183f46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0b154a839d04b75" /><Relationship Type="http://schemas.openxmlformats.org/officeDocument/2006/relationships/notesMaster" Target="/ppt/notesMasters/notesMaster1.xml" Id="R97d378061a214d2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428645da9d14120" /><Relationship Type="http://schemas.openxmlformats.org/officeDocument/2006/relationships/notesMaster" Target="/ppt/notesMasters/notesMaster1.xml" Id="R3a82fabf37ae491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c211eb603254811" /><Relationship Type="http://schemas.openxmlformats.org/officeDocument/2006/relationships/notesMaster" Target="/ppt/notesMasters/notesMaster1.xml" Id="Re6a30ac6fcab433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296413f52814572" /><Relationship Type="http://schemas.openxmlformats.org/officeDocument/2006/relationships/notesMaster" Target="/ppt/notesMasters/notesMaster1.xml" Id="Re96eb8f8a9eb401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722801758fe45e9" /><Relationship Type="http://schemas.openxmlformats.org/officeDocument/2006/relationships/notesMaster" Target="/ppt/notesMasters/notesMaster1.xml" Id="R00fa702c3aac4a9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9e5f857aa9c4ebf" /><Relationship Type="http://schemas.openxmlformats.org/officeDocument/2006/relationships/notesMaster" Target="/ppt/notesMasters/notesMaster1.xml" Id="R1b3d1b4782c74bc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850143ab3a74fae" /><Relationship Type="http://schemas.openxmlformats.org/officeDocument/2006/relationships/notesMaster" Target="/ppt/notesMasters/notesMaster1.xml" Id="R55493b749cd2475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adad6c399da4bbc" /><Relationship Type="http://schemas.openxmlformats.org/officeDocument/2006/relationships/notesMaster" Target="/ppt/notesMasters/notesMaster1.xml" Id="R34efa0588ba7481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c3494e0dd0a457f" /><Relationship Type="http://schemas.openxmlformats.org/officeDocument/2006/relationships/notesMaster" Target="/ppt/notesMasters/notesMaster1.xml" Id="Rbc638b53ff9d470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ebbbf944bdf44e9" /><Relationship Type="http://schemas.openxmlformats.org/officeDocument/2006/relationships/notesMaster" Target="/ppt/notesMasters/notesMaster1.xml" Id="R06cd7bac241a43d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c064ce318fd4f30" /><Relationship Type="http://schemas.openxmlformats.org/officeDocument/2006/relationships/notesMaster" Target="/ppt/notesMasters/notesMaster1.xml" Id="R96a9cc89a2384d5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e0fc432c87e472b" /><Relationship Type="http://schemas.openxmlformats.org/officeDocument/2006/relationships/notesMaster" Target="/ppt/notesMasters/notesMaster1.xml" Id="R6fc8c942a95743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결심과 일지를 중심으로 새로 구성한 개인 프로젝트입니다. 이 자료는 현재 제공된 소스의 구현 범위를 설명합니다. 사용자 PC의 회원가입 502 문제는 정상 연결 재확인이 필요합니다.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resolve-log/README.md</a:t>
            </a:r>
          </a:p>
          <a:p xmlns:a="http://schemas.openxmlformats.org/drawingml/2006/main">
            <a:r>
              <a:t>resolve-log/docs/VALIDATION.md</a:t>
            </a:r>
          </a:p>
          <a:p xmlns:a="http://schemas.openxmlformats.org/drawingml/2006/main">
            <a:r>
              <a:t>현재 대화의 사용자 로컬 실행 상황</a:t>
            </a:r>
          </a:p>
          <a:p xmlns:a="http://schemas.openxmlformats.org/drawingml/2006/main">
            <a:r>
              <a:t>문서 기준: Resolve Log 1.0.0, 2026-09-15. 화면 이미지는 독립된 테스트 환경의 예제 계정으로 촬영했습니다.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기능 단위 화면 ID를 부여했습니다. 일지 입력은 별도 페이지나 모달이 아니라 오늘의 일지 카드 안에 열리는 컴포넌트입니다.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frontend/app/pages</a:t>
            </a:r>
          </a:p>
          <a:p xmlns:a="http://schemas.openxmlformats.org/drawingml/2006/main">
            <a:r>
              <a:t>frontend/app/components/EntryEditor.vue</a:t>
            </a:r>
          </a:p>
          <a:p xmlns:a="http://schemas.openxmlformats.org/drawingml/2006/main">
            <a:r>
              <a:t>frontend/app/layouts/default.vue</a:t>
            </a:r>
          </a:p>
          <a:p xmlns:a="http://schemas.openxmlformats.org/drawingml/2006/main">
            <a:r>
              <a:t>문서 기준: Resolve Log 1.0.0, 2026-09-15. 화면 이미지는 독립된 테스트 환경의 예제 계정으로 촬영했습니다.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접근 제한과 서버 소유권 검증을 함께 적용합니다. 토큰이 있는 상태에서 로그인/회원가입 페이지를 방문하면 /로 이동합니다. 프런트가 토큰을 지워도 서버 토큰의 유효기간 자체를 폐기하지는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frontend/app/middleware/auth.global.ts</a:t>
            </a:r>
          </a:p>
          <a:p xmlns:a="http://schemas.openxmlformats.org/drawingml/2006/main">
            <a:r>
              <a:t>frontend/app/composables/useAuth.ts</a:t>
            </a:r>
          </a:p>
          <a:p xmlns:a="http://schemas.openxmlformats.org/drawingml/2006/main">
            <a:r>
              <a:t>frontend/app/composables/useApi.ts</a:t>
            </a:r>
          </a:p>
          <a:p xmlns:a="http://schemas.openxmlformats.org/drawingml/2006/main">
            <a:r>
              <a:t>frontend/app/layouts/default.vue</a:t>
            </a:r>
          </a:p>
          <a:p xmlns:a="http://schemas.openxmlformats.org/drawingml/2006/main">
            <a:r>
              <a:t>문서 기준: Resolve Log 1.0.0, 2026-09-15. 화면 이미지는 독립된 테스트 환경의 예제 계정으로 촬영했습니다.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로그인 API는 이메일을 소문자로 정규화하고 BCrypt로 비밀번호를 검증합니다. 토큰 기본 유효기간은 8시간이며 자동 갱신 기능은 없습니다.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frontend/app/pages/login.vue</a:t>
            </a:r>
          </a:p>
          <a:p xmlns:a="http://schemas.openxmlformats.org/drawingml/2006/main">
            <a:r>
              <a:t>backend/src/main/java/com/resolvelog/auth/AuthController.java</a:t>
            </a:r>
          </a:p>
          <a:p xmlns:a="http://schemas.openxmlformats.org/drawingml/2006/main">
            <a:r>
              <a:t>backend/src/main/java/com/resolvelog/auth/AuthService.java</a:t>
            </a:r>
          </a:p>
          <a:p xmlns:a="http://schemas.openxmlformats.org/drawingml/2006/main">
            <a:r>
              <a:t>문서 기준: Resolve Log 1.0.0, 2026-09-15. 화면 이미지는 독립된 테스트 환경의 예제 계정으로 촬영했습니다.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비밀번호 확인은 API 요청 필드가 아닙니다. 이름과 이메일의 길이는 프런트와 서버에서 검사하며 서버는 이메일을 소문자로 저장합니다. 현재 사용자 PC에서 제보된 Bad Gateway는 가입 성공으로 확인된 상태가 아닙니다.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frontend/app/pages/register.vue</a:t>
            </a:r>
          </a:p>
          <a:p xmlns:a="http://schemas.openxmlformats.org/drawingml/2006/main">
            <a:r>
              <a:t>backend/src/main/java/com/resolvelog/auth/AuthController.java</a:t>
            </a:r>
          </a:p>
          <a:p xmlns:a="http://schemas.openxmlformats.org/drawingml/2006/main">
            <a:r>
              <a:t>backend/src/main/java/com/resolvelog/auth/AuthService.java</a:t>
            </a:r>
          </a:p>
          <a:p xmlns:a="http://schemas.openxmlformats.org/drawingml/2006/main">
            <a:r>
              <a:t>문서 기준: Resolve Log 1.0.0, 2026-09-15. 화면 이미지는 독립된 테스트 환경의 예제 계정으로 촬영했습니다.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데이터는 GET /api/dashboard?date=YYYY-MM-DD 응답으로 구성합니다. 캡처의 33%와 45분은 예제 계정의 기록 값이며 서비스 이용 실적이 아닙니다.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frontend/app/pages/index.vue</a:t>
            </a:r>
          </a:p>
          <a:p xmlns:a="http://schemas.openxmlformats.org/drawingml/2006/main">
            <a:r>
              <a:t>backend/src/main/java/com/resolvelog/journal/DashboardController.java</a:t>
            </a:r>
          </a:p>
          <a:p xmlns:a="http://schemas.openxmlformats.org/drawingml/2006/main">
            <a:r>
              <a:t>테스트 계정으로 촬영한 실제 화면</a:t>
            </a:r>
          </a:p>
          <a:p xmlns:a="http://schemas.openxmlformats.org/drawingml/2006/main">
            <a:r>
              <a:t>문서 기준: Resolve Log 1.0.0, 2026-09-15. 화면 이미지는 독립된 테스트 환경의 예제 계정으로 촬영했습니다.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PARTIAL과 SKIPPED는 완료 수에 포함하지 않습니다. 보관 상태여도 선택 날짜에 이미 존재하는 일지가 있으면 대시보드에서 다시 수정할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backend/src/main/java/com/resolvelog/journal/DashboardController.java</a:t>
            </a:r>
          </a:p>
          <a:p xmlns:a="http://schemas.openxmlformats.org/drawingml/2006/main">
            <a:r>
              <a:t>backend/src/main/java/com/resolvelog/goal/Goal.java</a:t>
            </a:r>
          </a:p>
          <a:p xmlns:a="http://schemas.openxmlformats.org/drawingml/2006/main">
            <a:r>
              <a:t>frontend/app/utils/date.ts</a:t>
            </a:r>
          </a:p>
          <a:p xmlns:a="http://schemas.openxmlformats.org/drawingml/2006/main">
            <a:r>
              <a:t>문서 기준: Resolve Log 1.0.0, 2026-09-15. 화면 이미지는 독립된 테스트 환경의 예제 계정으로 촬영했습니다.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빈 목록에는 첫 결심 생성 안내 또는 보관한 결심이 없다는 안내를 표시합니다. 목록 자체에는 페이지 이동 기능이 없습니다.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frontend/app/pages/goals/index.vue</a:t>
            </a:r>
          </a:p>
          <a:p xmlns:a="http://schemas.openxmlformats.org/drawingml/2006/main">
            <a:r>
              <a:t>backend/src/main/java/com/resolvelog/goal/GoalController.java</a:t>
            </a:r>
          </a:p>
          <a:p xmlns:a="http://schemas.openxmlformats.org/drawingml/2006/main">
            <a:r>
              <a:t>문서 기준: Resolve Log 1.0.0, 2026-09-15. 화면 이미지는 독립된 테스트 환경의 예제 계정으로 촬영했습니다.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카테고리는 HEALTH, STUDY, WORK, LIFE, FINANCE, OTHER입니다. 반복 요일은 월요일 1에서 일요일 7까지이며 중복 요일을 허용하지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frontend/app/components/GoalForm.vue</a:t>
            </a:r>
          </a:p>
          <a:p xmlns:a="http://schemas.openxmlformats.org/drawingml/2006/main">
            <a:r>
              <a:t>frontend/app/pages/goals/new.vue</a:t>
            </a:r>
          </a:p>
          <a:p xmlns:a="http://schemas.openxmlformats.org/drawingml/2006/main">
            <a:r>
              <a:t>backend/src/main/java/com/resolvelog/goal/GoalDtos.java</a:t>
            </a:r>
          </a:p>
          <a:p xmlns:a="http://schemas.openxmlformats.org/drawingml/2006/main">
            <a:r>
              <a:t>backend/src/main/java/com/resolvelog/goal/GoalService.java</a:t>
            </a:r>
          </a:p>
          <a:p xmlns:a="http://schemas.openxmlformats.org/drawingml/2006/main">
            <a:r>
              <a:t>문서 기준: Resolve Log 1.0.0, 2026-09-15. 화면 이미지는 독립된 테스트 환경의 예제 계정으로 촬영했습니다.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오래된 version으로 수정하면 STALE_VERSION 409를 반환합니다. 보관 해제는 archived=false로 수정합니다. 결심 삭제 확인창에서는 모든 일지 삭제와 복구 불가를 알립니다.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frontend/app/pages/goals/[id].vue</a:t>
            </a:r>
          </a:p>
          <a:p xmlns:a="http://schemas.openxmlformats.org/drawingml/2006/main">
            <a:r>
              <a:t>frontend/app/components/GoalForm.vue</a:t>
            </a:r>
          </a:p>
          <a:p xmlns:a="http://schemas.openxmlformats.org/drawingml/2006/main">
            <a:r>
              <a:t>backend/src/main/java/com/resolvelog/goal/GoalService.java</a:t>
            </a:r>
          </a:p>
          <a:p xmlns:a="http://schemas.openxmlformats.org/drawingml/2006/main">
            <a:r>
              <a:t>문서 기준: Resolve Log 1.0.0, 2026-09-15. 화면 이미지는 독립된 테스트 환경의 예제 계정으로 촬영했습니다.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저장 API는 PUT /api/goals/{goalId}/entries/{date}, 삭제 API는 같은 주소의 DELETE입니다. 신규 입력의 기본 상태는 DONE, 시간은 0분입니다. 저장 또는 삭제 성공 시 대시보드 데이터를 다시 조회하고 입력 영역을 닫습니다.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frontend/app/components/EntryEditor.vue</a:t>
            </a:r>
          </a:p>
          <a:p xmlns:a="http://schemas.openxmlformats.org/drawingml/2006/main">
            <a:r>
              <a:t>frontend/app/pages/index.vue</a:t>
            </a:r>
          </a:p>
          <a:p xmlns:a="http://schemas.openxmlformats.org/drawingml/2006/main">
            <a:r>
              <a:t>backend/src/main/java/com/resolvelog/journal/JournalService.java</a:t>
            </a:r>
          </a:p>
          <a:p xmlns:a="http://schemas.openxmlformats.org/drawingml/2006/main">
            <a:r>
              <a:t>문서 기준: Resolve Log 1.0.0, 2026-09-15. 화면 이미지는 독립된 테스트 환경의 예제 계정으로 촬영했습니다.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기록 수정은 /?date=YYYY-MM-DD&amp;goal=UUID로 이동합니다. 달력은 모든 결심의 해당 월 기록을 보여주며 일지 목록의 결심·상태 필터와 별도로 집계합니다.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frontend/app/pages/journal.vue</a:t>
            </a:r>
          </a:p>
          <a:p xmlns:a="http://schemas.openxmlformats.org/drawingml/2006/main">
            <a:r>
              <a:t>backend/src/main/java/com/resolvelog/journal/DashboardController.java</a:t>
            </a:r>
          </a:p>
          <a:p xmlns:a="http://schemas.openxmlformats.org/drawingml/2006/main">
            <a:r>
              <a:t>문서 기준: Resolve Log 1.0.0, 2026-09-15. 화면 이미지는 독립된 테스트 환경의 예제 계정으로 촬영했습니다.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기간이 뒤집히거나 367일을 넘으면 서버가 400을 반환합니다. 월간 달력 조회는 GET /api/calendar, 일지 목록은 GET /api/entries입니다.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frontend/app/pages/journal.vue</a:t>
            </a:r>
          </a:p>
          <a:p xmlns:a="http://schemas.openxmlformats.org/drawingml/2006/main">
            <a:r>
              <a:t>backend/src/main/java/com/resolvelog/journal/JournalService.java</a:t>
            </a:r>
          </a:p>
          <a:p xmlns:a="http://schemas.openxmlformats.org/drawingml/2006/main">
            <a:r>
              <a:t>backend/src/main/java/com/resolvelog/journal/JournalController.java</a:t>
            </a:r>
          </a:p>
          <a:p xmlns:a="http://schemas.openxmlformats.org/drawingml/2006/main">
            <a:r>
              <a:t>문서 기준: Resolve Log 1.0.0, 2026-09-15. 화면 이미지는 독립된 테스트 환경의 예제 계정으로 촬영했습니다.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기간과 요일이 바뀌어도 이미 존재하는 일지의 수정은 허용합니다. 결심 ID는 서버에서 토큰의 소유자와 함께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backend/src/main/java/com/resolvelog/goal/GoalService.java</a:t>
            </a:r>
          </a:p>
          <a:p xmlns:a="http://schemas.openxmlformats.org/drawingml/2006/main">
            <a:r>
              <a:t>backend/src/main/java/com/resolvelog/journal/JournalService.java</a:t>
            </a:r>
          </a:p>
          <a:p xmlns:a="http://schemas.openxmlformats.org/drawingml/2006/main">
            <a:r>
              <a:t>backend/src/main/java/com/resolvelog/common/ApiExceptionHandler.java</a:t>
            </a:r>
          </a:p>
          <a:p xmlns:a="http://schemas.openxmlformats.org/drawingml/2006/main">
            <a:r>
              <a:t>문서 기준: Resolve Log 1.0.0, 2026-09-15. 화면 이미지는 독립된 테스트 환경의 예제 계정으로 촬영했습니다.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/auth/me API는 구현되어 있으나 현재 레이아웃은 로그인 응답의 사용자 정보를 사용합니다. API가 있다는 사실과 화면에서 매번 호출한다는 의미를 구분합니다.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backend/src/main/java/com/resolvelog/auth/AuthController.java</a:t>
            </a:r>
          </a:p>
          <a:p xmlns:a="http://schemas.openxmlformats.org/drawingml/2006/main">
            <a:r>
              <a:t>backend/src/main/java/com/resolvelog/goal/GoalController.java</a:t>
            </a:r>
          </a:p>
          <a:p xmlns:a="http://schemas.openxmlformats.org/drawingml/2006/main">
            <a:r>
              <a:t>frontend/app/composables/useAuth.ts</a:t>
            </a:r>
          </a:p>
          <a:p xmlns:a="http://schemas.openxmlformats.org/drawingml/2006/main">
            <a:r>
              <a:t>문서 기준: Resolve Log 1.0.0, 2026-09-15. 화면 이미지는 독립된 테스트 환경의 예제 계정으로 촬영했습니다.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/entries에는 선택 파라미터 goalId, status, size를 추가할 수 있습니다. /dashboard의 date가 없으면 기본 업무 시간대의 오늘을 사용합니다. 경로의 {id}는 결심 UUID, {date}는 YYYY-MM-DD입니다.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backend/src/main/java/com/resolvelog/journal/JournalController.java</a:t>
            </a:r>
          </a:p>
          <a:p xmlns:a="http://schemas.openxmlformats.org/drawingml/2006/main">
            <a:r>
              <a:t>backend/src/main/java/com/resolvelog/journal/DashboardController.java</a:t>
            </a:r>
          </a:p>
          <a:p xmlns:a="http://schemas.openxmlformats.org/drawingml/2006/main">
            <a:r>
              <a:t>문서 기준: Resolve Log 1.0.0, 2026-09-15. 화면 이미지는 독립된 테스트 환경의 예제 계정으로 촬영했습니다.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반복 요일은 월요일 1부터 일요일 7까지입니다. 카테고리와 수행 상태는 서버 enum과 DB CHECK 제약으로도 제한합니다.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frontend/app/types/index.ts</a:t>
            </a:r>
          </a:p>
          <a:p xmlns:a="http://schemas.openxmlformats.org/drawingml/2006/main">
            <a:r>
              <a:t>backend/src/main/java/com/resolvelog/goal/Goal.java</a:t>
            </a:r>
          </a:p>
          <a:p xmlns:a="http://schemas.openxmlformats.org/drawingml/2006/main">
            <a:r>
              <a:t>backend/src/main/java/com/resolvelog/journal/JournalEntry.java</a:t>
            </a:r>
          </a:p>
          <a:p xmlns:a="http://schemas.openxmlformats.org/drawingml/2006/main">
            <a:r>
              <a:t>backend/src/main/resources/db/migration/V1__initial_schema.sql</a:t>
            </a:r>
          </a:p>
          <a:p xmlns:a="http://schemas.openxmlformats.org/drawingml/2006/main">
            <a:r>
              <a:t>문서 기준: Resolve Log 1.0.0, 2026-09-15. 화면 이미지는 독립된 테스트 환경의 예제 계정으로 촬영했습니다.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표는 사용자 환경에서 확인할 인수 점검 기준입니다. 별도의 실행 결과를 채운 표가 아닙니다. 기존 자동 검증은 API 10개(H2)와 Chromium 흐름 1개입니다.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backend/src/test/java/com/resolvelog/ApiIntegrationTest.java</a:t>
            </a:r>
          </a:p>
          <a:p xmlns:a="http://schemas.openxmlformats.org/drawingml/2006/main">
            <a:r>
              <a:t>frontend/tests/e2e/journal.spec.ts</a:t>
            </a:r>
          </a:p>
          <a:p xmlns:a="http://schemas.openxmlformats.org/drawingml/2006/main">
            <a:r>
              <a:t>docs/VALIDATION.md</a:t>
            </a:r>
          </a:p>
          <a:p xmlns:a="http://schemas.openxmlformats.org/drawingml/2006/main">
            <a:r>
              <a:t>문서 기준: Resolve Log 1.0.0, 2026-09-15. 화면 이미지는 독립된 테스트 환경의 예제 계정으로 촬영했습니다.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자료를 요청하기 직전 사용자는 회원가입 Bad Gateway를 제보했습니다. 백엔드 직접 기동과 health 점검을 안내했으며 이후 정상화 결과는 받지 못했습니다. 이는 독립된 제작 환경의 기존 자동 테스트 결과와 다릅니다.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compose.yaml</a:t>
            </a:r>
          </a:p>
          <a:p xmlns:a="http://schemas.openxmlformats.org/drawingml/2006/main">
            <a:r>
              <a:t>.run/Resolve_Log_API.run.xml</a:t>
            </a:r>
          </a:p>
          <a:p xmlns:a="http://schemas.openxmlformats.org/drawingml/2006/main">
            <a:r>
              <a:t>frontend/nuxt.config.ts</a:t>
            </a:r>
          </a:p>
          <a:p xmlns:a="http://schemas.openxmlformats.org/drawingml/2006/main">
            <a:r>
              <a:t>frontend/server/api/[...path].ts</a:t>
            </a:r>
          </a:p>
          <a:p xmlns:a="http://schemas.openxmlformats.org/drawingml/2006/main">
            <a:r>
              <a:t>현재 대화의 회원가입 오류 제보</a:t>
            </a:r>
          </a:p>
          <a:p xmlns:a="http://schemas.openxmlformats.org/drawingml/2006/main">
            <a:r>
              <a:t>문서 기준: Resolve Log 1.0.0, 2026-09-15. 화면 이미지는 독립된 테스트 환경의 예제 계정으로 촬영했습니다.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PostgreSQL 검증 스크립트는 scripts/test-postgres.ps1과 scripts/test-postgres.sh입니다. 상세 API, 데이터 정책과 근거는 docs/ARCHITECTURE.md, 실행 방법은 docs/SETUP_KO.md, 실행한 검증의 범위는 docs/VALIDATION.md에 있습니다. 원본 참고 저장소: https://github.com/jooyoungyun/jaksimProject/tree/master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docs/ARCHITECTURE.md</a:t>
            </a:r>
          </a:p>
          <a:p xmlns:a="http://schemas.openxmlformats.org/drawingml/2006/main">
            <a:r>
              <a:t>docs/SETUP_KO.md</a:t>
            </a:r>
          </a:p>
          <a:p xmlns:a="http://schemas.openxmlformats.org/drawingml/2006/main">
            <a:r>
              <a:t>docs/VALIDATION.md</a:t>
            </a:r>
          </a:p>
          <a:p xmlns:a="http://schemas.openxmlformats.org/drawingml/2006/main">
            <a:r>
              <a:t>문서 기준: Resolve Log 1.0.0, 2026-09-15. 화면 이미지는 독립된 테스트 환경의 예제 계정으로 촬영했습니다.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787949100a4d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7369981d924268" /><Relationship Type="http://schemas.openxmlformats.org/officeDocument/2006/relationships/slideLayout" Target="/ppt/slideLayouts/slideLayout1.xml" Id="R9f7c502da47549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7c502da47549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a5171bf5014b51" /><Relationship Type="http://schemas.openxmlformats.org/officeDocument/2006/relationships/notesSlide" Target="/ppt/notesSlides/notesSlide1.xml" Id="R73099a215ec244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6957dfbd6410c" /><Relationship Type="http://schemas.openxmlformats.org/officeDocument/2006/relationships/notesSlide" Target="/ppt/notesSlides/notesSlide2.xml" Id="R199e591badb74f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048351a7da45e2" /><Relationship Type="http://schemas.openxmlformats.org/officeDocument/2006/relationships/image" Target="/ppt/media/image.png" Id="R8e6b7463a4324f0b" /><Relationship Type="http://schemas.openxmlformats.org/officeDocument/2006/relationships/notesSlide" Target="/ppt/notesSlides/notesSlide3.xml" Id="Rb93133a6c1754a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c88216fb0a47fb" /><Relationship Type="http://schemas.openxmlformats.org/officeDocument/2006/relationships/image" Target="/ppt/media/image2.png" Id="Raf638ad0cb36407b" /><Relationship Type="http://schemas.openxmlformats.org/officeDocument/2006/relationships/notesSlide" Target="/ppt/notesSlides/notesSlide4.xml" Id="R143a87c280334f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42b6c78d1c485b" /><Relationship Type="http://schemas.openxmlformats.org/officeDocument/2006/relationships/image" Target="/ppt/media/image3.png" Id="Rb79da492f4374781" /><Relationship Type="http://schemas.openxmlformats.org/officeDocument/2006/relationships/notesSlide" Target="/ppt/notesSlides/notesSlide5.xml" Id="R90103c69620043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c667bd0b2f47b4" /><Relationship Type="http://schemas.openxmlformats.org/officeDocument/2006/relationships/image" Target="/ppt/media/image4.png" Id="R2bab4acad60e48b0" /><Relationship Type="http://schemas.openxmlformats.org/officeDocument/2006/relationships/notesSlide" Target="/ppt/notesSlides/notesSlide6.xml" Id="R6bb17a12228047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e1b53a5f49401a" /><Relationship Type="http://schemas.openxmlformats.org/officeDocument/2006/relationships/notesSlide" Target="/ppt/notesSlides/notesSlide7.xml" Id="R2ebbe5eee27a43d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76507840fc438a" /><Relationship Type="http://schemas.openxmlformats.org/officeDocument/2006/relationships/image" Target="/ppt/media/image5.png" Id="R6010bf89be134cc8" /><Relationship Type="http://schemas.openxmlformats.org/officeDocument/2006/relationships/notesSlide" Target="/ppt/notesSlides/notesSlide8.xml" Id="R16cfa03e3ca442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8e54fdea534ec1" /><Relationship Type="http://schemas.openxmlformats.org/officeDocument/2006/relationships/image" Target="/ppt/media/image6.png" Id="R31bb7279ea064738" /><Relationship Type="http://schemas.openxmlformats.org/officeDocument/2006/relationships/notesSlide" Target="/ppt/notesSlides/notesSlide9.xml" Id="R78929e13a7de438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df1237c8744db5" /><Relationship Type="http://schemas.openxmlformats.org/officeDocument/2006/relationships/image" Target="/ppt/media/image7.png" Id="R0a78d8fb445043be" /><Relationship Type="http://schemas.openxmlformats.org/officeDocument/2006/relationships/notesSlide" Target="/ppt/notesSlides/notesSlide10.xml" Id="Rd1aa5db2361b4a3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5c64f332ab4738" /><Relationship Type="http://schemas.openxmlformats.org/officeDocument/2006/relationships/image" Target="/ppt/media/image8.png" Id="Reb7f40419fd340d5" /><Relationship Type="http://schemas.openxmlformats.org/officeDocument/2006/relationships/notesSlide" Target="/ppt/notesSlides/notesSlide11.xml" Id="R9639a420e644405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b24fab752423e" /><Relationship Type="http://schemas.openxmlformats.org/officeDocument/2006/relationships/image" Target="/ppt/media/image9.png" Id="R8511eb6881e549f0" /><Relationship Type="http://schemas.openxmlformats.org/officeDocument/2006/relationships/notesSlide" Target="/ppt/notesSlides/notesSlide12.xml" Id="Rd24502f59dfc4e0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2cf7480812443c" /><Relationship Type="http://schemas.openxmlformats.org/officeDocument/2006/relationships/notesSlide" Target="/ppt/notesSlides/notesSlide13.xml" Id="Re405bfdfa93146f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1f5b0c8cb24f35" /><Relationship Type="http://schemas.openxmlformats.org/officeDocument/2006/relationships/notesSlide" Target="/ppt/notesSlides/notesSlide14.xml" Id="R30708e3bea0745d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8438370842466f" /><Relationship Type="http://schemas.openxmlformats.org/officeDocument/2006/relationships/notesSlide" Target="/ppt/notesSlides/notesSlide15.xml" Id="Re27ec052ffe340d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231bfbfdeb4a66" /><Relationship Type="http://schemas.openxmlformats.org/officeDocument/2006/relationships/notesSlide" Target="/ppt/notesSlides/notesSlide16.xml" Id="R7b9cebe85ec8439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73c6fb373140b3" /><Relationship Type="http://schemas.openxmlformats.org/officeDocument/2006/relationships/notesSlide" Target="/ppt/notesSlides/notesSlide17.xml" Id="Ra9c12e0c019748d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95eadab54e446b" /><Relationship Type="http://schemas.openxmlformats.org/officeDocument/2006/relationships/notesSlide" Target="/ppt/notesSlides/notesSlide18.xml" Id="Ra5e4515d1dd8435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8173a8a3ef41da" /><Relationship Type="http://schemas.openxmlformats.org/officeDocument/2006/relationships/notesSlide" Target="/ppt/notesSlides/notesSlide19.xml" Id="R89324f66306b49c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1b73e9f8ad4e92" /><Relationship Type="http://schemas.openxmlformats.org/officeDocument/2006/relationships/notesSlide" Target="/ppt/notesSlides/notesSlide20.xml" Id="R809fcba983c1475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157CBD2-3539-4FFD-BAB0-B14A93F0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04875"/>
            <a:ext cx="1333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2D6556"/>
                </a:solidFill>
                <a:latin typeface="Noto Sans KR"/>
                <a:ea typeface="Noto Sans KR"/>
                <a:cs typeface="Noto Sans KR"/>
              </a:defRPr>
            </a:pPr>
            <a:r>
              <a:rPr sz="4200" b="1">
                <a:solidFill>
                  <a:srgbClr val="2D6556"/>
                </a:solidFill>
                <a:latin typeface="Noto Sans KR"/>
                <a:ea typeface="Noto Sans KR"/>
                <a:cs typeface="Noto Sans KR"/>
              </a:rPr>
              <a:t>Resolve Log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D0191CA-E232-4CF5-B874-146D8631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1333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213E39"/>
                </a:solidFill>
                <a:latin typeface="Noto Sans KR"/>
                <a:ea typeface="Noto Sans KR"/>
                <a:cs typeface="Noto Sans KR"/>
              </a:defRPr>
            </a:pPr>
            <a:r>
              <a:rPr sz="6450" b="1">
                <a:solidFill>
                  <a:srgbClr val="213E39"/>
                </a:solidFill>
                <a:latin typeface="Noto Sans KR"/>
                <a:ea typeface="Noto Sans KR"/>
                <a:cs typeface="Noto Sans KR"/>
              </a:rPr>
              <a:t>화면내역서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0A2858C-DA54-4F27-9FB6-545538C9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33975"/>
            <a:ext cx="1238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6766F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66766F"/>
                </a:solidFill>
                <a:latin typeface="Noto Sans KR"/>
                <a:ea typeface="Noto Sans KR"/>
                <a:cs typeface="Noto Sans KR"/>
              </a:rPr>
              <a:t>화면 구성, 입력 규칙, 처리 흐름과 API 연결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DA27840-46F0-4F53-9CD0-6D06A3E9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191375"/>
            <a:ext cx="1314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66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66766F"/>
                </a:solidFill>
                <a:latin typeface="Noto Sans KR"/>
                <a:ea typeface="Noto Sans KR"/>
                <a:cs typeface="Noto Sans KR"/>
              </a:rPr>
              <a:t>화면과 API의 구현 기준   2026.09   v1.0</a:t>
            </a:r>
          </a:p>
        </p:txBody>
      </p:sp>
    </p:spTree>
    <p:extLst>
      <p:ext uri="{BB962C8B-B14F-4D97-AF65-F5344CB8AC3E}">
        <p14:creationId xmlns:p14="http://schemas.microsoft.com/office/powerpoint/2010/main" val="8956874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82D139F-D3CD-4BF7-97C2-5279B0A2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"/>
            <a:ext cx="13563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13E39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213E39"/>
                </a:solidFill>
                <a:latin typeface="Noto Sans KR"/>
                <a:ea typeface="Noto Sans KR"/>
                <a:cs typeface="Noto Sans KR"/>
              </a:rPr>
              <a:t>화면 목록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A7A0E08-3F66-44A3-AA3F-C70C1657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04925"/>
            <a:ext cx="1352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66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66766F"/>
                </a:solidFill>
                <a:latin typeface="Noto Sans KR"/>
                <a:ea typeface="Noto Sans KR"/>
                <a:cs typeface="Noto Sans KR"/>
              </a:rPr>
              <a:t>7개 페이지, 일지 입력 영역 1개, 공통 메뉴 1개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55C37C1-4A71-47AC-B178-5169306E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1248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766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766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38200" y="1971675"/>
          <a:ext xmlns:a="http://schemas.openxmlformats.org/drawingml/2006/main" cx="13563600" cy="5334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143250"/>
                <a:gridCol w="6191250"/>
                <a:gridCol w="2133600"/>
              </a:tblGrid>
              <a:tr h="5334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화면 ID</a:t>
                      </a:r>
                    </a:p>
                  </a:txBody>
                  <a:tcPr marL="123825" marR="123825" marT="95250" marB="76200">
                    <a:solidFill>
                      <a:srgbClr val="2D655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화면명</a:t>
                      </a:r>
                    </a:p>
                  </a:txBody>
                  <a:tcPr marL="123825" marR="123825" marT="95250" marB="76200">
                    <a:solidFill>
                      <a:srgbClr val="2D655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경로 / 위치</a:t>
                      </a:r>
                    </a:p>
                  </a:txBody>
                  <a:tcPr marL="123825" marR="123825" marT="95250" marB="76200">
                    <a:solidFill>
                      <a:srgbClr val="2D655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접근</a:t>
                      </a:r>
                    </a:p>
                  </a:txBody>
                  <a:tcPr marL="123825" marR="123825" marT="95250" marB="76200">
                    <a:solidFill>
                      <a:srgbClr val="2D6556"/>
                    </a:solidFill>
                  </a:tcPr>
                </a:tc>
              </a:tr>
              <a:tr h="5334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COM-01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공통 메뉴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로그인 후 공통 레이아웃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로그인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AUTH-01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로그인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/login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비로그인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</a:tr>
              <a:tr h="5334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AUTH-02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회원가입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/register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비로그인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HOME-01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오늘의 일지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/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로그인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</a:tr>
              <a:tr h="5334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GOAL-01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나의 결심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/goals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로그인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GOAL-02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새로운 결심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/goals/new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로그인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</a:tr>
              <a:tr h="5334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GOAL-03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결심 다듬기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/goals/[id]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소유자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ENTRY-01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일지 입력 / 수정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오늘의 일지 내 입력 영역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소유자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</a:tr>
              <a:tr h="5334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HIST-01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기록 보관함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/journal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로그인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B3453BB-92A5-4444-A700-2B398CF8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705725"/>
            <a:ext cx="1323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66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6766F"/>
                </a:solidFill>
                <a:latin typeface="Noto Sans KR"/>
                <a:ea typeface="Noto Sans KR"/>
                <a:cs typeface="Noto Sans KR"/>
              </a:rPr>
              <a:t>화면 ID는 이 문서의 추적용 식별자입니다. 실제 구현 경로와 함께 관리합니다.</a:t>
            </a:r>
          </a:p>
        </p:txBody>
      </p:sp>
    </p:spTree>
    <p:extLst>
      <p:ext uri="{BB962C8B-B14F-4D97-AF65-F5344CB8AC3E}">
        <p14:creationId xmlns:p14="http://schemas.microsoft.com/office/powerpoint/2010/main" val="16496585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10A02B43-83EA-4175-86C5-1ED116D9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"/>
            <a:ext cx="13563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13E39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213E39"/>
                </a:solidFill>
                <a:latin typeface="Noto Sans KR"/>
                <a:ea typeface="Noto Sans KR"/>
                <a:cs typeface="Noto Sans KR"/>
              </a:rPr>
              <a:t>공통 메뉴와 접근 제어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183B2FC-5C22-415B-91F3-931FE6DD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04925"/>
            <a:ext cx="1352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66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66766F"/>
                </a:solidFill>
                <a:latin typeface="Noto Sans KR"/>
                <a:ea typeface="Noto Sans KR"/>
                <a:cs typeface="Noto Sans KR"/>
              </a:rPr>
              <a:t>COM-01  로그인한 사용자의 메뉴와 프로필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960B211-BE4E-49A7-A8BD-AC20F849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1248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766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766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6b7463a4324f0b"/>
          <a:stretch xmlns:a="http://schemas.openxmlformats.org/drawingml/2006/main"/>
        </p:blipFill>
        <p:spPr>
          <a:xfrm xmlns:a="http://schemas.openxmlformats.org/drawingml/2006/main">
            <a:off x="1396365" y="1952625"/>
            <a:ext cx="1303020" cy="57912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10" name=""/>
          <p:cNvGraphicFramePr/>
          <p:nvPr/>
        </p:nvGraphicFramePr>
        <p:xfrm>
          <a:off xmlns:a="http://schemas.openxmlformats.org/drawingml/2006/main" x="3600450" y="2047875"/>
          <a:ext xmlns:a="http://schemas.openxmlformats.org/drawingml/2006/main" cx="10801350" cy="4933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134350"/>
              </a:tblGrid>
              <a:tr h="5524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항목</a:t>
                      </a:r>
                    </a:p>
                  </a:txBody>
                  <a:tcPr marL="123825" marR="123825" marT="95250" marB="76200">
                    <a:solidFill>
                      <a:srgbClr val="2D655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동작</a:t>
                      </a:r>
                    </a:p>
                  </a:txBody>
                  <a:tcPr marL="123825" marR="123825" marT="95250" marB="76200">
                    <a:solidFill>
                      <a:srgbClr val="2D6556"/>
                    </a:solidFill>
                  </a:tcPr>
                </a:tc>
              </a:tr>
              <a:tr h="6667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오늘의 일지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/ 로 이동하여 선택 날짜의 결심과 기록 조회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나의 결심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/goals 로 이동하여 실천 중 / 보관 상태 조회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</a:tr>
              <a:tr h="6667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기록 보관함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/journal 로 이동하여 달력과 일지 목록 조회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프로필 / 로그아웃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이름 표시. 로그아웃 시 브라우저 인증 정보 삭제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</a:tr>
              <a:tr h="8572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미인증 / 만료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미인증은 /login, API 401은 /login?expired 로 이동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반응형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데스크톱은 좌측 메뉴, 모바일은 상단 메뉴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72102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A96558D6-E980-4B15-A66A-F279C41D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"/>
            <a:ext cx="13563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13E39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213E39"/>
                </a:solidFill>
                <a:latin typeface="Noto Sans KR"/>
                <a:ea typeface="Noto Sans KR"/>
                <a:cs typeface="Noto Sans KR"/>
              </a:rPr>
              <a:t>로그인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8B1485B-CACF-4BC4-A651-971FE34F5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04925"/>
            <a:ext cx="1352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66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66766F"/>
                </a:solidFill>
                <a:latin typeface="Noto Sans KR"/>
                <a:ea typeface="Noto Sans KR"/>
                <a:cs typeface="Noto Sans KR"/>
              </a:rPr>
              <a:t>AUTH-01  /login  비로그인 사용자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58D9FDB-4CBE-4732-8984-DC2D377C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1248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766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766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638ad0cb36407b"/>
          <a:stretch xmlns:a="http://schemas.openxmlformats.org/drawingml/2006/main"/>
        </p:blipFill>
        <p:spPr>
          <a:xfrm xmlns:a="http://schemas.openxmlformats.org/drawingml/2006/main">
            <a:off x="1502569" y="1981200"/>
            <a:ext cx="4976813" cy="5343525"/>
          </a:xfrm>
          <a:prstGeom xmlns:a="http://schemas.openxmlformats.org/drawingml/2006/main" prst="rect">
            <a:avLst/>
          </a:prstGeom>
        </p:spPr>
      </p:pic>
      <p:graphicFrame>
        <p:nvGraphicFramePr>
          <p:cNvPr id="11" name=""/>
          <p:cNvGraphicFramePr/>
          <p:nvPr/>
        </p:nvGraphicFramePr>
        <p:xfrm>
          <a:off xmlns:a="http://schemas.openxmlformats.org/drawingml/2006/main" x="7620000" y="2095500"/>
          <a:ext xmlns:a="http://schemas.openxmlformats.org/drawingml/2006/main" cx="6781800" cy="4552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00200"/>
                <a:gridCol w="5181600"/>
              </a:tblGrid>
              <a:tr h="5334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항목</a:t>
                      </a:r>
                    </a:p>
                  </a:txBody>
                  <a:tcPr marL="123825" marR="123825" marT="95250" marB="76200">
                    <a:solidFill>
                      <a:srgbClr val="2D655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입력 / 처리 기준</a:t>
                      </a:r>
                    </a:p>
                  </a:txBody>
                  <a:tcPr marL="123825" marR="123825" marT="95250" marB="76200">
                    <a:solidFill>
                      <a:srgbClr val="2D6556"/>
                    </a:solidFill>
                  </a:tcPr>
                </a:tc>
              </a:tr>
              <a:tr h="7429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이메일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필수. 이메일 형식, 최대 254자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비밀번호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필수. 최대 64자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</a:tr>
              <a:tr h="9525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로그인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POST /api/auth/login. 토큰 저장 후 / 이동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실패 / 만료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오류 메시지 표시. 만료 안내와 재로그인 제공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</a:tr>
              <a:tr h="6858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회원가입 링크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/register 로 이동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764E721-E46A-4A4A-AF53-7D25EF6A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705725"/>
            <a:ext cx="1323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66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6766F"/>
                </a:solidFill>
                <a:latin typeface="Noto Sans KR"/>
                <a:ea typeface="Noto Sans KR"/>
                <a:cs typeface="Noto Sans KR"/>
              </a:rPr>
              <a:t>로그인 실패 시 입력 화면을 유지하며 서버의 오류 메시지를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1086492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71F23AD1-FE76-4DA6-84EB-73E10414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"/>
            <a:ext cx="13563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13E39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213E39"/>
                </a:solidFill>
                <a:latin typeface="Noto Sans KR"/>
                <a:ea typeface="Noto Sans KR"/>
                <a:cs typeface="Noto Sans KR"/>
              </a:rPr>
              <a:t>회원가입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93DFCE9-5155-4A19-A0B2-6E3DECDE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04925"/>
            <a:ext cx="1352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66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66766F"/>
                </a:solidFill>
                <a:latin typeface="Noto Sans KR"/>
                <a:ea typeface="Noto Sans KR"/>
                <a:cs typeface="Noto Sans KR"/>
              </a:rPr>
              <a:t>AUTH-02  /register  가입 성공 후 첫 결심 작성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9461A69-000C-430E-B99B-7B25A890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1248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766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766F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9da492f4374781"/>
          <a:stretch xmlns:a="http://schemas.openxmlformats.org/drawingml/2006/main"/>
        </p:blipFill>
        <p:spPr>
          <a:xfrm xmlns:a="http://schemas.openxmlformats.org/drawingml/2006/main">
            <a:off x="1952625" y="1924050"/>
            <a:ext cx="3619500" cy="55626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11" name=""/>
          <p:cNvGraphicFramePr/>
          <p:nvPr/>
        </p:nvGraphicFramePr>
        <p:xfrm>
          <a:off xmlns:a="http://schemas.openxmlformats.org/drawingml/2006/main" x="7048500" y="1952625"/>
          <a:ext xmlns:a="http://schemas.openxmlformats.org/drawingml/2006/main" cx="7353300" cy="5048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76425"/>
                <a:gridCol w="5476875"/>
              </a:tblGrid>
              <a:tr h="5238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입력 항목</a:t>
                      </a:r>
                    </a:p>
                  </a:txBody>
                  <a:tcPr marL="123825" marR="123825" marT="95250" marB="76200">
                    <a:solidFill>
                      <a:srgbClr val="2D655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검증 규칙</a:t>
                      </a:r>
                    </a:p>
                  </a:txBody>
                  <a:tcPr marL="123825" marR="123825" marT="95250" marB="76200">
                    <a:solidFill>
                      <a:srgbClr val="2D6556"/>
                    </a:solidFill>
                  </a:tcPr>
                </a:tc>
              </a:tr>
              <a:tr h="6667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이름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필수. 앞뒤 공백 제거, 2~30자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이메일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필수. 이메일 형식, 최대 254자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</a:tr>
              <a:tr h="8096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비밀번호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필수. 8~64자, UTF-8 72바이트 이하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비밀번호 확인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비밀번호 일치 확인. 프런트에서만 사용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</a:tr>
              <a:tr h="8096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가입 처리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POST /api/auth/register. 중복 이메일은 409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성공 후 이동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토큰 저장 후 /goals/new 이동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</a:tr>
            </a:tbl>
          </a:graphicData>
        </a:graphic>
      </p:graphicFrame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64F75A5-1411-4341-981F-B6AC2F98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705725"/>
            <a:ext cx="1323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66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6766F"/>
                </a:solidFill>
                <a:latin typeface="Noto Sans KR"/>
                <a:ea typeface="Noto Sans KR"/>
                <a:cs typeface="Noto Sans KR"/>
              </a:rPr>
              <a:t>저장 중에는 버튼을 비활성화합니다. 중복 이메일 등 서버 오류는 화면에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18013438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C9D0C9B0-8149-445D-98C2-803913DB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"/>
            <a:ext cx="13563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13E39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213E39"/>
                </a:solidFill>
                <a:latin typeface="Noto Sans KR"/>
                <a:ea typeface="Noto Sans KR"/>
                <a:cs typeface="Noto Sans KR"/>
              </a:rPr>
              <a:t>오늘의 일지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ABE63C0-1B2E-4FF5-B8EB-F28DA966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04925"/>
            <a:ext cx="1352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66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66766F"/>
                </a:solidFill>
                <a:latin typeface="Noto Sans KR"/>
                <a:ea typeface="Noto Sans KR"/>
                <a:cs typeface="Noto Sans KR"/>
              </a:rPr>
              <a:t>HOME-01  /  선택 날짜의 실천 현황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7005001-CDAF-4500-AE2A-D4172053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1248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766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766F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ab4acad60e48b0"/>
          <a:stretch xmlns:a="http://schemas.openxmlformats.org/drawingml/2006/main"/>
        </p:blipFill>
        <p:spPr>
          <a:xfrm xmlns:a="http://schemas.openxmlformats.org/drawingml/2006/main">
            <a:off x="1762805" y="1857375"/>
            <a:ext cx="7751989" cy="6029325"/>
          </a:xfrm>
          <a:prstGeom xmlns:a="http://schemas.openxmlformats.org/drawingml/2006/main" prst="rect">
            <a:avLst/>
          </a:prstGeom>
        </p:spPr>
      </p:pic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C09B47F-0B2D-4D7D-B8D3-D24893F4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07645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D6556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2D6556"/>
                </a:solidFill>
                <a:latin typeface="Noto Sans KR"/>
                <a:ea typeface="Noto Sans KR"/>
                <a:cs typeface="Noto Sans KR"/>
              </a:rPr>
              <a:t>날짜 선택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CC49081-00D2-4561-BC6C-EC29758C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562225"/>
            <a:ext cx="3524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13E39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13E39"/>
                </a:solidFill>
                <a:latin typeface="Noto Sans KR"/>
                <a:ea typeface="Noto Sans KR"/>
                <a:cs typeface="Noto Sans KR"/>
              </a:rPr>
              <a:t>오늘 또는 과거 날짜의 예정된 결심과 기존 기록을 조회합니다.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24E9F3C-267C-4DB3-A476-F59C644A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800475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D6556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2D6556"/>
                </a:solidFill>
                <a:latin typeface="Noto Sans KR"/>
                <a:ea typeface="Noto Sans KR"/>
                <a:cs typeface="Noto Sans KR"/>
              </a:rPr>
              <a:t>현황 확인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EE624BE-153F-462C-B38F-748EB9D1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286250"/>
            <a:ext cx="3524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13E39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13E39"/>
                </a:solidFill>
                <a:latin typeface="Noto Sans KR"/>
                <a:ea typeface="Noto Sans KR"/>
                <a:cs typeface="Noto Sans KR"/>
              </a:rPr>
              <a:t>달성률, 완료 수, 실천 시간과 최근 7일 완료 현황을 보여줍니다.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574F579-806D-47DC-895C-DCCF1130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552450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D6556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2D6556"/>
                </a:solidFill>
                <a:latin typeface="Noto Sans KR"/>
                <a:ea typeface="Noto Sans KR"/>
                <a:cs typeface="Noto Sans KR"/>
              </a:rPr>
              <a:t>기록 진입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B49B27C-35BD-4F0B-9B42-23B3F4E9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010275"/>
            <a:ext cx="3524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13E39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13E39"/>
                </a:solidFill>
                <a:latin typeface="Noto Sans KR"/>
                <a:ea typeface="Noto Sans KR"/>
                <a:cs typeface="Noto Sans KR"/>
              </a:rPr>
              <a:t>기록하기 / 수정 버튼으로 카드 안에 일지 입력 영역을 엽니다.</a:t>
            </a:r>
          </a:p>
        </p:txBody>
      </p:sp>
    </p:spTree>
    <p:extLst>
      <p:ext uri="{BB962C8B-B14F-4D97-AF65-F5344CB8AC3E}">
        <p14:creationId xmlns:p14="http://schemas.microsoft.com/office/powerpoint/2010/main" val="4171105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B4FEBB5-03B5-4137-BFE2-EC648949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"/>
            <a:ext cx="13563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13E39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213E39"/>
                </a:solidFill>
                <a:latin typeface="Noto Sans KR"/>
                <a:ea typeface="Noto Sans KR"/>
                <a:cs typeface="Noto Sans KR"/>
              </a:rPr>
              <a:t>대시보드 집계 기준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2329C04-63B5-4DBF-B238-78ACF6F9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04925"/>
            <a:ext cx="1352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66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66766F"/>
                </a:solidFill>
                <a:latin typeface="Noto Sans KR"/>
                <a:ea typeface="Noto Sans KR"/>
                <a:cs typeface="Noto Sans KR"/>
              </a:rPr>
              <a:t>HOME-01  날짜와 숫자의 의미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092B912-89BC-4A52-BEC6-80166A988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1248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766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766F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838200" y="2047875"/>
          <a:ext xmlns:a="http://schemas.openxmlformats.org/drawingml/2006/main" cx="13563600" cy="5543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10706100"/>
              </a:tblGrid>
              <a:tr h="5524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표시 항목</a:t>
                      </a:r>
                    </a:p>
                  </a:txBody>
                  <a:tcPr marL="123825" marR="123825" marT="95250" marB="76200">
                    <a:solidFill>
                      <a:srgbClr val="2D655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계산 / 포함 기준</a:t>
                      </a:r>
                    </a:p>
                  </a:txBody>
                  <a:tcPr marL="123825" marR="123825" marT="95250" marB="76200">
                    <a:solidFill>
                      <a:srgbClr val="2D6556"/>
                    </a:solidFill>
                  </a:tcPr>
                </a:tc>
              </a:tr>
              <a:tr h="838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조회 대상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선택 날짜에 예정된 결심과 해당 날짜의 기존 일지가 있는 결심의 합집합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오늘의 결심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조회 대상 결심 수. 과거 날짜를 선택하면 그 날짜의 대상 수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</a:tr>
              <a:tr h="6667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해낸 결심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조회 대상 중 수행 상태가 DONE인 일지 수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달성률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완료 수 / 대상 수 × 100을 반올림. 대상이 없으면 0%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</a:tr>
              <a:tr h="6667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나를 위한 시간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선택 날짜의 일지 minutes 합계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최근 7일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선택한 날을 포함한 7일간 DONE 기록 수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</a:tr>
              <a:tr h="6667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날짜 기준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기본 Asia/Seoul. 업무 날짜는 YYYY-MM-DD로 전달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00714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173339D8-49BA-4ECC-BBC6-D00B2EE7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"/>
            <a:ext cx="13563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13E39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213E39"/>
                </a:solidFill>
                <a:latin typeface="Noto Sans KR"/>
                <a:ea typeface="Noto Sans KR"/>
                <a:cs typeface="Noto Sans KR"/>
              </a:rPr>
              <a:t>나의 결심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618BA40-10F4-435E-8D75-9BD3F715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04925"/>
            <a:ext cx="1352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66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66766F"/>
                </a:solidFill>
                <a:latin typeface="Noto Sans KR"/>
                <a:ea typeface="Noto Sans KR"/>
                <a:cs typeface="Noto Sans KR"/>
              </a:rPr>
              <a:t>GOAL-01  /goals  결심 목록과 보관함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7D8BDA3-FA0A-4B2E-A55F-3FF8B6E2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1248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766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766F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10bf89be134cc8"/>
          <a:stretch xmlns:a="http://schemas.openxmlformats.org/drawingml/2006/main"/>
        </p:blipFill>
        <p:spPr>
          <a:xfrm xmlns:a="http://schemas.openxmlformats.org/drawingml/2006/main">
            <a:off x="2640663" y="2000250"/>
            <a:ext cx="6396324" cy="5362575"/>
          </a:xfrm>
          <a:prstGeom xmlns:a="http://schemas.openxmlformats.org/drawingml/2006/main" prst="rect">
            <a:avLst/>
          </a:prstGeom>
        </p:spPr>
      </p:pic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372B729-D3AC-4531-9618-424468C1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066925"/>
            <a:ext cx="3209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D6556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2D6556"/>
                </a:solidFill>
                <a:latin typeface="Noto Sans KR"/>
                <a:ea typeface="Noto Sans KR"/>
                <a:cs typeface="Noto Sans KR"/>
              </a:rPr>
              <a:t>목록과 필터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2E63EFE-FF79-4C71-8AC3-35F450F5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552700"/>
            <a:ext cx="320992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13E39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13E39"/>
                </a:solidFill>
                <a:latin typeface="Noto Sans KR"/>
                <a:ea typeface="Noto Sans KR"/>
                <a:cs typeface="Noto Sans KR"/>
              </a:rPr>
              <a:t>실천 중 / 보관한 결심 탭과 카테고리 필터를 제공합니다.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0181D27-A33A-44DE-AC80-71E45B79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800475"/>
            <a:ext cx="3209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D6556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2D6556"/>
                </a:solidFill>
                <a:latin typeface="Noto Sans KR"/>
                <a:ea typeface="Noto Sans KR"/>
                <a:cs typeface="Noto Sans KR"/>
              </a:rPr>
              <a:t>조회 항목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51F5010-4BA6-4353-9500-C4A181FD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286250"/>
            <a:ext cx="320992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13E39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13E39"/>
                </a:solidFill>
                <a:latin typeface="Noto Sans KR"/>
                <a:ea typeface="Noto Sans KR"/>
                <a:cs typeface="Noto Sans KR"/>
              </a:rPr>
              <a:t>결심 이름, 시작 이유, 반복 요일과 기간을 보여줍니다.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D46A81B-01E0-46F2-997C-9CD2499A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534025"/>
            <a:ext cx="3209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D6556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2D6556"/>
                </a:solidFill>
                <a:latin typeface="Noto Sans KR"/>
                <a:ea typeface="Noto Sans KR"/>
                <a:cs typeface="Noto Sans KR"/>
              </a:rPr>
              <a:t>생성 / 수정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302004D-595E-4415-B5A1-942149A1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019800"/>
            <a:ext cx="320992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13E39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13E39"/>
                </a:solidFill>
                <a:latin typeface="Noto Sans KR"/>
                <a:ea typeface="Noto Sans KR"/>
                <a:cs typeface="Noto Sans KR"/>
              </a:rPr>
              <a:t>새로운 결심은 /goals/new, 수정은 /goals/[id]로 이동합니다.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8E104DC-42DD-4EB5-9214-9FD2BCEC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705725"/>
            <a:ext cx="1323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66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6766F"/>
                </a:solidFill>
                <a:latin typeface="Noto Sans KR"/>
                <a:ea typeface="Noto Sans KR"/>
                <a:cs typeface="Noto Sans KR"/>
              </a:rPr>
              <a:t>GET /api/goals로 내 결심을 조회한 뒤 탭과 카테고리를 프런트에서 필터링합니다.</a:t>
            </a:r>
          </a:p>
        </p:txBody>
      </p:sp>
    </p:spTree>
    <p:extLst>
      <p:ext uri="{BB962C8B-B14F-4D97-AF65-F5344CB8AC3E}">
        <p14:creationId xmlns:p14="http://schemas.microsoft.com/office/powerpoint/2010/main" val="18499762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65327732-E9CF-4C80-B208-C9106E65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"/>
            <a:ext cx="13563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13E39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213E39"/>
                </a:solidFill>
                <a:latin typeface="Noto Sans KR"/>
                <a:ea typeface="Noto Sans KR"/>
                <a:cs typeface="Noto Sans KR"/>
              </a:rPr>
              <a:t>새로운 결심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A192E2D-E885-428C-8961-275BB2DF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04925"/>
            <a:ext cx="1352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66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66766F"/>
                </a:solidFill>
                <a:latin typeface="Noto Sans KR"/>
                <a:ea typeface="Noto Sans KR"/>
                <a:cs typeface="Noto Sans KR"/>
              </a:rPr>
              <a:t>GOAL-02  /goals/new  결심과 반복 일정 등록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B1CA767-CB4A-40E1-94EC-B0886E52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1248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766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766F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bb7279ea064738"/>
          <a:stretch xmlns:a="http://schemas.openxmlformats.org/drawingml/2006/main"/>
        </p:blipFill>
        <p:spPr>
          <a:xfrm xmlns:a="http://schemas.openxmlformats.org/drawingml/2006/main">
            <a:off x="1359659" y="1933575"/>
            <a:ext cx="5319782" cy="5857875"/>
          </a:xfrm>
          <a:prstGeom xmlns:a="http://schemas.openxmlformats.org/drawingml/2006/main" prst="rect">
            <a:avLst/>
          </a:prstGeom>
        </p:spPr>
      </p:pic>
      <p:graphicFrame>
        <p:nvGraphicFramePr>
          <p:cNvPr id="10" name=""/>
          <p:cNvGraphicFramePr/>
          <p:nvPr/>
        </p:nvGraphicFramePr>
        <p:xfrm>
          <a:off xmlns:a="http://schemas.openxmlformats.org/drawingml/2006/main" x="7553325" y="1952625"/>
          <a:ext xmlns:a="http://schemas.openxmlformats.org/drawingml/2006/main" cx="6858000" cy="5581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76400"/>
                <a:gridCol w="1123950"/>
                <a:gridCol w="4057650"/>
              </a:tblGrid>
              <a:tr h="5143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항목</a:t>
                      </a:r>
                    </a:p>
                  </a:txBody>
                  <a:tcPr marL="123825" marR="123825" marT="95250" marB="76200">
                    <a:solidFill>
                      <a:srgbClr val="2D655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필수</a:t>
                      </a:r>
                    </a:p>
                  </a:txBody>
                  <a:tcPr marL="123825" marR="123825" marT="95250" marB="76200">
                    <a:solidFill>
                      <a:srgbClr val="2D655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입력 기준</a:t>
                      </a:r>
                    </a:p>
                  </a:txBody>
                  <a:tcPr marL="123825" marR="123825" marT="95250" marB="76200">
                    <a:solidFill>
                      <a:srgbClr val="2D6556"/>
                    </a:solidFill>
                  </a:tcPr>
                </a:tc>
              </a:tr>
              <a:tr h="6286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결심 이름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예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최대 100자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시작 이유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아니요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최대 1,000자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</a:tr>
              <a:tr h="7239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카테고리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예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6개 중 하나. 기본 건강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시작일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예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기본 오늘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</a:tr>
              <a:tr h="8572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종료일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아니요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시작일 이상. 빈 값은 종료 없음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반복 요일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예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1개 이상. 기본 매일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</a:tr>
              <a:tr h="8763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저장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예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POST /api/goals. 성공 후 / 이동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32368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DA1F1D0-DE6D-439D-A6AD-70CFA7CF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"/>
            <a:ext cx="13563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13E39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213E39"/>
                </a:solidFill>
                <a:latin typeface="Noto Sans KR"/>
                <a:ea typeface="Noto Sans KR"/>
                <a:cs typeface="Noto Sans KR"/>
              </a:rPr>
              <a:t>결심 다듬기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85B3152-E90B-4F59-8F00-4DC0EA42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04925"/>
            <a:ext cx="1352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66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66766F"/>
                </a:solidFill>
                <a:latin typeface="Noto Sans KR"/>
                <a:ea typeface="Noto Sans KR"/>
                <a:cs typeface="Noto Sans KR"/>
              </a:rPr>
              <a:t>GOAL-03  /goals/[id]  수정, 보관과 삭제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94DAA2B-C3E5-4377-95F5-56CC8612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1248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766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766F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78d8fb445043be"/>
          <a:stretch xmlns:a="http://schemas.openxmlformats.org/drawingml/2006/main"/>
        </p:blipFill>
        <p:spPr>
          <a:xfrm xmlns:a="http://schemas.openxmlformats.org/drawingml/2006/main">
            <a:off x="1528212" y="1952625"/>
            <a:ext cx="5096976" cy="58293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10" name=""/>
          <p:cNvGraphicFramePr/>
          <p:nvPr/>
        </p:nvGraphicFramePr>
        <p:xfrm>
          <a:off xmlns:a="http://schemas.openxmlformats.org/drawingml/2006/main" x="7620000" y="2076450"/>
          <a:ext xmlns:a="http://schemas.openxmlformats.org/drawingml/2006/main" cx="6781800" cy="5638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00200"/>
                <a:gridCol w="5181600"/>
              </a:tblGrid>
              <a:tr h="5238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작업</a:t>
                      </a:r>
                    </a:p>
                  </a:txBody>
                  <a:tcPr marL="123825" marR="123825" marT="95250" marB="76200">
                    <a:solidFill>
                      <a:srgbClr val="2D655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처리 기준</a:t>
                      </a:r>
                    </a:p>
                  </a:txBody>
                  <a:tcPr marL="123825" marR="123825" marT="95250" marB="76200">
                    <a:solidFill>
                      <a:srgbClr val="2D6556"/>
                    </a:solidFill>
                  </a:tcPr>
                </a:tc>
              </a:tr>
              <a:tr h="9048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초기 조회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GET /api/goals/{id}로 현재 값과 version 조회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변경 저장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PUT /api/goals/{id}. 최신 version 전달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</a:tr>
              <a:tr h="9525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보관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archived=true. 기존 일지 유지, 새 기록 추가 제한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기간 변경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기존 일지 날짜가 기간 밖으로 나가면 거부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</a:tr>
              <a:tr h="9525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결심 삭제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확인창 승인 후 DELETE. 관련 일지도 함께 삭제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완료 후 이동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수정 / 삭제 성공 시 /goals 로 이동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59836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9EDE77A-652D-459C-998D-D36B4D95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"/>
            <a:ext cx="13563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13E39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213E39"/>
                </a:solidFill>
                <a:latin typeface="Noto Sans KR"/>
                <a:ea typeface="Noto Sans KR"/>
                <a:cs typeface="Noto Sans KR"/>
              </a:rPr>
              <a:t>일지 입력과 수정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B33D946-EFE5-4CDB-93A2-11B0DB19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04925"/>
            <a:ext cx="1352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66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66766F"/>
                </a:solidFill>
                <a:latin typeface="Noto Sans KR"/>
                <a:ea typeface="Noto Sans KR"/>
                <a:cs typeface="Noto Sans KR"/>
              </a:rPr>
              <a:t>ENTRY-01  오늘의 일지 카드 안에서 작성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2663276-806B-4AF7-A2B5-F275568B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1248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766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766F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7f40419fd340d5"/>
          <a:stretch xmlns:a="http://schemas.openxmlformats.org/drawingml/2006/main"/>
        </p:blipFill>
        <p:spPr>
          <a:xfrm xmlns:a="http://schemas.openxmlformats.org/drawingml/2006/main">
            <a:off x="809625" y="2965869"/>
            <a:ext cx="9191625" cy="3659938"/>
          </a:xfrm>
          <a:prstGeom xmlns:a="http://schemas.openxmlformats.org/drawingml/2006/main" prst="rect">
            <a:avLst/>
          </a:prstGeom>
        </p:spPr>
      </p:pic>
      <p:graphicFrame>
        <p:nvGraphicFramePr>
          <p:cNvPr id="10" name=""/>
          <p:cNvGraphicFramePr/>
          <p:nvPr/>
        </p:nvGraphicFramePr>
        <p:xfrm>
          <a:off xmlns:a="http://schemas.openxmlformats.org/drawingml/2006/main" x="10401300" y="2019300"/>
          <a:ext xmlns:a="http://schemas.openxmlformats.org/drawingml/2006/main" cx="4000500" cy="5819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57300"/>
                <a:gridCol w="2743200"/>
              </a:tblGrid>
              <a:tr h="5334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항목</a:t>
                      </a:r>
                    </a:p>
                  </a:txBody>
                  <a:tcPr marL="123825" marR="123825" marT="95250" marB="76200">
                    <a:solidFill>
                      <a:srgbClr val="2D655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입력 / 동작</a:t>
                      </a:r>
                    </a:p>
                  </a:txBody>
                  <a:tcPr marL="123825" marR="123825" marT="95250" marB="76200">
                    <a:solidFill>
                      <a:srgbClr val="2D6556"/>
                    </a:solidFill>
                  </a:tcPr>
                </a:tc>
              </a:tr>
              <a:tr h="9906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수행 상태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DONE / PARTIAL / SKIPPED 중 하나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오늘의 기록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최대 4,000자. 빈 메모 허용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</a:tr>
              <a:tr h="7429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실천 시간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0~1,440분. 정수 입력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</a:tr>
              <a:tr h="10001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일지 저장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같은 결심과 날짜에는 한 건만 저장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</a:tr>
              <a:tr h="7429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닫기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저장 없이 입력 영역 닫기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기록 삭제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기존 일지에만 표시. 확인 후 삭제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57384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B1C1B523-0B47-4C61-B54D-EB46D9A46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"/>
            <a:ext cx="13563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13E39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213E39"/>
                </a:solidFill>
                <a:latin typeface="Noto Sans KR"/>
                <a:ea typeface="Noto Sans KR"/>
                <a:cs typeface="Noto Sans KR"/>
              </a:rPr>
              <a:t>기록 보관함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A58D494-9BAC-4F36-B553-49EFE9DC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04925"/>
            <a:ext cx="1352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66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66766F"/>
                </a:solidFill>
                <a:latin typeface="Noto Sans KR"/>
                <a:ea typeface="Noto Sans KR"/>
                <a:cs typeface="Noto Sans KR"/>
              </a:rPr>
              <a:t>HIST-01  /journal  달력과 일지 조회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F1DBCC4-50AD-445A-BA94-0776BE28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1248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766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766F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11eb6881e549f0"/>
          <a:stretch xmlns:a="http://schemas.openxmlformats.org/drawingml/2006/main"/>
        </p:blipFill>
        <p:spPr>
          <a:xfrm xmlns:a="http://schemas.openxmlformats.org/drawingml/2006/main">
            <a:off x="2338904" y="2038350"/>
            <a:ext cx="6771242" cy="5676900"/>
          </a:xfrm>
          <a:prstGeom xmlns:a="http://schemas.openxmlformats.org/drawingml/2006/main" prst="rect">
            <a:avLst/>
          </a:prstGeom>
        </p:spPr>
      </p:pic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DCFAB59-B004-4B9F-8352-6138B2E3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2124075"/>
            <a:ext cx="338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D6556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2D6556"/>
                </a:solidFill>
                <a:latin typeface="Noto Sans KR"/>
                <a:ea typeface="Noto Sans KR"/>
                <a:cs typeface="Noto Sans KR"/>
              </a:rPr>
              <a:t>월간 달력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C7EF241-1DDE-44C9-8C52-EA883889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2609850"/>
            <a:ext cx="3381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13E39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13E39"/>
                </a:solidFill>
                <a:latin typeface="Noto Sans KR"/>
                <a:ea typeface="Noto Sans KR"/>
                <a:cs typeface="Noto Sans KR"/>
              </a:rPr>
              <a:t>기록이 있는 날짜와 상태별 건수를 보여줍니다.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0CA0920-C32B-41DC-9F4B-2997C6B5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3886200"/>
            <a:ext cx="338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D6556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2D6556"/>
                </a:solidFill>
                <a:latin typeface="Noto Sans KR"/>
                <a:ea typeface="Noto Sans KR"/>
                <a:cs typeface="Noto Sans KR"/>
              </a:rPr>
              <a:t>날짜 선택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661B09A-8759-4419-BC64-B8941D7C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4371975"/>
            <a:ext cx="3381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13E39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13E39"/>
                </a:solidFill>
                <a:latin typeface="Noto Sans KR"/>
                <a:ea typeface="Noto Sans KR"/>
                <a:cs typeface="Noto Sans KR"/>
              </a:rPr>
              <a:t>선택한 날짜로 시작일과 종료일을 맞춰 해당 일지를 조회합니다.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51D66D5-0285-425F-ADB3-64F60CE6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5648325"/>
            <a:ext cx="338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D6556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2D6556"/>
                </a:solidFill>
                <a:latin typeface="Noto Sans KR"/>
                <a:ea typeface="Noto Sans KR"/>
                <a:cs typeface="Noto Sans KR"/>
              </a:rPr>
              <a:t>기록 수정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6D0C4AF-6DB8-48BE-AA98-87103BEA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134100"/>
            <a:ext cx="3381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13E39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13E39"/>
                </a:solidFill>
                <a:latin typeface="Noto Sans KR"/>
                <a:ea typeface="Noto Sans KR"/>
                <a:cs typeface="Noto Sans KR"/>
              </a:rPr>
              <a:t>선택 일지의 날짜와 결심 ID를 오늘의 일지 화면으로 전달합니다.</a:t>
            </a:r>
          </a:p>
        </p:txBody>
      </p:sp>
    </p:spTree>
    <p:extLst>
      <p:ext uri="{BB962C8B-B14F-4D97-AF65-F5344CB8AC3E}">
        <p14:creationId xmlns:p14="http://schemas.microsoft.com/office/powerpoint/2010/main" val="49619254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D33DA91-0876-4801-9994-BF5E6F799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"/>
            <a:ext cx="13563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13E39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213E39"/>
                </a:solidFill>
                <a:latin typeface="Noto Sans KR"/>
                <a:ea typeface="Noto Sans KR"/>
                <a:cs typeface="Noto Sans KR"/>
              </a:rPr>
              <a:t>기록 조회 조건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6479AAF-433C-46EF-92AF-D73E1E85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04925"/>
            <a:ext cx="1352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66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66766F"/>
                </a:solidFill>
                <a:latin typeface="Noto Sans KR"/>
                <a:ea typeface="Noto Sans KR"/>
                <a:cs typeface="Noto Sans KR"/>
              </a:rPr>
              <a:t>HIST-01  조회 범위, 필터와 페이지 이동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2112B83-1B45-42E5-95ED-51384E20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1248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766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766F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38200" y="1971675"/>
          <a:ext xmlns:a="http://schemas.openxmlformats.org/drawingml/2006/main" cx="13563600" cy="5295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2381250"/>
                <a:gridCol w="8324850"/>
              </a:tblGrid>
              <a:tr h="5334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화면 항목</a:t>
                      </a:r>
                    </a:p>
                  </a:txBody>
                  <a:tcPr marL="123825" marR="123825" marT="95250" marB="76200">
                    <a:solidFill>
                      <a:srgbClr val="2D655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파라미터</a:t>
                      </a:r>
                    </a:p>
                  </a:txBody>
                  <a:tcPr marL="123825" marR="123825" marT="95250" marB="76200">
                    <a:solidFill>
                      <a:srgbClr val="2D655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기본 / 처리 규칙</a:t>
                      </a:r>
                    </a:p>
                  </a:txBody>
                  <a:tcPr marL="123825" marR="123825" marT="95250" marB="76200">
                    <a:solidFill>
                      <a:srgbClr val="2D6556"/>
                    </a:solidFill>
                  </a:tcPr>
                </a:tc>
              </a:tr>
              <a:tr h="6858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달력 월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month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현재 월. 변경 시 조회 기간을 그달 전체로 설정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시작일 / 종료일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from / to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현재 월의 처음과 마지막 날. 양 끝 포함 최대 367일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</a:tr>
              <a:tr h="6858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결심 필터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goalId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기본 모든 결심. 보관한 결심도 선택 가능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상태 필터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status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기본 모든 상태. DONE / PARTIAL / SKIPPED 선택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</a:tr>
              <a:tr h="6096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조회 버튼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page=1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선택 조건으로 첫 페이지부터 조회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페이지 이동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page / size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1부터 시작, 기본 20건. API size 최대 100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</a:tr>
              <a:tr h="6667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목록 정렬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서버 정렬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일지 날짜, 수정 시각, ID의 내림차순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B3BE5C1-D004-4AC8-9110-AC51D8E0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705725"/>
            <a:ext cx="1323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66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6766F"/>
                </a:solidFill>
                <a:latin typeface="Noto Sans KR"/>
                <a:ea typeface="Noto Sans KR"/>
                <a:cs typeface="Noto Sans KR"/>
              </a:rPr>
              <a:t>빈 결과에는 안내를 표시합니다. 이전 / 다음 버튼은 전체 페이지가 2 이상일 때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90326083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3803F97-4230-464F-9EDE-53E65A1C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"/>
            <a:ext cx="13563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13E39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213E39"/>
                </a:solidFill>
                <a:latin typeface="Noto Sans KR"/>
                <a:ea typeface="Noto Sans KR"/>
                <a:cs typeface="Noto Sans KR"/>
              </a:rPr>
              <a:t>주요 입력과 저장 제한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A3350E0-B96D-4EBC-8D76-D217FD9B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04925"/>
            <a:ext cx="1352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66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66766F"/>
                </a:solidFill>
                <a:latin typeface="Noto Sans KR"/>
                <a:ea typeface="Noto Sans KR"/>
                <a:cs typeface="Noto Sans KR"/>
              </a:rPr>
              <a:t>화면 검증과 서버 검증을 함께 적용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75DEC81-00ED-4AFA-BC38-6797E558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1248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766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766F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838200" y="1952625"/>
          <a:ext xmlns:a="http://schemas.openxmlformats.org/drawingml/2006/main" cx="13563600" cy="5638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6896100"/>
                <a:gridCol w="2381250"/>
              </a:tblGrid>
              <a:tr h="4953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상황</a:t>
                      </a:r>
                    </a:p>
                  </a:txBody>
                  <a:tcPr marL="123825" marR="123825" marT="95250" marB="76200">
                    <a:solidFill>
                      <a:srgbClr val="2D655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처리 결과</a:t>
                      </a:r>
                    </a:p>
                  </a:txBody>
                  <a:tcPr marL="123825" marR="123825" marT="95250" marB="76200">
                    <a:solidFill>
                      <a:srgbClr val="2D655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관련 화면</a:t>
                      </a:r>
                    </a:p>
                  </a:txBody>
                  <a:tcPr marL="123825" marR="123825" marT="95250" marB="76200">
                    <a:solidFill>
                      <a:srgbClr val="2D6556"/>
                    </a:solidFill>
                  </a:tcPr>
                </a:tc>
              </a:tr>
              <a:tr h="6953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반복 요일 미선택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최소 한 개 선택 안내. 저장하지 않음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GOAL-02 / 03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종료일이 시작일보다 빠름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기간 오류 안내. 저장하지 않음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GOAL-02 / 03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</a:tr>
              <a:tr h="7524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미래 날짜 / 예정되지 않은 날짜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새 일지 저장 거부. 400 응답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ENTRY-01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보관한 결심에 새 일지 추가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추가 거부. 기존 일지 조회 / 수정은 가능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ENTRY-01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</a:tr>
              <a:tr h="7524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기존 일지가 기간 밖으로 벗어남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결심 기간 변경 거부. 400 응답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GOAL-03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다른 사용자의 결심 ID 사용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조회 / 변경 거부. 404 응답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결심 / 일지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</a:tr>
              <a:tr h="7524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오래된 version으로 수정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새로고침 후 수정 안내. 409 응답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GOAL-03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564916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1878836-78B7-44FF-AB9B-0E6A5B15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"/>
            <a:ext cx="13563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13E39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213E39"/>
                </a:solidFill>
                <a:latin typeface="Noto Sans KR"/>
                <a:ea typeface="Noto Sans KR"/>
                <a:cs typeface="Noto Sans KR"/>
              </a:rPr>
              <a:t>인증과 결심 API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74665B8-6087-4796-A86F-8222D178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04925"/>
            <a:ext cx="1352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66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66766F"/>
                </a:solidFill>
                <a:latin typeface="Noto Sans KR"/>
                <a:ea typeface="Noto Sans KR"/>
                <a:cs typeface="Noto Sans KR"/>
              </a:rPr>
              <a:t>모든 경로는 /api 기준. 회원가입·로그인 외에는 Bearer 토큰 사용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9CBAB7F-924E-4C73-9991-E0124D92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1248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766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766F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838200" y="2038350"/>
          <a:ext xmlns:a="http://schemas.openxmlformats.org/drawingml/2006/main" cx="13563600" cy="5572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85900"/>
                <a:gridCol w="5048250"/>
                <a:gridCol w="5762625"/>
                <a:gridCol w="1266825"/>
              </a:tblGrid>
              <a:tr h="6191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메서드</a:t>
                      </a:r>
                    </a:p>
                  </a:txBody>
                  <a:tcPr marL="123825" marR="123825" marT="95250" marB="76200">
                    <a:solidFill>
                      <a:srgbClr val="2D655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경로</a:t>
                      </a:r>
                    </a:p>
                  </a:txBody>
                  <a:tcPr marL="123825" marR="123825" marT="95250" marB="76200">
                    <a:solidFill>
                      <a:srgbClr val="2D655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연결 화면 / 용도</a:t>
                      </a:r>
                    </a:p>
                  </a:txBody>
                  <a:tcPr marL="123825" marR="123825" marT="95250" marB="76200">
                    <a:solidFill>
                      <a:srgbClr val="2D655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성공</a:t>
                      </a:r>
                    </a:p>
                  </a:txBody>
                  <a:tcPr marL="123825" marR="123825" marT="95250" marB="76200">
                    <a:solidFill>
                      <a:srgbClr val="2D6556"/>
                    </a:solidFill>
                  </a:tcPr>
                </a:tc>
              </a:tr>
              <a:tr h="6191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POST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/auth/register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AUTH-02 회원가입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201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POST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/auth/login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AUTH-01 로그인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200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</a:tr>
              <a:tr h="6191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GET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/auth/me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현재 사용자 조회용 API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200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GET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/goals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GOAL-01 목록, HIST-01 결심 선택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200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</a:tr>
              <a:tr h="6191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POST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/goals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GOAL-02 생성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201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GET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/goals/{id}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GOAL-03 초기 조회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200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</a:tr>
              <a:tr h="6191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PUT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/goals/{id}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GOAL-03 수정 / 보관 / 보관 해제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200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DELETE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/goals/{id}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GOAL-03 결심과 관련 일지 삭제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204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396197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5AA5E91-1571-4D89-84B9-2BC259EE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"/>
            <a:ext cx="13563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13E39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213E39"/>
                </a:solidFill>
                <a:latin typeface="Noto Sans KR"/>
                <a:ea typeface="Noto Sans KR"/>
                <a:cs typeface="Noto Sans KR"/>
              </a:rPr>
              <a:t>일지와 집계 API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010DC41-F2D0-4E95-85C7-236E1B74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04925"/>
            <a:ext cx="1352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66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66766F"/>
                </a:solidFill>
                <a:latin typeface="Noto Sans KR"/>
                <a:ea typeface="Noto Sans KR"/>
                <a:cs typeface="Noto Sans KR"/>
              </a:rPr>
              <a:t>API 응답으로 대시보드와 기록 보관함을 갱신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C00575C-3B87-46E7-AC15-DD6BE3A6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1248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766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766F"/>
                </a:solidFill>
                <a:latin typeface="Noto Sans KR"/>
                <a:ea typeface="Noto Sans KR"/>
                <a:cs typeface="Noto Sans KR"/>
              </a:rPr>
              <a:t>16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38200" y="2133600"/>
          <a:ext xmlns:a="http://schemas.openxmlformats.org/drawingml/2006/main" cx="13563600" cy="4933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09700"/>
                <a:gridCol w="6953250"/>
                <a:gridCol w="3867150"/>
                <a:gridCol w="1333500"/>
              </a:tblGrid>
              <a:tr h="5905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메서드</a:t>
                      </a:r>
                    </a:p>
                  </a:txBody>
                  <a:tcPr marL="123825" marR="123825" marT="95250" marB="76200">
                    <a:solidFill>
                      <a:srgbClr val="2D655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경로</a:t>
                      </a:r>
                    </a:p>
                  </a:txBody>
                  <a:tcPr marL="123825" marR="123825" marT="95250" marB="76200">
                    <a:solidFill>
                      <a:srgbClr val="2D655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연결 화면</a:t>
                      </a:r>
                    </a:p>
                  </a:txBody>
                  <a:tcPr marL="123825" marR="123825" marT="95250" marB="76200">
                    <a:solidFill>
                      <a:srgbClr val="2D655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성공</a:t>
                      </a:r>
                    </a:p>
                  </a:txBody>
                  <a:tcPr marL="123825" marR="123825" marT="95250" marB="76200">
                    <a:solidFill>
                      <a:srgbClr val="2D6556"/>
                    </a:solidFill>
                  </a:tcPr>
                </a:tc>
              </a:tr>
              <a:tr h="7810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GET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/dashboard?date=YYYY-MM-DD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HOME-01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200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PUT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/goals/{id}/entries/{date}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ENTRY-01 저장 / 수정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200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</a:tr>
              <a:tr h="9144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DELETE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/goals/{id}/entries/{date}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ENTRY-01 삭제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204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GET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/calendar?month=YYYY-MM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HIST-01 달력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200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</a:tr>
              <a:tr h="9525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GET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/entries?from=…&amp;to=…&amp;page=1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HIST-01 일지 목록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200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444A7DB-E069-4728-8B5C-789606AE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705725"/>
            <a:ext cx="1323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66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6766F"/>
                </a:solidFill>
                <a:latin typeface="Noto Sans KR"/>
                <a:ea typeface="Noto Sans KR"/>
                <a:cs typeface="Noto Sans KR"/>
              </a:rPr>
              <a:t>일지 저장은 생성과 수정을 같은 PUT으로 처리합니다. 존재하지 않는 일지 삭제도 204입니다.</a:t>
            </a:r>
          </a:p>
        </p:txBody>
      </p:sp>
    </p:spTree>
    <p:extLst>
      <p:ext uri="{BB962C8B-B14F-4D97-AF65-F5344CB8AC3E}">
        <p14:creationId xmlns:p14="http://schemas.microsoft.com/office/powerpoint/2010/main" val="97134802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49E32316-6773-4E95-8EB0-7AD1A77C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"/>
            <a:ext cx="13563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13E39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213E39"/>
                </a:solidFill>
                <a:latin typeface="Noto Sans KR"/>
                <a:ea typeface="Noto Sans KR"/>
                <a:cs typeface="Noto Sans KR"/>
              </a:rPr>
              <a:t>상태와 카테고리 코드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038920B-5FEF-49B9-B99B-0BAF7BB6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04925"/>
            <a:ext cx="1352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66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66766F"/>
                </a:solidFill>
                <a:latin typeface="Noto Sans KR"/>
                <a:ea typeface="Noto Sans KR"/>
                <a:cs typeface="Noto Sans KR"/>
              </a:rPr>
              <a:t>서버 코드와 한국어 화면 표시의 대응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EBBA89E-23F2-40BC-8993-28A8F33D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1248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766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766F"/>
                </a:solidFill>
                <a:latin typeface="Noto Sans KR"/>
                <a:ea typeface="Noto Sans KR"/>
                <a:cs typeface="Noto Sans KR"/>
              </a:rPr>
              <a:t>17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36B8781-5409-43D8-9177-D76E8E0B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13E39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213E39"/>
                </a:solidFill>
                <a:latin typeface="Noto Sans KR"/>
                <a:ea typeface="Noto Sans KR"/>
                <a:cs typeface="Noto Sans KR"/>
              </a:rPr>
              <a:t>일지 수행 상태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838200" y="2638425"/>
          <a:ext xmlns:a="http://schemas.openxmlformats.org/drawingml/2006/main" cx="619125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3857625"/>
              </a:tblGrid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코드</a:t>
                      </a:r>
                    </a:p>
                  </a:txBody>
                  <a:tcPr marL="123825" marR="123825" marT="95250" marB="76200">
                    <a:solidFill>
                      <a:srgbClr val="2D655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화면 표시</a:t>
                      </a:r>
                    </a:p>
                  </a:txBody>
                  <a:tcPr marL="123825" marR="123825" marT="95250" marB="76200">
                    <a:solidFill>
                      <a:srgbClr val="2D6556"/>
                    </a:solidFill>
                  </a:tcPr>
                </a:tc>
              </a:tr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DONE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해냈어요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PARTIAL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조금 했어요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</a:tr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SKIPPED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쉬어갔어요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7D1AB33-D8C1-43CC-A2E8-B6467705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0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3E39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13E39"/>
                </a:solidFill>
                <a:latin typeface="Noto Sans KR"/>
                <a:ea typeface="Noto Sans KR"/>
                <a:cs typeface="Noto Sans KR"/>
              </a:rPr>
              <a:t>완료 수와 달성률에는 DONE만 반영합니다.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2509B1F-39A5-4254-B5EB-BC486DBC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38350"/>
            <a:ext cx="6877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13E39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213E39"/>
                </a:solidFill>
                <a:latin typeface="Noto Sans KR"/>
                <a:ea typeface="Noto Sans KR"/>
                <a:cs typeface="Noto Sans KR"/>
              </a:rPr>
              <a:t>결심 카테고리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7524750" y="2638425"/>
          <a:ext xmlns:a="http://schemas.openxmlformats.org/drawingml/2006/main" cx="6877050" cy="4533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305300"/>
              </a:tblGrid>
              <a:tr h="6477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코드</a:t>
                      </a:r>
                    </a:p>
                  </a:txBody>
                  <a:tcPr marL="123825" marR="123825" marT="95250" marB="76200">
                    <a:solidFill>
                      <a:srgbClr val="2D655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화면 표시</a:t>
                      </a:r>
                    </a:p>
                  </a:txBody>
                  <a:tcPr marL="123825" marR="123825" marT="95250" marB="76200">
                    <a:solidFill>
                      <a:srgbClr val="2D6556"/>
                    </a:solidFill>
                  </a:tcPr>
                </a:tc>
              </a:tr>
              <a:tr h="6477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HEALTH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건강·운동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STUDY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공부·성장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</a:tr>
              <a:tr h="6477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WORK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일·커리어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LIFE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일상·마음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</a:tr>
              <a:tr h="6477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FINANCE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재무·투자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OTHER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그 밖의 결심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750171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67B6C1E-5748-45CC-92FA-E55701E9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"/>
            <a:ext cx="13563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13E39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213E39"/>
                </a:solidFill>
                <a:latin typeface="Noto Sans KR"/>
                <a:ea typeface="Noto Sans KR"/>
                <a:cs typeface="Noto Sans KR"/>
              </a:rPr>
              <a:t>대표 화면 점검 항목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1DD1026-E7C3-4C79-81F0-B14212A0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04925"/>
            <a:ext cx="1352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66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66766F"/>
                </a:solidFill>
                <a:latin typeface="Noto Sans KR"/>
                <a:ea typeface="Noto Sans KR"/>
                <a:cs typeface="Noto Sans KR"/>
              </a:rPr>
              <a:t>로컬 환경에서 확인할 정상 흐름과 오류 흐름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1C1709C-6F40-4B22-88CD-AC4221DA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1248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766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766F"/>
                </a:solidFill>
                <a:latin typeface="Noto Sans KR"/>
                <a:ea typeface="Noto Sans KR"/>
                <a:cs typeface="Noto Sans KR"/>
              </a:rPr>
              <a:t>18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838200" y="1952625"/>
          <a:ext xmlns:a="http://schemas.openxmlformats.org/drawingml/2006/main" cx="13563600" cy="5867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95375"/>
                <a:gridCol w="5095875"/>
                <a:gridCol w="7372350"/>
              </a:tblGrid>
              <a:tr h="5334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번호</a:t>
                      </a:r>
                    </a:p>
                  </a:txBody>
                  <a:tcPr marL="123825" marR="123825" marT="95250" marB="76200">
                    <a:solidFill>
                      <a:srgbClr val="2D655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점검 상황</a:t>
                      </a:r>
                    </a:p>
                  </a:txBody>
                  <a:tcPr marL="123825" marR="123825" marT="95250" marB="76200">
                    <a:solidFill>
                      <a:srgbClr val="2D655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기대 결과</a:t>
                      </a:r>
                    </a:p>
                  </a:txBody>
                  <a:tcPr marL="123825" marR="123825" marT="95250" marB="76200">
                    <a:solidFill>
                      <a:srgbClr val="2D6556"/>
                    </a:solidFill>
                  </a:tcPr>
                </a:tc>
              </a:tr>
              <a:tr h="6096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01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신규 회원가입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로그인 상태가 되고 새로운 결심 화면으로 이동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02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중복 이메일로 가입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중복 안내. 계정을 추가하지 않음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</a:tr>
              <a:tr h="6096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03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매일 반복하는 결심 생성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오늘의 일지에서 새 결심을 조회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04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같은 날짜에 일지 두 번 저장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일지는 한 건이며 마지막 내용으로 갱신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</a:tr>
              <a:tr h="7429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05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달력 날짜 선택 후 전체 월 조회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선택 날짜 조회 후 월 전체 범위로 복귀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06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결심 보관 후 과거 일지 조회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기존 기록 유지. 새 일지 추가는 제한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</a:tr>
              <a:tr h="7429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07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결심 삭제 확인 / 취소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확인 시 일지까지 삭제. 취소 시 유지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08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로그아웃 후 보호 경로 방문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로그인 화면으로 이동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022095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07BA84DF-63C2-4FA3-9BDB-85B09E1D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"/>
            <a:ext cx="13563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13E39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213E39"/>
                </a:solidFill>
                <a:latin typeface="Noto Sans KR"/>
                <a:ea typeface="Noto Sans KR"/>
                <a:cs typeface="Noto Sans KR"/>
              </a:rPr>
              <a:t>로컬 실행과 연결 점검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85BA1AE-5F43-477E-BB43-3DB73625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04925"/>
            <a:ext cx="1352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66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66766F"/>
                </a:solidFill>
                <a:latin typeface="Noto Sans KR"/>
                <a:ea typeface="Noto Sans KR"/>
                <a:cs typeface="Noto Sans KR"/>
              </a:rPr>
              <a:t>DB, API, 프런트를 각각 실행하는 개발 구성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7AA3B01-E210-409C-A327-0DC6307B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1248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766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766F"/>
                </a:solidFill>
                <a:latin typeface="Noto Sans KR"/>
                <a:ea typeface="Noto Sans KR"/>
                <a:cs typeface="Noto Sans KR"/>
              </a:rPr>
              <a:t>19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838200" y="2057400"/>
          <a:ext xmlns:a="http://schemas.openxmlformats.org/drawingml/2006/main" cx="13563600" cy="3200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9486900"/>
                <a:gridCol w="1504950"/>
              </a:tblGrid>
              <a:tr h="6000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구성</a:t>
                      </a:r>
                    </a:p>
                  </a:txBody>
                  <a:tcPr marL="123825" marR="123825" marT="95250" marB="76200">
                    <a:solidFill>
                      <a:srgbClr val="2D655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실행 방법</a:t>
                      </a:r>
                    </a:p>
                  </a:txBody>
                  <a:tcPr marL="123825" marR="123825" marT="95250" marB="76200">
                    <a:solidFill>
                      <a:srgbClr val="2D655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포트</a:t>
                      </a:r>
                    </a:p>
                  </a:txBody>
                  <a:tcPr marL="123825" marR="123825" marT="95250" marB="76200">
                    <a:solidFill>
                      <a:srgbClr val="2D6556"/>
                    </a:solidFill>
                  </a:tcPr>
                </a:tc>
              </a:tr>
              <a:tr h="8667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PostgreSQL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docker compose up -d --wait postgres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5433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</a:tr>
              <a:tr h="8667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Spring Boot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IntelliJ: Resolve Log API (local) Debug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8080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</a:tr>
              <a:tr h="8667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Nuxt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frontend 폴더: npm ci 후 npm run dev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3300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93AAE92-9BFD-4E17-87F8-BC4E6062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743575"/>
            <a:ext cx="1323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D6556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2D6556"/>
                </a:solidFill>
                <a:latin typeface="Noto Sans KR"/>
                <a:ea typeface="Noto Sans KR"/>
                <a:cs typeface="Noto Sans KR"/>
              </a:rPr>
              <a:t>API 상태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CA5C14D-94E3-420C-ACDC-9B7B6EEF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6229350"/>
            <a:ext cx="13239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13E39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13E39"/>
                </a:solidFill>
                <a:latin typeface="Noto Sans KR"/>
                <a:ea typeface="Noto Sans KR"/>
                <a:cs typeface="Noto Sans KR"/>
              </a:rPr>
              <a:t>http://localhost:8080/actuator/health 에서 UP 확인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203EBB2-84E4-49C7-8618-FCEAA365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6677025"/>
            <a:ext cx="1323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D6556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2D6556"/>
                </a:solidFill>
                <a:latin typeface="Noto Sans KR"/>
                <a:ea typeface="Noto Sans KR"/>
                <a:cs typeface="Noto Sans KR"/>
              </a:rPr>
              <a:t>프런트 상태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D4E50EC-7B66-4CEC-B732-39EB8977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7162800"/>
            <a:ext cx="13239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13E39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13E39"/>
                </a:solidFill>
                <a:latin typeface="Noto Sans KR"/>
                <a:ea typeface="Noto Sans KR"/>
                <a:cs typeface="Noto Sans KR"/>
              </a:rPr>
              <a:t>http://localhost:3300/health 에서 UP 확인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7F98EDD-0784-44EC-84EE-9BD7953C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48600"/>
            <a:ext cx="1323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6582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65828"/>
                </a:solidFill>
                <a:latin typeface="Noto Sans KR"/>
                <a:ea typeface="Noto Sans KR"/>
                <a:cs typeface="Noto Sans KR"/>
              </a:rPr>
              <a:t>회원가입 502 제보는 로컬 연결 재확인이 필요합니다. Nuxt의 기본 API 주소는 127.0.0.1:8080입니다.</a:t>
            </a:r>
          </a:p>
        </p:txBody>
      </p:sp>
    </p:spTree>
    <p:extLst>
      <p:ext uri="{BB962C8B-B14F-4D97-AF65-F5344CB8AC3E}">
        <p14:creationId xmlns:p14="http://schemas.microsoft.com/office/powerpoint/2010/main" val="84503257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C0A3D16-4341-48A3-A8DD-19102E53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"/>
            <a:ext cx="13563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13E39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213E39"/>
                </a:solidFill>
                <a:latin typeface="Noto Sans KR"/>
                <a:ea typeface="Noto Sans KR"/>
                <a:cs typeface="Noto Sans KR"/>
              </a:rPr>
              <a:t>구현 범위와 확인 상태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A436F16-FF8E-45B6-B51C-4E4404B4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04925"/>
            <a:ext cx="1352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66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66766F"/>
                </a:solidFill>
                <a:latin typeface="Noto Sans KR"/>
                <a:ea typeface="Noto Sans KR"/>
                <a:cs typeface="Noto Sans KR"/>
              </a:rPr>
              <a:t>기능 구현과 실행 검증을 구분하여 관리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7B5B851-9C13-45A2-B9E1-5B2FF078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1248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766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766F"/>
                </a:solidFill>
                <a:latin typeface="Noto Sans KR"/>
                <a:ea typeface="Noto Sans KR"/>
                <a:cs typeface="Noto Sans KR"/>
              </a:rPr>
              <a:t>20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838200" y="2047875"/>
          <a:ext xmlns:a="http://schemas.openxmlformats.org/drawingml/2006/main" cx="13563600" cy="5734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10563225"/>
              </a:tblGrid>
              <a:tr h="5715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구분</a:t>
                      </a:r>
                    </a:p>
                  </a:txBody>
                  <a:tcPr marL="123825" marR="123825" marT="95250" marB="76200">
                    <a:solidFill>
                      <a:srgbClr val="2D655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현재 확인 내용</a:t>
                      </a:r>
                    </a:p>
                  </a:txBody>
                  <a:tcPr marL="123825" marR="123825" marT="95250" marB="76200">
                    <a:solidFill>
                      <a:srgbClr val="2D6556"/>
                    </a:solidFill>
                  </a:tcPr>
                </a:tc>
              </a:tr>
              <a:tr h="8667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구현한 기능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인증, 결심 CRUD / 보관, 날짜별 일지, 대시보드, 달력 / 필터 / 페이지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기존 자동 검증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HTTP API 테스트 10개(H2), 브라우저 시나리오 1개 통과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</a:tr>
              <a:tr h="7905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빌드 / 설정 검증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Java JAR, Nuxt 타입 검사 / 빌드, Compose 구성 검사 통과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</a:tr>
              <a:tr h="8667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추가 확인 필요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실제 PostgreSQL 통합 테스트, Docker 전체 기동, IntelliJ GUI 디버그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</a:tr>
              <a:tr h="9810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사용자 PC 상태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설치와 IntelliJ 준비 진행. 회원가입 502의 후속 정상화 확인 필요</a:t>
                      </a:r>
                    </a:p>
                  </a:txBody>
                  <a:tcPr marL="123825" marR="123825" marT="95250" marB="76200">
                    <a:solidFill>
                      <a:srgbClr val="FFFFFF"/>
                    </a:solidFill>
                  </a:tcPr>
                </a:tc>
              </a:tr>
              <a:tr h="8667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향후 확장 항목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E3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이메일 인증, 비밀번호 재설정, 토큰 갱신 / 폐기, 운영 배포</a:t>
                      </a:r>
                    </a:p>
                  </a:txBody>
                  <a:tcPr marL="123825" marR="123825" marT="95250" marB="76200">
                    <a:solidFill>
                      <a:srgbClr val="F0F4ED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34693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2026-09-15T07:01:57.2510000Z</dcterms:created>
  <dcterms:modified xsi:type="dcterms:W3CDTF">2026-09-15T07:01:57.2510000Z</dcterms:modified>
</coreProperties>
</file>