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860c90ac80f44f5" /><Relationship Type="http://schemas.openxmlformats.org/officeDocument/2006/relationships/extended-properties" Target="/docProps/app.xml" Id="Rfedb152f2d5a46fc" /><Relationship Type="http://schemas.openxmlformats.org/officeDocument/2006/relationships/officeDocument" Target="/ppt/presentation.xml" Id="Ra526e03557ea42c7" /></Relationships>
</file>

<file path=ppt/presentation.xml><?xml version="1.0" encoding="utf-8"?>
<p:presentation xmlns:p="http://schemas.openxmlformats.org/presentationml/2006/main">
  <p:sldMasterIdLst>
    <p:sldMasterId xmlns:r="http://schemas.openxmlformats.org/officeDocument/2006/relationships" id="2147483648" r:id="Rb0aa43c90d754bcc"/>
  </p:sldMasterIdLst>
  <p:notesMasterIdLst>
    <p:notesMasterId xmlns:r="http://schemas.openxmlformats.org/officeDocument/2006/relationships" r:id="Rb23ce28db3864a29"/>
  </p:notesMasterIdLst>
  <p:sldIdLst>
    <p:sldId xmlns:r="http://schemas.openxmlformats.org/officeDocument/2006/relationships" id="256" r:id="R575344f09b894372"/>
    <p:sldId xmlns:r="http://schemas.openxmlformats.org/officeDocument/2006/relationships" id="257" r:id="R3ac6d7450ad5457a"/>
    <p:sldId xmlns:r="http://schemas.openxmlformats.org/officeDocument/2006/relationships" id="258" r:id="Rac28dd32814940de"/>
    <p:sldId xmlns:r="http://schemas.openxmlformats.org/officeDocument/2006/relationships" id="259" r:id="Rc14436b423c94c51"/>
    <p:sldId xmlns:r="http://schemas.openxmlformats.org/officeDocument/2006/relationships" id="260" r:id="Ra459e73ae4bf440d"/>
    <p:sldId xmlns:r="http://schemas.openxmlformats.org/officeDocument/2006/relationships" id="261" r:id="R0d10df2135214e5a"/>
    <p:sldId xmlns:r="http://schemas.openxmlformats.org/officeDocument/2006/relationships" id="262" r:id="R098c833117424e67"/>
    <p:sldId xmlns:r="http://schemas.openxmlformats.org/officeDocument/2006/relationships" id="263" r:id="R5a7766850afc40ad"/>
    <p:sldId xmlns:r="http://schemas.openxmlformats.org/officeDocument/2006/relationships" id="264" r:id="R6b2b1a53b3d44a8c"/>
    <p:sldId xmlns:r="http://schemas.openxmlformats.org/officeDocument/2006/relationships" id="265" r:id="Rb016dfd5811c4570"/>
    <p:sldId xmlns:r="http://schemas.openxmlformats.org/officeDocument/2006/relationships" id="266" r:id="R8e81cd650e4f40e4"/>
    <p:sldId xmlns:r="http://schemas.openxmlformats.org/officeDocument/2006/relationships" id="267" r:id="R4ed4b51e9dfd49f1"/>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59d8b300234c3d" /><Relationship Type="http://schemas.openxmlformats.org/officeDocument/2006/relationships/slideMaster" Target="/ppt/slideMasters/slideMaster1.xml" Id="Rb0aa43c90d754bcc" /><Relationship Type="http://schemas.openxmlformats.org/officeDocument/2006/relationships/notesMaster" Target="/ppt/notesMasters/notesMaster1.xml" Id="Rb23ce28db3864a29" /><Relationship Type="http://schemas.openxmlformats.org/officeDocument/2006/relationships/presProps" Target="/ppt/presProps.xml" Id="Rac8c641070594632" /><Relationship Type="http://schemas.openxmlformats.org/officeDocument/2006/relationships/tableStyles" Target="/ppt/tableStyles.xml" Id="R49c9580bb4cd42d3" /><Relationship Type="http://schemas.openxmlformats.org/officeDocument/2006/relationships/slide" Target="/ppt/slides/slide1.xml" Id="R575344f09b894372" /><Relationship Type="http://schemas.openxmlformats.org/officeDocument/2006/relationships/slide" Target="/ppt/slides/slide2.xml" Id="R3ac6d7450ad5457a" /><Relationship Type="http://schemas.openxmlformats.org/officeDocument/2006/relationships/slide" Target="/ppt/slides/slide3.xml" Id="Rac28dd32814940de" /><Relationship Type="http://schemas.openxmlformats.org/officeDocument/2006/relationships/slide" Target="/ppt/slides/slide4.xml" Id="Rc14436b423c94c51" /><Relationship Type="http://schemas.openxmlformats.org/officeDocument/2006/relationships/slide" Target="/ppt/slides/slide5.xml" Id="Ra459e73ae4bf440d" /><Relationship Type="http://schemas.openxmlformats.org/officeDocument/2006/relationships/slide" Target="/ppt/slides/slide6.xml" Id="R0d10df2135214e5a" /><Relationship Type="http://schemas.openxmlformats.org/officeDocument/2006/relationships/slide" Target="/ppt/slides/slide7.xml" Id="R098c833117424e67" /><Relationship Type="http://schemas.openxmlformats.org/officeDocument/2006/relationships/slide" Target="/ppt/slides/slide8.xml" Id="R5a7766850afc40ad" /><Relationship Type="http://schemas.openxmlformats.org/officeDocument/2006/relationships/slide" Target="/ppt/slides/slide9.xml" Id="R6b2b1a53b3d44a8c" /><Relationship Type="http://schemas.openxmlformats.org/officeDocument/2006/relationships/slide" Target="/ppt/slides/slide10.xml" Id="Rb016dfd5811c4570" /><Relationship Type="http://schemas.openxmlformats.org/officeDocument/2006/relationships/slide" Target="/ppt/slides/slide11.xml" Id="R8e81cd650e4f40e4" /><Relationship Type="http://schemas.openxmlformats.org/officeDocument/2006/relationships/slide" Target="/ppt/slides/slide12.xml" Id="R4ed4b51e9dfd49f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02544ebdd1442c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0cb4f6a7fb94d03" /><Relationship Type="http://schemas.openxmlformats.org/officeDocument/2006/relationships/notesMaster" Target="/ppt/notesMasters/notesMaster1.xml" Id="Rff7b0eec072e42a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765c5b6f38434c" /><Relationship Type="http://schemas.openxmlformats.org/officeDocument/2006/relationships/notesMaster" Target="/ppt/notesMasters/notesMaster1.xml" Id="Rd60a55ec70ec43b0" /></Relationships>
</file>

<file path=ppt/notesSlides/_rels/notesSlide3.xml.rels>&#65279;<?xml version="1.0" encoding="utf-8"?><Relationships xmlns="http://schemas.openxmlformats.org/package/2006/relationships"><Relationship Type="http://schemas.openxmlformats.org/officeDocument/2006/relationships/slide" Target="/ppt/slides/slide3.xml" Id="Ref180f52e732465e" /><Relationship Type="http://schemas.openxmlformats.org/officeDocument/2006/relationships/notesMaster" Target="/ppt/notesMasters/notesMaster1.xml" Id="R2b83ed2d9b044fdf"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e047698a224465" /><Relationship Type="http://schemas.openxmlformats.org/officeDocument/2006/relationships/notesMaster" Target="/ppt/notesMasters/notesMaster1.xml" Id="R9bb041280e3149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5aa83475df451b" /><Relationship Type="http://schemas.openxmlformats.org/officeDocument/2006/relationships/notesMaster" Target="/ppt/notesMasters/notesMaster1.xml" Id="R3234dd523bcd49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e1e30c24a74523" /><Relationship Type="http://schemas.openxmlformats.org/officeDocument/2006/relationships/notesMaster" Target="/ppt/notesMasters/notesMaster1.xml" Id="R9b03e056c03642c4" /></Relationships>
</file>

<file path=ppt/notesSlides/_rels/notesSlide7.xml.rels>&#65279;<?xml version="1.0" encoding="utf-8"?><Relationships xmlns="http://schemas.openxmlformats.org/package/2006/relationships"><Relationship Type="http://schemas.openxmlformats.org/officeDocument/2006/relationships/slide" Target="/ppt/slides/slide7.xml" Id="Rccfe46f4c3ef4b0f" /><Relationship Type="http://schemas.openxmlformats.org/officeDocument/2006/relationships/notesMaster" Target="/ppt/notesMasters/notesMaster1.xml" Id="R2c316969a2844c2c" /></Relationships>
</file>

<file path=ppt/notesSlides/_rels/notesSlide8.xml.rels>&#65279;<?xml version="1.0" encoding="utf-8"?><Relationships xmlns="http://schemas.openxmlformats.org/package/2006/relationships"><Relationship Type="http://schemas.openxmlformats.org/officeDocument/2006/relationships/slide" Target="/ppt/slides/slide8.xml" Id="Re67501a5058f476d" /><Relationship Type="http://schemas.openxmlformats.org/officeDocument/2006/relationships/notesMaster" Target="/ppt/notesMasters/notesMaster1.xml" Id="R3e7bdaa3bc734b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c159737803ab4bf5" /><Relationship Type="http://schemas.openxmlformats.org/officeDocument/2006/relationships/notesMaster" Target="/ppt/notesMasters/notesMaster1.xml" Id="R5c5d45ecb278498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bad486c81ee427a" /><Relationship Type="http://schemas.openxmlformats.org/officeDocument/2006/relationships/notesMaster" Target="/ppt/notesMasters/notesMaster1.xml" Id="Rac1a224b994a478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ab094622b0d4df7" /><Relationship Type="http://schemas.openxmlformats.org/officeDocument/2006/relationships/notesMaster" Target="/ppt/notesMasters/notesMaster1.xml" Id="R95403048ef28421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77cdf258b63485f" /><Relationship Type="http://schemas.openxmlformats.org/officeDocument/2006/relationships/notesMaster" Target="/ppt/notesMasters/notesMaster1.xml" Id="R3221ec94a06c46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결심과 일지를 중심으로 새로 구성한 개인 프로젝트입니다. 이 자료는 현재 제공된 소스의 구현 범위를 설명합니다. 사용자 PC의 회원가입 502 문제는 정상 연결 재확인이 필요합니다.</a:t>
            </a:r>
          </a:p>
          <a:p xmlns:a="http://schemas.openxmlformats.org/drawingml/2006/main">
            <a:r>
              <a:t/>
            </a:r>
          </a:p>
          <a:p xmlns:a="http://schemas.openxmlformats.org/drawingml/2006/main">
            <a:r>
              <a:t>근거: resolve-log/README.md</a:t>
            </a:r>
          </a:p>
          <a:p xmlns:a="http://schemas.openxmlformats.org/drawingml/2006/main">
            <a:r>
              <a:t>resolve-log/docs/VALIDATION.md</a:t>
            </a:r>
          </a:p>
          <a:p xmlns:a="http://schemas.openxmlformats.org/drawingml/2006/main">
            <a:r>
              <a:t>현재 대화의 사용자 로컬 실행 상황</a:t>
            </a:r>
          </a:p>
          <a:p xmlns:a="http://schemas.openxmlformats.org/drawingml/2006/main">
            <a:r>
              <a:t>문서 기준: Resolve Log 1.0.0, 2026-09-15. 화면 이미지는 독립된 테스트 환경의 예제 계정으로 촬영했습니다.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jaksimProject master의 Vue 화면과 결심·실천 흐름을 참고했습니다. 원본 서버 소스는 확인할 수 없어 개인 일지 요구사항을 기준으로 백엔드와 데이터 모델을 새로 구성했습니다. MSA가 아닌 단일 Spring Boot API 구성입니다.</a:t>
            </a:r>
          </a:p>
          <a:p xmlns:a="http://schemas.openxmlformats.org/drawingml/2006/main">
            <a:r>
              <a:t/>
            </a:r>
          </a:p>
          <a:p xmlns:a="http://schemas.openxmlformats.org/drawingml/2006/main">
            <a:r>
              <a:t>근거: https://github.com/jooyoungyun/jaksimProject/tree/master</a:t>
            </a:r>
          </a:p>
          <a:p xmlns:a="http://schemas.openxmlformats.org/drawingml/2006/main">
            <a:r>
              <a:t>docs/ARCHITECTURE.md</a:t>
            </a:r>
          </a:p>
          <a:p xmlns:a="http://schemas.openxmlformats.org/drawingml/2006/main">
            <a:r>
              <a:t>frontend/app/pages</a:t>
            </a:r>
          </a:p>
          <a:p xmlns:a="http://schemas.openxmlformats.org/drawingml/2006/main">
            <a:r>
              <a:t>문서 기준: Resolve Log 1.0.0, 2026-09-15. 화면 이미지는 독립된 테스트 환경의 예제 계정으로 촬영했습니다.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수치는 예제 계정의 테스트 기록입니다. 완료 비율은 DONE 수 / 조회 대상 결심 수이며 대상이 없을 때는 0%입니다. 최근 7일 막대는 완료 일지 수입니다.</a:t>
            </a:r>
          </a:p>
          <a:p xmlns:a="http://schemas.openxmlformats.org/drawingml/2006/main">
            <a:r>
              <a:t/>
            </a:r>
          </a:p>
          <a:p xmlns:a="http://schemas.openxmlformats.org/drawingml/2006/main">
            <a:r>
              <a:t>근거: frontend/app/pages/index.vue</a:t>
            </a:r>
          </a:p>
          <a:p xmlns:a="http://schemas.openxmlformats.org/drawingml/2006/main">
            <a:r>
              <a:t>backend/src/main/java/com/resolvelog/journal/DashboardController.java</a:t>
            </a:r>
          </a:p>
          <a:p xmlns:a="http://schemas.openxmlformats.org/drawingml/2006/main">
            <a:r>
              <a:t>테스트 환경의 실제 화면 캡처</a:t>
            </a:r>
          </a:p>
          <a:p xmlns:a="http://schemas.openxmlformats.org/drawingml/2006/main">
            <a:r>
              <a:t>문서 기준: Resolve Log 1.0.0, 2026-09-15. 화면 이미지는 독립된 테스트 환경의 예제 계정으로 촬영했습니다.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등록과 수정은 재사용하는 GoalForm으로 구현했습니다. 결심을 보관하면 새 기록은 제한하되 기존 일지 수정은 허용합니다. 결심을 삭제하면 관련 일지도 삭제됩니다.</a:t>
            </a:r>
          </a:p>
          <a:p xmlns:a="http://schemas.openxmlformats.org/drawingml/2006/main">
            <a:r>
              <a:t/>
            </a:r>
          </a:p>
          <a:p xmlns:a="http://schemas.openxmlformats.org/drawingml/2006/main">
            <a:r>
              <a:t>근거: frontend/app/components/GoalForm.vue</a:t>
            </a:r>
          </a:p>
          <a:p xmlns:a="http://schemas.openxmlformats.org/drawingml/2006/main">
            <a:r>
              <a:t>frontend/app/pages/goals/index.vue</a:t>
            </a:r>
          </a:p>
          <a:p xmlns:a="http://schemas.openxmlformats.org/drawingml/2006/main">
            <a:r>
              <a:t>backend/src/main/java/com/resolvelog/goal/GoalService.java</a:t>
            </a:r>
          </a:p>
          <a:p xmlns:a="http://schemas.openxmlformats.org/drawingml/2006/main">
            <a:r>
              <a:t>문서 기준: Resolve Log 1.0.0, 2026-09-15. 화면 이미지는 독립된 테스트 환경의 예제 계정으로 촬영했습니다.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일지 입력은 오늘의 일지 카드 안에서 열립니다. 메모 최대 4000자, 시간 0~1440분이며 데이터베이스는 goal_id와 entry_date의 복합 유일 키를 갖습니다.</a:t>
            </a:r>
          </a:p>
          <a:p xmlns:a="http://schemas.openxmlformats.org/drawingml/2006/main">
            <a:r>
              <a:t/>
            </a:r>
          </a:p>
          <a:p xmlns:a="http://schemas.openxmlformats.org/drawingml/2006/main">
            <a:r>
              <a:t>근거: frontend/app/components/EntryEditor.vue</a:t>
            </a:r>
          </a:p>
          <a:p xmlns:a="http://schemas.openxmlformats.org/drawingml/2006/main">
            <a:r>
              <a:t>backend/src/main/java/com/resolvelog/journal/JournalService.java</a:t>
            </a:r>
          </a:p>
          <a:p xmlns:a="http://schemas.openxmlformats.org/drawingml/2006/main">
            <a:r>
              <a:t>backend/src/main/resources/db/migration/V1__initial_schema.sql</a:t>
            </a:r>
          </a:p>
          <a:p xmlns:a="http://schemas.openxmlformats.org/drawingml/2006/main">
            <a:r>
              <a:t>문서 기준: Resolve Log 1.0.0, 2026-09-15. 화면 이미지는 독립된 테스트 환경의 예제 계정으로 촬영했습니다.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캡처는 보관함의 상단 부분입니다. 목록은 날짜와 수정 시각의 역순이며 기본 20건 단위로 페이지를 제공합니다. 달력은 해당 월의 전체 결심을 집계합니다.</a:t>
            </a:r>
          </a:p>
          <a:p xmlns:a="http://schemas.openxmlformats.org/drawingml/2006/main">
            <a:r>
              <a:t/>
            </a:r>
          </a:p>
          <a:p xmlns:a="http://schemas.openxmlformats.org/drawingml/2006/main">
            <a:r>
              <a:t>근거: frontend/app/pages/journal.vue</a:t>
            </a:r>
          </a:p>
          <a:p xmlns:a="http://schemas.openxmlformats.org/drawingml/2006/main">
            <a:r>
              <a:t>backend/src/main/java/com/resolvelog/journal/JournalController.java</a:t>
            </a:r>
          </a:p>
          <a:p xmlns:a="http://schemas.openxmlformats.org/drawingml/2006/main">
            <a:r>
              <a:t>backend/src/main/java/com/resolvelog/journal/DashboardController.java</a:t>
            </a:r>
          </a:p>
          <a:p xmlns:a="http://schemas.openxmlformats.org/drawingml/2006/main">
            <a:r>
              <a:t>문서 기준: Resolve Log 1.0.0, 2026-09-15. 화면 이미지는 독립된 테스트 환경의 예제 계정으로 촬영했습니다.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화면은 Chromium의 390×844 viewport로 촬영했습니다. 가로 넘침 확인과 브라우저 시나리오에서 해당 너비를 검증했습니다. 실기기별 브라우저 호환성 전체를 검증했다는 의미는 아닙니다.</a:t>
            </a:r>
          </a:p>
          <a:p xmlns:a="http://schemas.openxmlformats.org/drawingml/2006/main">
            <a:r>
              <a:t/>
            </a:r>
          </a:p>
          <a:p xmlns:a="http://schemas.openxmlformats.org/drawingml/2006/main">
            <a:r>
              <a:t>근거: frontend/app/assets/css/main.css</a:t>
            </a:r>
          </a:p>
          <a:p xmlns:a="http://schemas.openxmlformats.org/drawingml/2006/main">
            <a:r>
              <a:t>frontend/tests/e2e/journal.spec.ts</a:t>
            </a:r>
          </a:p>
          <a:p xmlns:a="http://schemas.openxmlformats.org/drawingml/2006/main">
            <a:r>
              <a:t>docs/VALIDATION.md</a:t>
            </a:r>
          </a:p>
          <a:p xmlns:a="http://schemas.openxmlformats.org/drawingml/2006/main">
            <a:r>
              <a:t>문서 기준: Resolve Log 1.0.0, 2026-09-15. 화면 이미지는 독립된 테스트 환경의 예제 계정으로 촬영했습니다.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프런트 apiBase 기본값은 http://127.0.0.1:8080이며 Docker 환경에서는 http://backend:8080을 사용합니다. 프런트 공개 설정과 서버 전용 API 연결 설정을 분리했습니다. 실제 운영 대상 DB는 PostgreSQL이며 기존 자동 테스트는 H2 호환 모드입니다.</a:t>
            </a:r>
          </a:p>
          <a:p xmlns:a="http://schemas.openxmlformats.org/drawingml/2006/main">
            <a:r>
              <a:t/>
            </a:r>
          </a:p>
          <a:p xmlns:a="http://schemas.openxmlformats.org/drawingml/2006/main">
            <a:r>
              <a:t>근거: frontend/package.json</a:t>
            </a:r>
          </a:p>
          <a:p xmlns:a="http://schemas.openxmlformats.org/drawingml/2006/main">
            <a:r>
              <a:t>frontend/nuxt.config.ts</a:t>
            </a:r>
          </a:p>
          <a:p xmlns:a="http://schemas.openxmlformats.org/drawingml/2006/main">
            <a:r>
              <a:t>frontend/server/api/[...path].ts</a:t>
            </a:r>
          </a:p>
          <a:p xmlns:a="http://schemas.openxmlformats.org/drawingml/2006/main">
            <a:r>
              <a:t>backend/pom.xml</a:t>
            </a:r>
          </a:p>
          <a:p xmlns:a="http://schemas.openxmlformats.org/drawingml/2006/main">
            <a:r>
              <a:t>compose.yaml</a:t>
            </a:r>
          </a:p>
          <a:p xmlns:a="http://schemas.openxmlformats.org/drawingml/2006/main">
            <a:r>
              <a:t>문서 기준: Resolve Log 1.0.0, 2026-09-15. 화면 이미지는 독립된 테스트 환경의 예제 계정으로 촬영했습니다.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소유권 검증, 중복 저장과 4개 동시 요청은 기존 H2 기반 API 통합 테스트에 포함됩니다. 실제 PostgreSQL의 잠금 동작은 추가 통합 검증 대상입니다. JWT는 HS256, issuer와 audience 확인을 적용하며 프런트는 localStorage에 저장합니다.</a:t>
            </a:r>
          </a:p>
          <a:p xmlns:a="http://schemas.openxmlformats.org/drawingml/2006/main">
            <a:r>
              <a:t/>
            </a:r>
          </a:p>
          <a:p xmlns:a="http://schemas.openxmlformats.org/drawingml/2006/main">
            <a:r>
              <a:t>근거: backend/src/main/java/com/resolvelog/goal/GoalRepository.java</a:t>
            </a:r>
          </a:p>
          <a:p xmlns:a="http://schemas.openxmlformats.org/drawingml/2006/main">
            <a:r>
              <a:t>backend/src/main/java/com/resolvelog/goal/GoalService.java</a:t>
            </a:r>
          </a:p>
          <a:p xmlns:a="http://schemas.openxmlformats.org/drawingml/2006/main">
            <a:r>
              <a:t>backend/src/main/java/com/resolvelog/journal/JournalService.java</a:t>
            </a:r>
          </a:p>
          <a:p xmlns:a="http://schemas.openxmlformats.org/drawingml/2006/main">
            <a:r>
              <a:t>backend/src/main/resources/db/migration/V1__initial_schema.sql</a:t>
            </a:r>
          </a:p>
          <a:p xmlns:a="http://schemas.openxmlformats.org/drawingml/2006/main">
            <a:r>
              <a:t>backend/src/test/java/com/resolvelog/ApiIntegrationTest.java</a:t>
            </a:r>
          </a:p>
          <a:p xmlns:a="http://schemas.openxmlformats.org/drawingml/2006/main">
            <a:r>
              <a:t>문서 기준: Resolve Log 1.0.0, 2026-09-15. 화면 이미지는 독립된 테스트 환경의 예제 계정으로 촬영했습니다.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Maven Wrapper와 npm lockfile, Dockerfile, compose.yaml, compose.debug.yaml을 제공합니다. Docker 원격 디버그는 localhost:5005이며 기본 구성에는 열지 않습니다. 사용자 PC에서 실제 Docker 전체 기동을 확인한 결과는 아직 없습니다.</a:t>
            </a:r>
          </a:p>
          <a:p xmlns:a="http://schemas.openxmlformats.org/drawingml/2006/main">
            <a:r>
              <a:t/>
            </a:r>
          </a:p>
          <a:p xmlns:a="http://schemas.openxmlformats.org/drawingml/2006/main">
            <a:r>
              <a:t>근거: compose.yaml</a:t>
            </a:r>
          </a:p>
          <a:p xmlns:a="http://schemas.openxmlformats.org/drawingml/2006/main">
            <a:r>
              <a:t>compose.debug.yaml</a:t>
            </a:r>
          </a:p>
          <a:p xmlns:a="http://schemas.openxmlformats.org/drawingml/2006/main">
            <a:r>
              <a:t>backend/Dockerfile</a:t>
            </a:r>
          </a:p>
          <a:p xmlns:a="http://schemas.openxmlformats.org/drawingml/2006/main">
            <a:r>
              <a:t>frontend/Dockerfile</a:t>
            </a:r>
          </a:p>
          <a:p xmlns:a="http://schemas.openxmlformats.org/drawingml/2006/main">
            <a:r>
              <a:t>.run/Resolve_Log_API.run.xml</a:t>
            </a:r>
          </a:p>
          <a:p xmlns:a="http://schemas.openxmlformats.org/drawingml/2006/main">
            <a:r>
              <a:t>.run/Resolve_Log_Docker_Debug.run.xml</a:t>
            </a:r>
          </a:p>
          <a:p xmlns:a="http://schemas.openxmlformats.org/drawingml/2006/main">
            <a:r>
              <a:t>docs/VALIDATION.md</a:t>
            </a:r>
          </a:p>
          <a:p xmlns:a="http://schemas.openxmlformats.org/drawingml/2006/main">
            <a:r>
              <a:t>문서 기준: Resolve Log 1.0.0, 2026-09-15. 화면 이미지는 독립된 테스트 환경의 예제 계정으로 촬영했습니다.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2026-09-15 기준의 검증 기록입니다. H2 검증은 PostgreSQL 잠금이나 타입 동작 전체를 대신하지 않습니다. 사용자가 최근 제보한 회원가입 Bad Gateway는 후속 정상화 확인이 없어 해결 완료라고 표시하지 않았습니다. 성능 수치나 운영 사용자 수는 측정하거나 주장하지 않습니다.</a:t>
            </a:r>
          </a:p>
          <a:p xmlns:a="http://schemas.openxmlformats.org/drawingml/2006/main">
            <a:r>
              <a:t/>
            </a:r>
          </a:p>
          <a:p xmlns:a="http://schemas.openxmlformats.org/drawingml/2006/main">
            <a:r>
              <a:t>근거: docs/VALIDATION.md</a:t>
            </a:r>
          </a:p>
          <a:p xmlns:a="http://schemas.openxmlformats.org/drawingml/2006/main">
            <a:r>
              <a:t>backend/target/surefire-reports/com.resolvelog.ApiIntegrationTest.txt</a:t>
            </a:r>
          </a:p>
          <a:p xmlns:a="http://schemas.openxmlformats.org/drawingml/2006/main">
            <a:r>
              <a:t>frontend/tests/e2e/journal.spec.ts</a:t>
            </a:r>
          </a:p>
          <a:p xmlns:a="http://schemas.openxmlformats.org/drawingml/2006/main">
            <a:r>
              <a:t>현재 대화의 사용자 오류 제보</a:t>
            </a:r>
          </a:p>
          <a:p xmlns:a="http://schemas.openxmlformats.org/drawingml/2006/main">
            <a:r>
              <a:t>문서 기준: Resolve Log 1.0.0, 2026-09-15. 화면 이미지는 독립된 테스트 환경의 예제 계정으로 촬영했습니다.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학습과 개인 포트폴리오 목적의 프로젝트입니다. 요구사항과 기술 구성을 정하고 AI 협업으로 신규 구현·검증·문서화를 진행했습니다. 최초 참고 저장소를 새 Resolve Log 저장소처럼 제시하지 않습니다. 신규 저장소 공개 링크는 이 자료에 포함하지 않았습니다.</a:t>
            </a:r>
          </a:p>
          <a:p xmlns:a="http://schemas.openxmlformats.org/drawingml/2006/main">
            <a:r>
              <a:t/>
            </a:r>
          </a:p>
          <a:p xmlns:a="http://schemas.openxmlformats.org/drawingml/2006/main">
            <a:r>
              <a:t>근거: resolve-log.zip</a:t>
            </a:r>
          </a:p>
          <a:p xmlns:a="http://schemas.openxmlformats.org/drawingml/2006/main">
            <a:r>
              <a:t>README.md</a:t>
            </a:r>
          </a:p>
          <a:p xmlns:a="http://schemas.openxmlformats.org/drawingml/2006/main">
            <a:r>
              <a:t>docs/ARCHITECTURE.md</a:t>
            </a:r>
          </a:p>
          <a:p xmlns:a="http://schemas.openxmlformats.org/drawingml/2006/main">
            <a:r>
              <a:t>docs/SETUP_KO.md</a:t>
            </a:r>
          </a:p>
          <a:p xmlns:a="http://schemas.openxmlformats.org/drawingml/2006/main">
            <a:r>
              <a:t>scripts/test-postgres.ps1</a:t>
            </a:r>
          </a:p>
          <a:p xmlns:a="http://schemas.openxmlformats.org/drawingml/2006/main">
            <a:r>
              <a:t>현재 프로젝트 작업 대화</a:t>
            </a:r>
          </a:p>
          <a:p xmlns:a="http://schemas.openxmlformats.org/drawingml/2006/main">
            <a:r>
              <a:t>문서 기준: Resolve Log 1.0.0, 2026-09-15. 화면 이미지는 독립된 테스트 환경의 예제 계정으로 촬영했습니다.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6baa026d034ef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aeeaab730794fc4" /><Relationship Type="http://schemas.openxmlformats.org/officeDocument/2006/relationships/slideLayout" Target="/ppt/slideLayouts/slideLayout1.xml" Id="Rfc6701fc7eb84fd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c6701fc7eb84f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84df04042a945e6" /><Relationship Type="http://schemas.openxmlformats.org/officeDocument/2006/relationships/notesSlide" Target="/ppt/notesSlides/notesSlide1.xml" Id="R0fef0573e72a465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283707f40aa4a03" /><Relationship Type="http://schemas.openxmlformats.org/officeDocument/2006/relationships/notesSlide" Target="/ppt/notesSlides/notesSlide2.xml" Id="R719ef3267fa2473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a6da257cb7144fa" /><Relationship Type="http://schemas.openxmlformats.org/officeDocument/2006/relationships/image" Target="/ppt/media/image.png" Id="Rc091224c7a754aaa" /><Relationship Type="http://schemas.openxmlformats.org/officeDocument/2006/relationships/notesSlide" Target="/ppt/notesSlides/notesSlide3.xml" Id="R7a6fcaf1add441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121e395c60c406a" /><Relationship Type="http://schemas.openxmlformats.org/officeDocument/2006/relationships/image" Target="/ppt/media/image2.png" Id="Rbc015c835dbc40c0" /><Relationship Type="http://schemas.openxmlformats.org/officeDocument/2006/relationships/notesSlide" Target="/ppt/notesSlides/notesSlide4.xml" Id="R4faa2a935b244c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2aa9947b7344e59" /><Relationship Type="http://schemas.openxmlformats.org/officeDocument/2006/relationships/image" Target="/ppt/media/image3.png" Id="R7e3f7b145bd445fb" /><Relationship Type="http://schemas.openxmlformats.org/officeDocument/2006/relationships/notesSlide" Target="/ppt/notesSlides/notesSlide5.xml" Id="R5603b041e91b497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5b8a92efc1147b9" /><Relationship Type="http://schemas.openxmlformats.org/officeDocument/2006/relationships/image" Target="/ppt/media/image4.png" Id="R4c3485db2dfa4eea" /><Relationship Type="http://schemas.openxmlformats.org/officeDocument/2006/relationships/notesSlide" Target="/ppt/notesSlides/notesSlide6.xml" Id="R3e3fb176e8f844e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53a262d37984a56" /><Relationship Type="http://schemas.openxmlformats.org/officeDocument/2006/relationships/image" Target="/ppt/media/image5.png" Id="Rc020b510594948d9" /><Relationship Type="http://schemas.openxmlformats.org/officeDocument/2006/relationships/notesSlide" Target="/ppt/notesSlides/notesSlide7.xml" Id="R7827a5deaabb488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3619a5aba4e4bdc" /><Relationship Type="http://schemas.openxmlformats.org/officeDocument/2006/relationships/notesSlide" Target="/ppt/notesSlides/notesSlide8.xml" Id="Rc7a095f323234ba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aab3719cd224537" /><Relationship Type="http://schemas.openxmlformats.org/officeDocument/2006/relationships/notesSlide" Target="/ppt/notesSlides/notesSlide9.xml" Id="Re13cc68135464fe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028cc46086f4483" /><Relationship Type="http://schemas.openxmlformats.org/officeDocument/2006/relationships/notesSlide" Target="/ppt/notesSlides/notesSlide10.xml" Id="R2d218ec917e64eb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ceefb16f3e54ec4" /><Relationship Type="http://schemas.openxmlformats.org/officeDocument/2006/relationships/notesSlide" Target="/ppt/notesSlides/notesSlide11.xml" Id="Rcc5bce7ce30e4aa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feeca4eb52e452f" /><Relationship Type="http://schemas.openxmlformats.org/officeDocument/2006/relationships/notesSlide" Target="/ppt/notesSlides/notesSlide12.xml" Id="Rde123a64be2648ac" /></Relationships>
</file>

<file path=ppt/slides/slide1.xml><?xml version="1.0" encoding="utf-8"?>
<p:sld xmlns:p="http://schemas.openxmlformats.org/presentationml/2006/main">
  <p:cSld>
    <p:bg>
      <p:bgPr>
        <a:solidFill xmlns:a="http://schemas.openxmlformats.org/drawingml/2006/main">
          <a:srgbClr val="213E39"/>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C1816CF-4E49-48E7-83D0-03E3E42C791D}"/>
              </a:ext>
            </a:extLst>
          </p:cNvPr>
          <p:cNvSpPr>
            <a:spLocks xmlns:a="http://schemas.openxmlformats.org/drawingml/2006/main" noGrp="1"/>
          </p:cNvSpPr>
          <p:nvPr/>
        </p:nvSpPr>
        <p:spPr>
          <a:xfrm xmlns:a="http://schemas.openxmlformats.org/drawingml/2006/main">
            <a:off x="838200" y="904875"/>
            <a:ext cx="1333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950" b="1">
                <a:solidFill>
                  <a:srgbClr val="FFFFFF"/>
                </a:solidFill>
                <a:latin typeface="Noto Sans KR"/>
                <a:ea typeface="Noto Sans KR"/>
                <a:cs typeface="Noto Sans KR"/>
              </a:defRPr>
            </a:pPr>
            <a:r>
              <a:rPr sz="7950" b="1">
                <a:solidFill>
                  <a:srgbClr val="FFFFFF"/>
                </a:solidFill>
                <a:latin typeface="Noto Sans KR"/>
                <a:ea typeface="Noto Sans KR"/>
                <a:cs typeface="Noto Sans KR"/>
              </a:rPr>
              <a:t>Resolve Log</a:t>
            </a:r>
          </a:p>
        </p:txBody>
      </p:sp>
      <p:sp>
        <p:nvSpPr>
          <p:cNvPr id="2" name="text">
            <a:extLst xmlns:a="http://schemas.openxmlformats.org/drawingml/2006/main">
              <a:ext uri="{FF2B5EF4-FFF2-40B4-BE49-F238E27FC236}">
                <a16:creationId xmlns:a16="http://schemas.microsoft.com/office/drawing/2014/main" id="{5555C573-57E5-4AA1-B939-1F8383647D40}"/>
              </a:ext>
            </a:extLst>
          </p:cNvPr>
          <p:cNvSpPr>
            <a:spLocks xmlns:a="http://schemas.openxmlformats.org/drawingml/2006/main" noGrp="1"/>
          </p:cNvSpPr>
          <p:nvPr/>
        </p:nvSpPr>
        <p:spPr>
          <a:xfrm xmlns:a="http://schemas.openxmlformats.org/drawingml/2006/main">
            <a:off x="857250" y="3048000"/>
            <a:ext cx="13335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FFFFFF"/>
                </a:solidFill>
                <a:latin typeface="Noto Sans KR"/>
                <a:ea typeface="Noto Sans KR"/>
                <a:cs typeface="Noto Sans KR"/>
              </a:defRPr>
            </a:pPr>
            <a:r>
              <a:rPr sz="4500" b="1">
                <a:solidFill>
                  <a:srgbClr val="FFFFFF"/>
                </a:solidFill>
                <a:latin typeface="Noto Sans KR"/>
                <a:ea typeface="Noto Sans KR"/>
                <a:cs typeface="Noto Sans KR"/>
              </a:rPr>
              <a:t>결심과 하루의 실천을 기록하는 일지</a:t>
            </a:r>
          </a:p>
        </p:txBody>
      </p:sp>
      <p:sp>
        <p:nvSpPr>
          <p:cNvPr id="3" name="text">
            <a:extLst xmlns:a="http://schemas.openxmlformats.org/drawingml/2006/main">
              <a:ext uri="{FF2B5EF4-FFF2-40B4-BE49-F238E27FC236}">
                <a16:creationId xmlns:a16="http://schemas.microsoft.com/office/drawing/2014/main" id="{73D09A90-BB0D-4764-8CE9-27C430AC735A}"/>
              </a:ext>
            </a:extLst>
          </p:cNvPr>
          <p:cNvSpPr>
            <a:spLocks xmlns:a="http://schemas.openxmlformats.org/drawingml/2006/main" noGrp="1"/>
          </p:cNvSpPr>
          <p:nvPr/>
        </p:nvSpPr>
        <p:spPr>
          <a:xfrm xmlns:a="http://schemas.openxmlformats.org/drawingml/2006/main">
            <a:off x="876300" y="5133975"/>
            <a:ext cx="1238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D0DED4"/>
                </a:solidFill>
                <a:latin typeface="Noto Sans KR"/>
                <a:ea typeface="Noto Sans KR"/>
                <a:cs typeface="Noto Sans KR"/>
              </a:defRPr>
            </a:pPr>
            <a:r>
              <a:rPr sz="2250" b="0">
                <a:solidFill>
                  <a:srgbClr val="D0DED4"/>
                </a:solidFill>
                <a:latin typeface="Noto Sans KR"/>
                <a:ea typeface="Noto Sans KR"/>
                <a:cs typeface="Noto Sans KR"/>
              </a:rPr>
              <a:t>Nuxt, Vue, TypeScript와 Spring Boot로 구성한 개인 웹 애플리케이션</a:t>
            </a:r>
          </a:p>
        </p:txBody>
      </p:sp>
      <p:sp>
        <p:nvSpPr>
          <p:cNvPr id="4" name="text">
            <a:extLst xmlns:a="http://schemas.openxmlformats.org/drawingml/2006/main">
              <a:ext uri="{FF2B5EF4-FFF2-40B4-BE49-F238E27FC236}">
                <a16:creationId xmlns:a16="http://schemas.microsoft.com/office/drawing/2014/main" id="{57C1BEBD-9D62-4679-9115-15439834FB40}"/>
              </a:ext>
            </a:extLst>
          </p:cNvPr>
          <p:cNvSpPr>
            <a:spLocks xmlns:a="http://schemas.openxmlformats.org/drawingml/2006/main" noGrp="1"/>
          </p:cNvSpPr>
          <p:nvPr/>
        </p:nvSpPr>
        <p:spPr>
          <a:xfrm xmlns:a="http://schemas.openxmlformats.org/drawingml/2006/main">
            <a:off x="876300" y="7191375"/>
            <a:ext cx="1314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D0DED4"/>
                </a:solidFill>
                <a:latin typeface="Noto Sans KR"/>
                <a:ea typeface="Noto Sans KR"/>
                <a:cs typeface="Noto Sans KR"/>
              </a:defRPr>
            </a:pPr>
            <a:r>
              <a:rPr sz="1875" b="0">
                <a:solidFill>
                  <a:srgbClr val="D0DED4"/>
                </a:solidFill>
                <a:latin typeface="Noto Sans KR"/>
                <a:ea typeface="Noto Sans KR"/>
                <a:cs typeface="Noto Sans KR"/>
              </a:rPr>
              <a:t>윤주영   개인 프로젝트   2026.09</a:t>
            </a:r>
          </a:p>
        </p:txBody>
      </p:sp>
    </p:spTree>
    <p:extLst>
      <p:ext uri="{BB962C8B-B14F-4D97-AF65-F5344CB8AC3E}">
        <p14:creationId xmlns:p14="http://schemas.microsoft.com/office/powerpoint/2010/main" val="909071251"/>
      </p:ext>
    </p:extLst>
  </p:cSld>
</p:sld>
</file>

<file path=ppt/slides/slide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169F8D5C-1285-4F4A-8321-2909A32F3165}"/>
              </a:ext>
            </a:extLst>
          </p:cNvPr>
          <p:cNvSpPr>
            <a:spLocks xmlns:a="http://schemas.openxmlformats.org/drawingml/2006/main" noGrp="1"/>
          </p:cNvSpPr>
          <p:nvPr/>
        </p:nvSpPr>
        <p:spPr>
          <a:xfrm xmlns:a="http://schemas.openxmlformats.org/drawingml/2006/main">
            <a:off x="838200" y="514350"/>
            <a:ext cx="1356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13E39"/>
                </a:solidFill>
                <a:latin typeface="Noto Sans KR"/>
                <a:ea typeface="Noto Sans KR"/>
                <a:cs typeface="Noto Sans KR"/>
              </a:defRPr>
            </a:pPr>
            <a:r>
              <a:rPr sz="3600" b="1">
                <a:solidFill>
                  <a:srgbClr val="213E39"/>
                </a:solidFill>
                <a:latin typeface="Noto Sans KR"/>
                <a:ea typeface="Noto Sans KR"/>
                <a:cs typeface="Noto Sans KR"/>
              </a:rPr>
              <a:t>프로젝트 개요</a:t>
            </a:r>
          </a:p>
        </p:txBody>
      </p:sp>
      <p:sp>
        <p:nvSpPr>
          <p:cNvPr id="2" name="subtitle">
            <a:extLst xmlns:a="http://schemas.openxmlformats.org/drawingml/2006/main">
              <a:ext uri="{FF2B5EF4-FFF2-40B4-BE49-F238E27FC236}">
                <a16:creationId xmlns:a16="http://schemas.microsoft.com/office/drawing/2014/main" id="{A63E0B1D-96E0-4678-8BD5-C72D8C0B2FBF}"/>
              </a:ext>
            </a:extLst>
          </p:cNvPr>
          <p:cNvSpPr>
            <a:spLocks xmlns:a="http://schemas.openxmlformats.org/drawingml/2006/main" noGrp="1"/>
          </p:cNvSpPr>
          <p:nvPr/>
        </p:nvSpPr>
        <p:spPr>
          <a:xfrm xmlns:a="http://schemas.openxmlformats.org/drawingml/2006/main">
            <a:off x="857250" y="1304925"/>
            <a:ext cx="1352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66F"/>
                </a:solidFill>
                <a:latin typeface="Noto Sans KR"/>
                <a:ea typeface="Noto Sans KR"/>
                <a:cs typeface="Noto Sans KR"/>
              </a:defRPr>
            </a:pPr>
            <a:r>
              <a:rPr sz="1725" b="0">
                <a:solidFill>
                  <a:srgbClr val="66766F"/>
                </a:solidFill>
                <a:latin typeface="Noto Sans KR"/>
                <a:ea typeface="Noto Sans KR"/>
                <a:cs typeface="Noto Sans KR"/>
              </a:rPr>
              <a:t>작심 프로젝트의 흐름을 참고한 Resolve Log 신규 구현</a:t>
            </a:r>
          </a:p>
        </p:txBody>
      </p:sp>
      <p:sp>
        <p:nvSpPr>
          <p:cNvPr id="3" name="page-number">
            <a:extLst xmlns:a="http://schemas.openxmlformats.org/drawingml/2006/main">
              <a:ext uri="{FF2B5EF4-FFF2-40B4-BE49-F238E27FC236}">
                <a16:creationId xmlns:a16="http://schemas.microsoft.com/office/drawing/2014/main" id="{E285F319-060F-42BE-8DE8-06E943E9728C}"/>
              </a:ext>
            </a:extLst>
          </p:cNvPr>
          <p:cNvSpPr>
            <a:spLocks xmlns:a="http://schemas.openxmlformats.org/drawingml/2006/main" noGrp="1"/>
          </p:cNvSpPr>
          <p:nvPr/>
        </p:nvSpPr>
        <p:spPr>
          <a:xfrm xmlns:a="http://schemas.openxmlformats.org/drawingml/2006/main">
            <a:off x="13811250" y="81248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66F"/>
                </a:solidFill>
                <a:latin typeface="Noto Sans KR"/>
                <a:ea typeface="Noto Sans KR"/>
                <a:cs typeface="Noto Sans KR"/>
              </a:defRPr>
            </a:pPr>
            <a:r>
              <a:rPr sz="1350" b="0">
                <a:solidFill>
                  <a:srgbClr val="66766F"/>
                </a:solidFill>
                <a:latin typeface="Noto Sans KR"/>
                <a:ea typeface="Noto Sans KR"/>
                <a:cs typeface="Noto Sans KR"/>
              </a:rPr>
              <a:t>02</a:t>
            </a:r>
          </a:p>
        </p:txBody>
      </p:sp>
      <p:sp>
        <p:nvSpPr>
          <p:cNvPr id="4" name="text">
            <a:extLst xmlns:a="http://schemas.openxmlformats.org/drawingml/2006/main">
              <a:ext uri="{FF2B5EF4-FFF2-40B4-BE49-F238E27FC236}">
                <a16:creationId xmlns:a16="http://schemas.microsoft.com/office/drawing/2014/main" id="{6FBD4862-477C-410D-82A0-98907C895617}"/>
              </a:ext>
            </a:extLst>
          </p:cNvPr>
          <p:cNvSpPr>
            <a:spLocks xmlns:a="http://schemas.openxmlformats.org/drawingml/2006/main" noGrp="1"/>
          </p:cNvSpPr>
          <p:nvPr/>
        </p:nvSpPr>
        <p:spPr>
          <a:xfrm xmlns:a="http://schemas.openxmlformats.org/drawingml/2006/main">
            <a:off x="847725" y="2305050"/>
            <a:ext cx="7810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213E39"/>
                </a:solidFill>
                <a:latin typeface="Noto Sans KR"/>
                <a:ea typeface="Noto Sans KR"/>
                <a:cs typeface="Noto Sans KR"/>
              </a:defRPr>
            </a:pPr>
            <a:r>
              <a:rPr sz="4650" b="1">
                <a:solidFill>
                  <a:srgbClr val="213E39"/>
                </a:solidFill>
                <a:latin typeface="Noto Sans KR"/>
                <a:ea typeface="Noto Sans KR"/>
                <a:cs typeface="Noto Sans KR"/>
              </a:rPr>
              <a:t>결심을 정하고</a:t>
            </a:r>
          </a:p>
          <a:p xmlns:a="http://schemas.openxmlformats.org/drawingml/2006/main">
            <a:pPr algn="l">
              <a:defRPr sz="4650" b="1">
                <a:solidFill>
                  <a:srgbClr val="213E39"/>
                </a:solidFill>
                <a:latin typeface="Noto Sans KR"/>
                <a:ea typeface="Noto Sans KR"/>
                <a:cs typeface="Noto Sans KR"/>
              </a:defRPr>
            </a:pPr>
            <a:r>
              <a:rPr sz="4650" b="1">
                <a:solidFill>
                  <a:srgbClr val="213E39"/>
                </a:solidFill>
                <a:latin typeface="Noto Sans KR"/>
                <a:ea typeface="Noto Sans KR"/>
                <a:cs typeface="Noto Sans KR"/>
              </a:rPr>
              <a:t>하루의 기록을 쌓습니다</a:t>
            </a:r>
          </a:p>
        </p:txBody>
      </p:sp>
      <p:sp>
        <p:nvSpPr>
          <p:cNvPr id="5" name="text">
            <a:extLst xmlns:a="http://schemas.openxmlformats.org/drawingml/2006/main">
              <a:ext uri="{FF2B5EF4-FFF2-40B4-BE49-F238E27FC236}">
                <a16:creationId xmlns:a16="http://schemas.microsoft.com/office/drawing/2014/main" id="{8F968399-C2B9-47EA-B692-AFF8B5FB61EF}"/>
              </a:ext>
            </a:extLst>
          </p:cNvPr>
          <p:cNvSpPr>
            <a:spLocks xmlns:a="http://schemas.openxmlformats.org/drawingml/2006/main" noGrp="1"/>
          </p:cNvSpPr>
          <p:nvPr/>
        </p:nvSpPr>
        <p:spPr>
          <a:xfrm xmlns:a="http://schemas.openxmlformats.org/drawingml/2006/main">
            <a:off x="885825" y="4714875"/>
            <a:ext cx="75723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13E39"/>
                </a:solidFill>
                <a:latin typeface="Noto Sans KR"/>
                <a:ea typeface="Noto Sans KR"/>
                <a:cs typeface="Noto Sans KR"/>
              </a:defRPr>
            </a:pPr>
            <a:r>
              <a:rPr sz="2325" b="0">
                <a:solidFill>
                  <a:srgbClr val="213E39"/>
                </a:solidFill>
                <a:latin typeface="Noto Sans KR"/>
                <a:ea typeface="Noto Sans KR"/>
                <a:cs typeface="Noto Sans KR"/>
              </a:rPr>
              <a:t>반복할 요일과 기간을 정한 뒤,</a:t>
            </a:r>
          </a:p>
          <a:p xmlns:a="http://schemas.openxmlformats.org/drawingml/2006/main">
            <a:pPr algn="l">
              <a:defRPr sz="2325" b="0">
                <a:solidFill>
                  <a:srgbClr val="213E39"/>
                </a:solidFill>
                <a:latin typeface="Noto Sans KR"/>
                <a:ea typeface="Noto Sans KR"/>
                <a:cs typeface="Noto Sans KR"/>
              </a:defRPr>
            </a:pPr>
            <a:r>
              <a:rPr sz="2325" b="0">
                <a:solidFill>
                  <a:srgbClr val="213E39"/>
                </a:solidFill>
                <a:latin typeface="Noto Sans KR"/>
                <a:ea typeface="Noto Sans KR"/>
                <a:cs typeface="Noto Sans KR"/>
              </a:rPr>
              <a:t>수행 상태와 메모를 날짜별로 남깁니다.</a:t>
            </a:r>
          </a:p>
          <a:p xmlns:a="http://schemas.openxmlformats.org/drawingml/2006/main">
            <a:pPr algn="l">
              <a:defRPr sz="2325" b="0">
                <a:solidFill>
                  <a:srgbClr val="213E39"/>
                </a:solidFill>
                <a:latin typeface="Noto Sans KR"/>
                <a:ea typeface="Noto Sans KR"/>
                <a:cs typeface="Noto Sans KR"/>
              </a:defRPr>
            </a:pPr>
            <a:r>
              <a:rPr sz="2325" b="0">
                <a:solidFill>
                  <a:srgbClr val="213E39"/>
                </a:solidFill>
                <a:latin typeface="Noto Sans KR"/>
                <a:ea typeface="Noto Sans KR"/>
                <a:cs typeface="Noto Sans KR"/>
              </a:rPr>
              <a:t>쌓인 기록은 달력과 목록에서 돌아봅니다.</a:t>
            </a:r>
          </a:p>
        </p:txBody>
      </p:sp>
      <p:graphicFrame>
        <p:nvGraphicFramePr>
          <p:cNvPr id="12" name=""/>
          <p:cNvGraphicFramePr/>
          <p:nvPr/>
        </p:nvGraphicFramePr>
        <p:xfrm>
          <a:off xmlns:a="http://schemas.openxmlformats.org/drawingml/2006/main" x="9239250" y="2247900"/>
          <a:ext xmlns:a="http://schemas.openxmlformats.org/drawingml/2006/main" cx="5153025" cy="5086350"/>
        </p:xfrm>
        <a:graphic xmlns:a="http://schemas.openxmlformats.org/drawingml/2006/main">
          <a:graphicData uri="http://schemas.openxmlformats.org/drawingml/2006/table">
            <a:tbl>
              <a:tblPr/>
              <a:tblGrid>
                <a:gridCol w="1285875"/>
                <a:gridCol w="3867150"/>
              </a:tblGrid>
              <a:tr h="628650">
                <a:tc>
                  <a:txBody>
                    <a:bodyPr wrap="square">
                      <a:noAutofit/>
                    </a:bodyPr>
                    <a:lstStyle/>
                    <a:p>
                      <a:r>
                        <a:rPr sz="1875" b="1">
                          <a:solidFill>
                            <a:srgbClr val="FFFFFF"/>
                          </a:solidFill>
                          <a:latin typeface="Noto Sans KR"/>
                          <a:ea typeface="Noto Sans KR"/>
                          <a:cs typeface="Noto Sans KR"/>
                        </a:rPr>
                        <a:t>항목</a:t>
                      </a:r>
                    </a:p>
                  </a:txBody>
                  <a:tcPr marL="123825" marR="123825" marT="95250" marB="76200">
                    <a:solidFill>
                      <a:srgbClr val="2D6556"/>
                    </a:solidFill>
                  </a:tcPr>
                </a:tc>
                <a:tc>
                  <a:txBody>
                    <a:bodyPr wrap="square">
                      <a:noAutofit/>
                    </a:bodyPr>
                    <a:lstStyle/>
                    <a:p>
                      <a:r>
                        <a:rPr sz="1875" b="1">
                          <a:solidFill>
                            <a:srgbClr val="FFFFFF"/>
                          </a:solidFill>
                          <a:latin typeface="Noto Sans KR"/>
                          <a:ea typeface="Noto Sans KR"/>
                          <a:cs typeface="Noto Sans KR"/>
                        </a:rPr>
                        <a:t>프로젝트 범위</a:t>
                      </a:r>
                    </a:p>
                  </a:txBody>
                  <a:tcPr marL="123825" marR="123825" marT="95250" marB="76200">
                    <a:solidFill>
                      <a:srgbClr val="2D6556"/>
                    </a:solidFill>
                  </a:tcPr>
                </a:tc>
              </a:tr>
              <a:tr h="800100">
                <a:tc>
                  <a:txBody>
                    <a:bodyPr wrap="square">
                      <a:noAutofit/>
                    </a:bodyPr>
                    <a:lstStyle/>
                    <a:p>
                      <a:r>
                        <a:rPr sz="1875" b="0">
                          <a:solidFill>
                            <a:srgbClr val="213E39"/>
                          </a:solidFill>
                          <a:latin typeface="Noto Sans KR"/>
                          <a:ea typeface="Noto Sans KR"/>
                          <a:cs typeface="Noto Sans KR"/>
                        </a:rPr>
                        <a:t>형태</a:t>
                      </a:r>
                    </a:p>
                  </a:txBody>
                  <a:tcPr marL="123825" marR="123825" marT="95250" marB="76200">
                    <a:solidFill>
                      <a:srgbClr val="FFFFFF"/>
                    </a:solidFill>
                  </a:tcPr>
                </a:tc>
                <a:tc>
                  <a:txBody>
                    <a:bodyPr wrap="square">
                      <a:noAutofit/>
                    </a:bodyPr>
                    <a:lstStyle/>
                    <a:p>
                      <a:r>
                        <a:rPr sz="1875" b="0">
                          <a:solidFill>
                            <a:srgbClr val="213E39"/>
                          </a:solidFill>
                          <a:latin typeface="Noto Sans KR"/>
                          <a:ea typeface="Noto Sans KR"/>
                          <a:cs typeface="Noto Sans KR"/>
                        </a:rPr>
                        <a:t>개인 결심 / 실천 일지</a:t>
                      </a:r>
                    </a:p>
                  </a:txBody>
                  <a:tcPr marL="123825" marR="123825" marT="95250" marB="76200">
                    <a:solidFill>
                      <a:srgbClr val="FFFFFF"/>
                    </a:solidFill>
                  </a:tcPr>
                </a:tc>
              </a:tr>
              <a:tr h="914400">
                <a:tc>
                  <a:txBody>
                    <a:bodyPr wrap="square">
                      <a:noAutofit/>
                    </a:bodyPr>
                    <a:lstStyle/>
                    <a:p>
                      <a:r>
                        <a:rPr sz="1875" b="0">
                          <a:solidFill>
                            <a:srgbClr val="213E39"/>
                          </a:solidFill>
                          <a:latin typeface="Noto Sans KR"/>
                          <a:ea typeface="Noto Sans KR"/>
                          <a:cs typeface="Noto Sans KR"/>
                        </a:rPr>
                        <a:t>화면</a:t>
                      </a:r>
                    </a:p>
                  </a:txBody>
                  <a:tcPr marL="123825" marR="123825" marT="95250" marB="76200">
                    <a:solidFill>
                      <a:srgbClr val="F0F4ED"/>
                    </a:solidFill>
                  </a:tcPr>
                </a:tc>
                <a:tc>
                  <a:txBody>
                    <a:bodyPr wrap="square">
                      <a:noAutofit/>
                    </a:bodyPr>
                    <a:lstStyle/>
                    <a:p>
                      <a:r>
                        <a:rPr sz="1875" b="0">
                          <a:solidFill>
                            <a:srgbClr val="213E39"/>
                          </a:solidFill>
                          <a:latin typeface="Noto Sans KR"/>
                          <a:ea typeface="Noto Sans KR"/>
                          <a:cs typeface="Noto Sans KR"/>
                        </a:rPr>
                        <a:t>7개 페이지와 일지 입력 컴포넌트</a:t>
                      </a:r>
                    </a:p>
                  </a:txBody>
                  <a:tcPr marL="123825" marR="123825" marT="95250" marB="76200">
                    <a:solidFill>
                      <a:srgbClr val="F0F4ED"/>
                    </a:solidFill>
                  </a:tcPr>
                </a:tc>
              </a:tr>
              <a:tr h="914400">
                <a:tc>
                  <a:txBody>
                    <a:bodyPr wrap="square">
                      <a:noAutofit/>
                    </a:bodyPr>
                    <a:lstStyle/>
                    <a:p>
                      <a:r>
                        <a:rPr sz="1875" b="0">
                          <a:solidFill>
                            <a:srgbClr val="213E39"/>
                          </a:solidFill>
                          <a:latin typeface="Noto Sans KR"/>
                          <a:ea typeface="Noto Sans KR"/>
                          <a:cs typeface="Noto Sans KR"/>
                        </a:rPr>
                        <a:t>서버</a:t>
                      </a:r>
                    </a:p>
                  </a:txBody>
                  <a:tcPr marL="123825" marR="123825" marT="95250" marB="76200">
                    <a:solidFill>
                      <a:srgbClr val="FFFFFF"/>
                    </a:solidFill>
                  </a:tcPr>
                </a:tc>
                <a:tc>
                  <a:txBody>
                    <a:bodyPr wrap="square">
                      <a:noAutofit/>
                    </a:bodyPr>
                    <a:lstStyle/>
                    <a:p>
                      <a:r>
                        <a:rPr sz="1875" b="0">
                          <a:solidFill>
                            <a:srgbClr val="213E39"/>
                          </a:solidFill>
                          <a:latin typeface="Noto Sans KR"/>
                          <a:ea typeface="Noto Sans KR"/>
                          <a:cs typeface="Noto Sans KR"/>
                        </a:rPr>
                        <a:t>인증, 결심과 일지 REST API</a:t>
                      </a:r>
                    </a:p>
                  </a:txBody>
                  <a:tcPr marL="123825" marR="123825" marT="95250" marB="76200">
                    <a:solidFill>
                      <a:srgbClr val="FFFFFF"/>
                    </a:solidFill>
                  </a:tcPr>
                </a:tc>
              </a:tr>
              <a:tr h="914400">
                <a:tc>
                  <a:txBody>
                    <a:bodyPr wrap="square">
                      <a:noAutofit/>
                    </a:bodyPr>
                    <a:lstStyle/>
                    <a:p>
                      <a:r>
                        <a:rPr sz="1875" b="0">
                          <a:solidFill>
                            <a:srgbClr val="213E39"/>
                          </a:solidFill>
                          <a:latin typeface="Noto Sans KR"/>
                          <a:ea typeface="Noto Sans KR"/>
                          <a:cs typeface="Noto Sans KR"/>
                        </a:rPr>
                        <a:t>데이터</a:t>
                      </a:r>
                    </a:p>
                  </a:txBody>
                  <a:tcPr marL="123825" marR="123825" marT="95250" marB="76200">
                    <a:solidFill>
                      <a:srgbClr val="F0F4ED"/>
                    </a:solidFill>
                  </a:tcPr>
                </a:tc>
                <a:tc>
                  <a:txBody>
                    <a:bodyPr wrap="square">
                      <a:noAutofit/>
                    </a:bodyPr>
                    <a:lstStyle/>
                    <a:p>
                      <a:r>
                        <a:rPr sz="1875" b="0">
                          <a:solidFill>
                            <a:srgbClr val="213E39"/>
                          </a:solidFill>
                          <a:latin typeface="Noto Sans KR"/>
                          <a:ea typeface="Noto Sans KR"/>
                          <a:cs typeface="Noto Sans KR"/>
                        </a:rPr>
                        <a:t>PostgreSQL 대상 스키마와 JPA</a:t>
                      </a:r>
                    </a:p>
                  </a:txBody>
                  <a:tcPr marL="123825" marR="123825" marT="95250" marB="76200">
                    <a:solidFill>
                      <a:srgbClr val="F0F4ED"/>
                    </a:solidFill>
                  </a:tcPr>
                </a:tc>
              </a:tr>
              <a:tr h="914400">
                <a:tc>
                  <a:txBody>
                    <a:bodyPr wrap="square">
                      <a:noAutofit/>
                    </a:bodyPr>
                    <a:lstStyle/>
                    <a:p>
                      <a:r>
                        <a:rPr sz="1875" b="0">
                          <a:solidFill>
                            <a:srgbClr val="213E39"/>
                          </a:solidFill>
                          <a:latin typeface="Noto Sans KR"/>
                          <a:ea typeface="Noto Sans KR"/>
                          <a:cs typeface="Noto Sans KR"/>
                        </a:rPr>
                        <a:t>실행</a:t>
                      </a:r>
                    </a:p>
                  </a:txBody>
                  <a:tcPr marL="123825" marR="123825" marT="95250" marB="76200">
                    <a:solidFill>
                      <a:srgbClr val="FFFFFF"/>
                    </a:solidFill>
                  </a:tcPr>
                </a:tc>
                <a:tc>
                  <a:txBody>
                    <a:bodyPr wrap="square">
                      <a:noAutofit/>
                    </a:bodyPr>
                    <a:lstStyle/>
                    <a:p>
                      <a:r>
                        <a:rPr sz="1875" b="0">
                          <a:solidFill>
                            <a:srgbClr val="213E39"/>
                          </a:solidFill>
                          <a:latin typeface="Noto Sans KR"/>
                          <a:ea typeface="Noto Sans KR"/>
                          <a:cs typeface="Noto Sans KR"/>
                        </a:rPr>
                        <a:t>IntelliJ 개발 및 Docker 구성</a:t>
                      </a:r>
                    </a:p>
                  </a:txBody>
                  <a:tcPr marL="123825" marR="123825" marT="95250" marB="76200">
                    <a:solidFill>
                      <a:srgbClr val="FFFFFF"/>
                    </a:solidFill>
                  </a:tcPr>
                </a:tc>
              </a:tr>
            </a:tbl>
          </a:graphicData>
        </a:graphic>
      </p:graphicFrame>
    </p:spTree>
    <p:extLst>
      <p:ext uri="{BB962C8B-B14F-4D97-AF65-F5344CB8AC3E}">
        <p14:creationId xmlns:p14="http://schemas.microsoft.com/office/powerpoint/2010/main" val="1648793029"/>
      </p:ext>
    </p:extLst>
  </p:cSld>
</p:sld>
</file>

<file path=ppt/slides/slide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7A39B47F-0D32-425C-9AC5-A3B117E55F71}"/>
              </a:ext>
            </a:extLst>
          </p:cNvPr>
          <p:cNvSpPr>
            <a:spLocks xmlns:a="http://schemas.openxmlformats.org/drawingml/2006/main" noGrp="1"/>
          </p:cNvSpPr>
          <p:nvPr/>
        </p:nvSpPr>
        <p:spPr>
          <a:xfrm xmlns:a="http://schemas.openxmlformats.org/drawingml/2006/main">
            <a:off x="838200" y="514350"/>
            <a:ext cx="1356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13E39"/>
                </a:solidFill>
                <a:latin typeface="Noto Sans KR"/>
                <a:ea typeface="Noto Sans KR"/>
                <a:cs typeface="Noto Sans KR"/>
              </a:defRPr>
            </a:pPr>
            <a:r>
              <a:rPr sz="3600" b="1">
                <a:solidFill>
                  <a:srgbClr val="213E39"/>
                </a:solidFill>
                <a:latin typeface="Noto Sans KR"/>
                <a:ea typeface="Noto Sans KR"/>
                <a:cs typeface="Noto Sans KR"/>
              </a:rPr>
              <a:t>오늘의 실천 현황</a:t>
            </a:r>
          </a:p>
        </p:txBody>
      </p:sp>
      <p:sp>
        <p:nvSpPr>
          <p:cNvPr id="2" name="subtitle">
            <a:extLst xmlns:a="http://schemas.openxmlformats.org/drawingml/2006/main">
              <a:ext uri="{FF2B5EF4-FFF2-40B4-BE49-F238E27FC236}">
                <a16:creationId xmlns:a16="http://schemas.microsoft.com/office/drawing/2014/main" id="{1696A51A-0CFC-4AB1-8FD7-C21C26C564AF}"/>
              </a:ext>
            </a:extLst>
          </p:cNvPr>
          <p:cNvSpPr>
            <a:spLocks xmlns:a="http://schemas.openxmlformats.org/drawingml/2006/main" noGrp="1"/>
          </p:cNvSpPr>
          <p:nvPr/>
        </p:nvSpPr>
        <p:spPr>
          <a:xfrm xmlns:a="http://schemas.openxmlformats.org/drawingml/2006/main">
            <a:off x="857250" y="1304925"/>
            <a:ext cx="1352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66F"/>
                </a:solidFill>
                <a:latin typeface="Noto Sans KR"/>
                <a:ea typeface="Noto Sans KR"/>
                <a:cs typeface="Noto Sans KR"/>
              </a:defRPr>
            </a:pPr>
            <a:r>
              <a:rPr sz="1725" b="0">
                <a:solidFill>
                  <a:srgbClr val="66766F"/>
                </a:solidFill>
                <a:latin typeface="Noto Sans KR"/>
                <a:ea typeface="Noto Sans KR"/>
                <a:cs typeface="Noto Sans KR"/>
              </a:rPr>
              <a:t>선택한 날의 결심과 기록을 한 화면에서 확인</a:t>
            </a:r>
          </a:p>
        </p:txBody>
      </p:sp>
      <p:sp>
        <p:nvSpPr>
          <p:cNvPr id="3" name="page-number">
            <a:extLst xmlns:a="http://schemas.openxmlformats.org/drawingml/2006/main">
              <a:ext uri="{FF2B5EF4-FFF2-40B4-BE49-F238E27FC236}">
                <a16:creationId xmlns:a16="http://schemas.microsoft.com/office/drawing/2014/main" id="{A0BEB171-1E4F-4920-ACEC-2AE697C9CC95}"/>
              </a:ext>
            </a:extLst>
          </p:cNvPr>
          <p:cNvSpPr>
            <a:spLocks xmlns:a="http://schemas.openxmlformats.org/drawingml/2006/main" noGrp="1"/>
          </p:cNvSpPr>
          <p:nvPr/>
        </p:nvSpPr>
        <p:spPr>
          <a:xfrm xmlns:a="http://schemas.openxmlformats.org/drawingml/2006/main">
            <a:off x="13811250" y="81248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66F"/>
                </a:solidFill>
                <a:latin typeface="Noto Sans KR"/>
                <a:ea typeface="Noto Sans KR"/>
                <a:cs typeface="Noto Sans KR"/>
              </a:defRPr>
            </a:pPr>
            <a:r>
              <a:rPr sz="1350" b="0">
                <a:solidFill>
                  <a:srgbClr val="66766F"/>
                </a:solidFill>
                <a:latin typeface="Noto Sans KR"/>
                <a:ea typeface="Noto Sans KR"/>
                <a:cs typeface="Noto Sans KR"/>
              </a:rPr>
              <a:t>03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091224c7a754aaa"/>
          <a:stretch xmlns:a="http://schemas.openxmlformats.org/drawingml/2006/main"/>
        </p:blipFill>
        <p:spPr>
          <a:xfrm xmlns:a="http://schemas.openxmlformats.org/drawingml/2006/main">
            <a:off x="1860096" y="1895475"/>
            <a:ext cx="7690757" cy="5981700"/>
          </a:xfrm>
          <a:prstGeom xmlns:a="http://schemas.openxmlformats.org/drawingml/2006/main" prst="rect">
            <a:avLst/>
          </a:prstGeom>
        </p:spPr>
      </p:pic>
      <p:sp>
        <p:nvSpPr>
          <p:cNvPr id="5" name="text">
            <a:extLst xmlns:a="http://schemas.openxmlformats.org/drawingml/2006/main">
              <a:ext uri="{FF2B5EF4-FFF2-40B4-BE49-F238E27FC236}">
                <a16:creationId xmlns:a16="http://schemas.microsoft.com/office/drawing/2014/main" id="{F3756B74-0551-4318-B07A-14917F585676}"/>
              </a:ext>
            </a:extLst>
          </p:cNvPr>
          <p:cNvSpPr>
            <a:spLocks xmlns:a="http://schemas.openxmlformats.org/drawingml/2006/main" noGrp="1"/>
          </p:cNvSpPr>
          <p:nvPr/>
        </p:nvSpPr>
        <p:spPr>
          <a:xfrm xmlns:a="http://schemas.openxmlformats.org/drawingml/2006/main">
            <a:off x="11029950" y="2133600"/>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D6556"/>
                </a:solidFill>
                <a:latin typeface="Noto Sans KR"/>
                <a:ea typeface="Noto Sans KR"/>
                <a:cs typeface="Noto Sans KR"/>
              </a:defRPr>
            </a:pPr>
            <a:r>
              <a:rPr sz="2250" b="1">
                <a:solidFill>
                  <a:srgbClr val="2D6556"/>
                </a:solidFill>
                <a:latin typeface="Noto Sans KR"/>
                <a:ea typeface="Noto Sans KR"/>
                <a:cs typeface="Noto Sans KR"/>
              </a:rPr>
              <a:t>날짜별 결심</a:t>
            </a:r>
          </a:p>
        </p:txBody>
      </p:sp>
      <p:sp>
        <p:nvSpPr>
          <p:cNvPr id="6" name="text">
            <a:extLst xmlns:a="http://schemas.openxmlformats.org/drawingml/2006/main">
              <a:ext uri="{FF2B5EF4-FFF2-40B4-BE49-F238E27FC236}">
                <a16:creationId xmlns:a16="http://schemas.microsoft.com/office/drawing/2014/main" id="{8D6B5264-0C0E-4CF0-8300-80EC3357FD69}"/>
              </a:ext>
            </a:extLst>
          </p:cNvPr>
          <p:cNvSpPr>
            <a:spLocks xmlns:a="http://schemas.openxmlformats.org/drawingml/2006/main" noGrp="1"/>
          </p:cNvSpPr>
          <p:nvPr/>
        </p:nvSpPr>
        <p:spPr>
          <a:xfrm xmlns:a="http://schemas.openxmlformats.org/drawingml/2006/main">
            <a:off x="11029950" y="2619375"/>
            <a:ext cx="3381375"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13E39"/>
                </a:solidFill>
                <a:latin typeface="Noto Sans KR"/>
                <a:ea typeface="Noto Sans KR"/>
                <a:cs typeface="Noto Sans KR"/>
              </a:defRPr>
            </a:pPr>
            <a:r>
              <a:rPr sz="1875" b="0">
                <a:solidFill>
                  <a:srgbClr val="213E39"/>
                </a:solidFill>
                <a:latin typeface="Noto Sans KR"/>
                <a:ea typeface="Noto Sans KR"/>
                <a:cs typeface="Noto Sans KR"/>
              </a:rPr>
              <a:t>반복 일정과 기존 기록을 기준으로 그날의 대상을 보여줍니다.</a:t>
            </a:r>
          </a:p>
        </p:txBody>
      </p:sp>
      <p:sp>
        <p:nvSpPr>
          <p:cNvPr id="7" name="text">
            <a:extLst xmlns:a="http://schemas.openxmlformats.org/drawingml/2006/main">
              <a:ext uri="{FF2B5EF4-FFF2-40B4-BE49-F238E27FC236}">
                <a16:creationId xmlns:a16="http://schemas.microsoft.com/office/drawing/2014/main" id="{7275C33F-8C27-4B50-BA44-A53DFBA1EFB4}"/>
              </a:ext>
            </a:extLst>
          </p:cNvPr>
          <p:cNvSpPr>
            <a:spLocks xmlns:a="http://schemas.openxmlformats.org/drawingml/2006/main" noGrp="1"/>
          </p:cNvSpPr>
          <p:nvPr/>
        </p:nvSpPr>
        <p:spPr>
          <a:xfrm xmlns:a="http://schemas.openxmlformats.org/drawingml/2006/main">
            <a:off x="11029950" y="3886200"/>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D6556"/>
                </a:solidFill>
                <a:latin typeface="Noto Sans KR"/>
                <a:ea typeface="Noto Sans KR"/>
                <a:cs typeface="Noto Sans KR"/>
              </a:defRPr>
            </a:pPr>
            <a:r>
              <a:rPr sz="2250" b="1">
                <a:solidFill>
                  <a:srgbClr val="2D6556"/>
                </a:solidFill>
                <a:latin typeface="Noto Sans KR"/>
                <a:ea typeface="Noto Sans KR"/>
                <a:cs typeface="Noto Sans KR"/>
              </a:rPr>
              <a:t>수행 현황</a:t>
            </a:r>
          </a:p>
        </p:txBody>
      </p:sp>
      <p:sp>
        <p:nvSpPr>
          <p:cNvPr id="8" name="text">
            <a:extLst xmlns:a="http://schemas.openxmlformats.org/drawingml/2006/main">
              <a:ext uri="{FF2B5EF4-FFF2-40B4-BE49-F238E27FC236}">
                <a16:creationId xmlns:a16="http://schemas.microsoft.com/office/drawing/2014/main" id="{61805910-48A3-4084-98B9-BCA9500C3A2B}"/>
              </a:ext>
            </a:extLst>
          </p:cNvPr>
          <p:cNvSpPr>
            <a:spLocks xmlns:a="http://schemas.openxmlformats.org/drawingml/2006/main" noGrp="1"/>
          </p:cNvSpPr>
          <p:nvPr/>
        </p:nvSpPr>
        <p:spPr>
          <a:xfrm xmlns:a="http://schemas.openxmlformats.org/drawingml/2006/main">
            <a:off x="11029950" y="4371975"/>
            <a:ext cx="3381375"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13E39"/>
                </a:solidFill>
                <a:latin typeface="Noto Sans KR"/>
                <a:ea typeface="Noto Sans KR"/>
                <a:cs typeface="Noto Sans KR"/>
              </a:defRPr>
            </a:pPr>
            <a:r>
              <a:rPr sz="1875" b="0">
                <a:solidFill>
                  <a:srgbClr val="213E39"/>
                </a:solidFill>
                <a:latin typeface="Noto Sans KR"/>
                <a:ea typeface="Noto Sans KR"/>
                <a:cs typeface="Noto Sans KR"/>
              </a:rPr>
              <a:t>완료 비율과 실천 시간을 확인합니다.</a:t>
            </a:r>
          </a:p>
        </p:txBody>
      </p:sp>
      <p:sp>
        <p:nvSpPr>
          <p:cNvPr id="9" name="text">
            <a:extLst xmlns:a="http://schemas.openxmlformats.org/drawingml/2006/main">
              <a:ext uri="{FF2B5EF4-FFF2-40B4-BE49-F238E27FC236}">
                <a16:creationId xmlns:a16="http://schemas.microsoft.com/office/drawing/2014/main" id="{A49840D4-F590-4821-A23C-08EB8B541357}"/>
              </a:ext>
            </a:extLst>
          </p:cNvPr>
          <p:cNvSpPr>
            <a:spLocks xmlns:a="http://schemas.openxmlformats.org/drawingml/2006/main" noGrp="1"/>
          </p:cNvSpPr>
          <p:nvPr/>
        </p:nvSpPr>
        <p:spPr>
          <a:xfrm xmlns:a="http://schemas.openxmlformats.org/drawingml/2006/main">
            <a:off x="11029950" y="5638800"/>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D6556"/>
                </a:solidFill>
                <a:latin typeface="Noto Sans KR"/>
                <a:ea typeface="Noto Sans KR"/>
                <a:cs typeface="Noto Sans KR"/>
              </a:defRPr>
            </a:pPr>
            <a:r>
              <a:rPr sz="2250" b="1">
                <a:solidFill>
                  <a:srgbClr val="2D6556"/>
                </a:solidFill>
                <a:latin typeface="Noto Sans KR"/>
                <a:ea typeface="Noto Sans KR"/>
                <a:cs typeface="Noto Sans KR"/>
              </a:rPr>
              <a:t>일지 작성</a:t>
            </a:r>
          </a:p>
        </p:txBody>
      </p:sp>
      <p:sp>
        <p:nvSpPr>
          <p:cNvPr id="10" name="text">
            <a:extLst xmlns:a="http://schemas.openxmlformats.org/drawingml/2006/main">
              <a:ext uri="{FF2B5EF4-FFF2-40B4-BE49-F238E27FC236}">
                <a16:creationId xmlns:a16="http://schemas.microsoft.com/office/drawing/2014/main" id="{3B7C3C50-273F-4022-9612-4D8280E973F2}"/>
              </a:ext>
            </a:extLst>
          </p:cNvPr>
          <p:cNvSpPr>
            <a:spLocks xmlns:a="http://schemas.openxmlformats.org/drawingml/2006/main" noGrp="1"/>
          </p:cNvSpPr>
          <p:nvPr/>
        </p:nvSpPr>
        <p:spPr>
          <a:xfrm xmlns:a="http://schemas.openxmlformats.org/drawingml/2006/main">
            <a:off x="11029950" y="6124575"/>
            <a:ext cx="3381375"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13E39"/>
                </a:solidFill>
                <a:latin typeface="Noto Sans KR"/>
                <a:ea typeface="Noto Sans KR"/>
                <a:cs typeface="Noto Sans KR"/>
              </a:defRPr>
            </a:pPr>
            <a:r>
              <a:rPr sz="1875" b="0">
                <a:solidFill>
                  <a:srgbClr val="213E39"/>
                </a:solidFill>
                <a:latin typeface="Noto Sans KR"/>
                <a:ea typeface="Noto Sans KR"/>
                <a:cs typeface="Noto Sans KR"/>
              </a:rPr>
              <a:t>기록하기 버튼에서 메모와 수행 상태를 남깁니다.</a:t>
            </a:r>
          </a:p>
        </p:txBody>
      </p:sp>
    </p:spTree>
    <p:extLst>
      <p:ext uri="{BB962C8B-B14F-4D97-AF65-F5344CB8AC3E}">
        <p14:creationId xmlns:p14="http://schemas.microsoft.com/office/powerpoint/2010/main" val="886238145"/>
      </p:ext>
    </p:extLst>
  </p:cSld>
</p:sld>
</file>

<file path=ppt/slides/slide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844E1814-9EEC-4802-ACF4-1423F3F6956E}"/>
              </a:ext>
            </a:extLst>
          </p:cNvPr>
          <p:cNvSpPr>
            <a:spLocks xmlns:a="http://schemas.openxmlformats.org/drawingml/2006/main" noGrp="1"/>
          </p:cNvSpPr>
          <p:nvPr/>
        </p:nvSpPr>
        <p:spPr>
          <a:xfrm xmlns:a="http://schemas.openxmlformats.org/drawingml/2006/main">
            <a:off x="838200" y="514350"/>
            <a:ext cx="1356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13E39"/>
                </a:solidFill>
                <a:latin typeface="Noto Sans KR"/>
                <a:ea typeface="Noto Sans KR"/>
                <a:cs typeface="Noto Sans KR"/>
              </a:defRPr>
            </a:pPr>
            <a:r>
              <a:rPr sz="3600" b="1">
                <a:solidFill>
                  <a:srgbClr val="213E39"/>
                </a:solidFill>
                <a:latin typeface="Noto Sans KR"/>
                <a:ea typeface="Noto Sans KR"/>
                <a:cs typeface="Noto Sans KR"/>
              </a:rPr>
              <a:t>결심 관리</a:t>
            </a:r>
          </a:p>
        </p:txBody>
      </p:sp>
      <p:sp>
        <p:nvSpPr>
          <p:cNvPr id="2" name="subtitle">
            <a:extLst xmlns:a="http://schemas.openxmlformats.org/drawingml/2006/main">
              <a:ext uri="{FF2B5EF4-FFF2-40B4-BE49-F238E27FC236}">
                <a16:creationId xmlns:a16="http://schemas.microsoft.com/office/drawing/2014/main" id="{314FF8DD-F79C-412B-81B7-60682805DA6E}"/>
              </a:ext>
            </a:extLst>
          </p:cNvPr>
          <p:cNvSpPr>
            <a:spLocks xmlns:a="http://schemas.openxmlformats.org/drawingml/2006/main" noGrp="1"/>
          </p:cNvSpPr>
          <p:nvPr/>
        </p:nvSpPr>
        <p:spPr>
          <a:xfrm xmlns:a="http://schemas.openxmlformats.org/drawingml/2006/main">
            <a:off x="857250" y="1304925"/>
            <a:ext cx="1352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66F"/>
                </a:solidFill>
                <a:latin typeface="Noto Sans KR"/>
                <a:ea typeface="Noto Sans KR"/>
                <a:cs typeface="Noto Sans KR"/>
              </a:defRPr>
            </a:pPr>
            <a:r>
              <a:rPr sz="1725" b="0">
                <a:solidFill>
                  <a:srgbClr val="66766F"/>
                </a:solidFill>
                <a:latin typeface="Noto Sans KR"/>
                <a:ea typeface="Noto Sans KR"/>
                <a:cs typeface="Noto Sans KR"/>
              </a:rPr>
              <a:t>기간과 반복 요일을 정하고 필요할 때 조정</a:t>
            </a:r>
          </a:p>
        </p:txBody>
      </p:sp>
      <p:sp>
        <p:nvSpPr>
          <p:cNvPr id="3" name="page-number">
            <a:extLst xmlns:a="http://schemas.openxmlformats.org/drawingml/2006/main">
              <a:ext uri="{FF2B5EF4-FFF2-40B4-BE49-F238E27FC236}">
                <a16:creationId xmlns:a16="http://schemas.microsoft.com/office/drawing/2014/main" id="{9CD42E4B-79A0-4FEB-8804-EEAE3857B5F9}"/>
              </a:ext>
            </a:extLst>
          </p:cNvPr>
          <p:cNvSpPr>
            <a:spLocks xmlns:a="http://schemas.openxmlformats.org/drawingml/2006/main" noGrp="1"/>
          </p:cNvSpPr>
          <p:nvPr/>
        </p:nvSpPr>
        <p:spPr>
          <a:xfrm xmlns:a="http://schemas.openxmlformats.org/drawingml/2006/main">
            <a:off x="13811250" y="81248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66F"/>
                </a:solidFill>
                <a:latin typeface="Noto Sans KR"/>
                <a:ea typeface="Noto Sans KR"/>
                <a:cs typeface="Noto Sans KR"/>
              </a:defRPr>
            </a:pPr>
            <a:r>
              <a:rPr sz="1350" b="0">
                <a:solidFill>
                  <a:srgbClr val="66766F"/>
                </a:solidFill>
                <a:latin typeface="Noto Sans KR"/>
                <a:ea typeface="Noto Sans KR"/>
                <a:cs typeface="Noto Sans KR"/>
              </a:rPr>
              <a:t>04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c015c835dbc40c0"/>
          <a:stretch xmlns:a="http://schemas.openxmlformats.org/drawingml/2006/main"/>
        </p:blipFill>
        <p:spPr>
          <a:xfrm xmlns:a="http://schemas.openxmlformats.org/drawingml/2006/main">
            <a:off x="2577832" y="1990725"/>
            <a:ext cx="6407686" cy="5372100"/>
          </a:xfrm>
          <a:prstGeom xmlns:a="http://schemas.openxmlformats.org/drawingml/2006/main" prst="rect">
            <a:avLst/>
          </a:prstGeom>
        </p:spPr>
      </p:pic>
      <p:sp>
        <p:nvSpPr>
          <p:cNvPr id="5" name="text">
            <a:extLst xmlns:a="http://schemas.openxmlformats.org/drawingml/2006/main">
              <a:ext uri="{FF2B5EF4-FFF2-40B4-BE49-F238E27FC236}">
                <a16:creationId xmlns:a16="http://schemas.microsoft.com/office/drawing/2014/main" id="{CD761232-145E-4620-AEFA-C9085B10121D}"/>
              </a:ext>
            </a:extLst>
          </p:cNvPr>
          <p:cNvSpPr>
            <a:spLocks xmlns:a="http://schemas.openxmlformats.org/drawingml/2006/main" noGrp="1"/>
          </p:cNvSpPr>
          <p:nvPr/>
        </p:nvSpPr>
        <p:spPr>
          <a:xfrm xmlns:a="http://schemas.openxmlformats.org/drawingml/2006/main">
            <a:off x="11125200" y="2200275"/>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D6556"/>
                </a:solidFill>
                <a:latin typeface="Noto Sans KR"/>
                <a:ea typeface="Noto Sans KR"/>
                <a:cs typeface="Noto Sans KR"/>
              </a:defRPr>
            </a:pPr>
            <a:r>
              <a:rPr sz="2250" b="1">
                <a:solidFill>
                  <a:srgbClr val="2D6556"/>
                </a:solidFill>
                <a:latin typeface="Noto Sans KR"/>
                <a:ea typeface="Noto Sans KR"/>
                <a:cs typeface="Noto Sans KR"/>
              </a:rPr>
              <a:t>반복 일정</a:t>
            </a:r>
          </a:p>
        </p:txBody>
      </p:sp>
      <p:sp>
        <p:nvSpPr>
          <p:cNvPr id="6" name="text">
            <a:extLst xmlns:a="http://schemas.openxmlformats.org/drawingml/2006/main">
              <a:ext uri="{FF2B5EF4-FFF2-40B4-BE49-F238E27FC236}">
                <a16:creationId xmlns:a16="http://schemas.microsoft.com/office/drawing/2014/main" id="{C018B01B-C6AC-4B4E-A4DC-BCC5C0C1E7A3}"/>
              </a:ext>
            </a:extLst>
          </p:cNvPr>
          <p:cNvSpPr>
            <a:spLocks xmlns:a="http://schemas.openxmlformats.org/drawingml/2006/main" noGrp="1"/>
          </p:cNvSpPr>
          <p:nvPr/>
        </p:nvSpPr>
        <p:spPr>
          <a:xfrm xmlns:a="http://schemas.openxmlformats.org/drawingml/2006/main">
            <a:off x="11125200" y="2686050"/>
            <a:ext cx="333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13E39"/>
                </a:solidFill>
                <a:latin typeface="Noto Sans KR"/>
                <a:ea typeface="Noto Sans KR"/>
                <a:cs typeface="Noto Sans KR"/>
              </a:defRPr>
            </a:pPr>
            <a:r>
              <a:rPr sz="1875" b="0">
                <a:solidFill>
                  <a:srgbClr val="213E39"/>
                </a:solidFill>
                <a:latin typeface="Noto Sans KR"/>
                <a:ea typeface="Noto Sans KR"/>
                <a:cs typeface="Noto Sans KR"/>
              </a:rPr>
              <a:t>기간과 요일로 실천 계획을 정합니다.</a:t>
            </a:r>
          </a:p>
        </p:txBody>
      </p:sp>
      <p:sp>
        <p:nvSpPr>
          <p:cNvPr id="7" name="text">
            <a:extLst xmlns:a="http://schemas.openxmlformats.org/drawingml/2006/main">
              <a:ext uri="{FF2B5EF4-FFF2-40B4-BE49-F238E27FC236}">
                <a16:creationId xmlns:a16="http://schemas.microsoft.com/office/drawing/2014/main" id="{9CCB2565-F42E-4A87-A70A-F129E78339B0}"/>
              </a:ext>
            </a:extLst>
          </p:cNvPr>
          <p:cNvSpPr>
            <a:spLocks xmlns:a="http://schemas.openxmlformats.org/drawingml/2006/main" noGrp="1"/>
          </p:cNvSpPr>
          <p:nvPr/>
        </p:nvSpPr>
        <p:spPr>
          <a:xfrm xmlns:a="http://schemas.openxmlformats.org/drawingml/2006/main">
            <a:off x="11125200" y="388620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D6556"/>
                </a:solidFill>
                <a:latin typeface="Noto Sans KR"/>
                <a:ea typeface="Noto Sans KR"/>
                <a:cs typeface="Noto Sans KR"/>
              </a:defRPr>
            </a:pPr>
            <a:r>
              <a:rPr sz="2250" b="1">
                <a:solidFill>
                  <a:srgbClr val="2D6556"/>
                </a:solidFill>
                <a:latin typeface="Noto Sans KR"/>
                <a:ea typeface="Noto Sans KR"/>
                <a:cs typeface="Noto Sans KR"/>
              </a:rPr>
              <a:t>영역별 관리</a:t>
            </a:r>
          </a:p>
        </p:txBody>
      </p:sp>
      <p:sp>
        <p:nvSpPr>
          <p:cNvPr id="8" name="text">
            <a:extLst xmlns:a="http://schemas.openxmlformats.org/drawingml/2006/main">
              <a:ext uri="{FF2B5EF4-FFF2-40B4-BE49-F238E27FC236}">
                <a16:creationId xmlns:a16="http://schemas.microsoft.com/office/drawing/2014/main" id="{826A4D07-6435-4B69-8CA3-85EDE7E06E59}"/>
              </a:ext>
            </a:extLst>
          </p:cNvPr>
          <p:cNvSpPr>
            <a:spLocks xmlns:a="http://schemas.openxmlformats.org/drawingml/2006/main" noGrp="1"/>
          </p:cNvSpPr>
          <p:nvPr/>
        </p:nvSpPr>
        <p:spPr>
          <a:xfrm xmlns:a="http://schemas.openxmlformats.org/drawingml/2006/main">
            <a:off x="11125200" y="4371975"/>
            <a:ext cx="333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13E39"/>
                </a:solidFill>
                <a:latin typeface="Noto Sans KR"/>
                <a:ea typeface="Noto Sans KR"/>
                <a:cs typeface="Noto Sans KR"/>
              </a:defRPr>
            </a:pPr>
            <a:r>
              <a:rPr sz="1875" b="0">
                <a:solidFill>
                  <a:srgbClr val="213E39"/>
                </a:solidFill>
                <a:latin typeface="Noto Sans KR"/>
                <a:ea typeface="Noto Sans KR"/>
                <a:cs typeface="Noto Sans KR"/>
              </a:rPr>
              <a:t>건강, 공부 등 6개 카테고리로 결심을 구분합니다.</a:t>
            </a:r>
          </a:p>
        </p:txBody>
      </p:sp>
      <p:sp>
        <p:nvSpPr>
          <p:cNvPr id="9" name="text">
            <a:extLst xmlns:a="http://schemas.openxmlformats.org/drawingml/2006/main">
              <a:ext uri="{FF2B5EF4-FFF2-40B4-BE49-F238E27FC236}">
                <a16:creationId xmlns:a16="http://schemas.microsoft.com/office/drawing/2014/main" id="{269E42BF-C442-4EFA-B325-93A10155BC39}"/>
              </a:ext>
            </a:extLst>
          </p:cNvPr>
          <p:cNvSpPr>
            <a:spLocks xmlns:a="http://schemas.openxmlformats.org/drawingml/2006/main" noGrp="1"/>
          </p:cNvSpPr>
          <p:nvPr/>
        </p:nvSpPr>
        <p:spPr>
          <a:xfrm xmlns:a="http://schemas.openxmlformats.org/drawingml/2006/main">
            <a:off x="11125200" y="5572125"/>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D6556"/>
                </a:solidFill>
                <a:latin typeface="Noto Sans KR"/>
                <a:ea typeface="Noto Sans KR"/>
                <a:cs typeface="Noto Sans KR"/>
              </a:defRPr>
            </a:pPr>
            <a:r>
              <a:rPr sz="2250" b="1">
                <a:solidFill>
                  <a:srgbClr val="2D6556"/>
                </a:solidFill>
                <a:latin typeface="Noto Sans KR"/>
                <a:ea typeface="Noto Sans KR"/>
                <a:cs typeface="Noto Sans KR"/>
              </a:rPr>
              <a:t>보관과 재개</a:t>
            </a:r>
          </a:p>
        </p:txBody>
      </p:sp>
      <p:sp>
        <p:nvSpPr>
          <p:cNvPr id="10" name="text">
            <a:extLst xmlns:a="http://schemas.openxmlformats.org/drawingml/2006/main">
              <a:ext uri="{FF2B5EF4-FFF2-40B4-BE49-F238E27FC236}">
                <a16:creationId xmlns:a16="http://schemas.microsoft.com/office/drawing/2014/main" id="{6F41A96D-33F3-4FF2-B41D-8786BEBA70F4}"/>
              </a:ext>
            </a:extLst>
          </p:cNvPr>
          <p:cNvSpPr>
            <a:spLocks xmlns:a="http://schemas.openxmlformats.org/drawingml/2006/main" noGrp="1"/>
          </p:cNvSpPr>
          <p:nvPr/>
        </p:nvSpPr>
        <p:spPr>
          <a:xfrm xmlns:a="http://schemas.openxmlformats.org/drawingml/2006/main">
            <a:off x="11125200" y="6057900"/>
            <a:ext cx="333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13E39"/>
                </a:solidFill>
                <a:latin typeface="Noto Sans KR"/>
                <a:ea typeface="Noto Sans KR"/>
                <a:cs typeface="Noto Sans KR"/>
              </a:defRPr>
            </a:pPr>
            <a:r>
              <a:rPr sz="1875" b="0">
                <a:solidFill>
                  <a:srgbClr val="213E39"/>
                </a:solidFill>
                <a:latin typeface="Noto Sans KR"/>
                <a:ea typeface="Noto Sans KR"/>
                <a:cs typeface="Noto Sans KR"/>
              </a:rPr>
              <a:t>기존 기록을 유지하면서 결심을 보관하거나 다시 시작합니다.</a:t>
            </a:r>
          </a:p>
        </p:txBody>
      </p:sp>
    </p:spTree>
    <p:extLst>
      <p:ext uri="{BB962C8B-B14F-4D97-AF65-F5344CB8AC3E}">
        <p14:creationId xmlns:p14="http://schemas.microsoft.com/office/powerpoint/2010/main" val="1505449757"/>
      </p:ext>
    </p:extLst>
  </p:cSld>
</p:sld>
</file>

<file path=ppt/slides/slide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A054452-15B8-4F4D-B702-7563C2394EB0}"/>
              </a:ext>
            </a:extLst>
          </p:cNvPr>
          <p:cNvSpPr>
            <a:spLocks xmlns:a="http://schemas.openxmlformats.org/drawingml/2006/main" noGrp="1"/>
          </p:cNvSpPr>
          <p:nvPr/>
        </p:nvSpPr>
        <p:spPr>
          <a:xfrm xmlns:a="http://schemas.openxmlformats.org/drawingml/2006/main">
            <a:off x="838200" y="514350"/>
            <a:ext cx="1356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13E39"/>
                </a:solidFill>
                <a:latin typeface="Noto Sans KR"/>
                <a:ea typeface="Noto Sans KR"/>
                <a:cs typeface="Noto Sans KR"/>
              </a:defRPr>
            </a:pPr>
            <a:r>
              <a:rPr sz="3600" b="1">
                <a:solidFill>
                  <a:srgbClr val="213E39"/>
                </a:solidFill>
                <a:latin typeface="Noto Sans KR"/>
                <a:ea typeface="Noto Sans KR"/>
                <a:cs typeface="Noto Sans KR"/>
              </a:rPr>
              <a:t>수행 상태와 하루의 메모</a:t>
            </a:r>
          </a:p>
        </p:txBody>
      </p:sp>
      <p:sp>
        <p:nvSpPr>
          <p:cNvPr id="2" name="subtitle">
            <a:extLst xmlns:a="http://schemas.openxmlformats.org/drawingml/2006/main">
              <a:ext uri="{FF2B5EF4-FFF2-40B4-BE49-F238E27FC236}">
                <a16:creationId xmlns:a16="http://schemas.microsoft.com/office/drawing/2014/main" id="{DD3345F9-BFFE-48D8-9545-41A3711D745D}"/>
              </a:ext>
            </a:extLst>
          </p:cNvPr>
          <p:cNvSpPr>
            <a:spLocks xmlns:a="http://schemas.openxmlformats.org/drawingml/2006/main" noGrp="1"/>
          </p:cNvSpPr>
          <p:nvPr/>
        </p:nvSpPr>
        <p:spPr>
          <a:xfrm xmlns:a="http://schemas.openxmlformats.org/drawingml/2006/main">
            <a:off x="857250" y="1304925"/>
            <a:ext cx="1352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66F"/>
                </a:solidFill>
                <a:latin typeface="Noto Sans KR"/>
                <a:ea typeface="Noto Sans KR"/>
                <a:cs typeface="Noto Sans KR"/>
              </a:defRPr>
            </a:pPr>
            <a:r>
              <a:rPr sz="1725" b="0">
                <a:solidFill>
                  <a:srgbClr val="66766F"/>
                </a:solidFill>
                <a:latin typeface="Noto Sans KR"/>
                <a:ea typeface="Noto Sans KR"/>
                <a:cs typeface="Noto Sans KR"/>
              </a:rPr>
              <a:t>결심과 날짜를 기준으로 하나의 일지를 저장</a:t>
            </a:r>
          </a:p>
        </p:txBody>
      </p:sp>
      <p:sp>
        <p:nvSpPr>
          <p:cNvPr id="3" name="page-number">
            <a:extLst xmlns:a="http://schemas.openxmlformats.org/drawingml/2006/main">
              <a:ext uri="{FF2B5EF4-FFF2-40B4-BE49-F238E27FC236}">
                <a16:creationId xmlns:a16="http://schemas.microsoft.com/office/drawing/2014/main" id="{96F61A77-2098-4E0A-BFAE-C36AE6D99470}"/>
              </a:ext>
            </a:extLst>
          </p:cNvPr>
          <p:cNvSpPr>
            <a:spLocks xmlns:a="http://schemas.openxmlformats.org/drawingml/2006/main" noGrp="1"/>
          </p:cNvSpPr>
          <p:nvPr/>
        </p:nvSpPr>
        <p:spPr>
          <a:xfrm xmlns:a="http://schemas.openxmlformats.org/drawingml/2006/main">
            <a:off x="13811250" y="81248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66F"/>
                </a:solidFill>
                <a:latin typeface="Noto Sans KR"/>
                <a:ea typeface="Noto Sans KR"/>
                <a:cs typeface="Noto Sans KR"/>
              </a:defRPr>
            </a:pPr>
            <a:r>
              <a:rPr sz="1350" b="0">
                <a:solidFill>
                  <a:srgbClr val="66766F"/>
                </a:solidFill>
                <a:latin typeface="Noto Sans KR"/>
                <a:ea typeface="Noto Sans KR"/>
                <a:cs typeface="Noto Sans KR"/>
              </a:rPr>
              <a:t>05</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e3f7b145bd445fb"/>
          <a:stretch xmlns:a="http://schemas.openxmlformats.org/drawingml/2006/main"/>
        </p:blipFill>
        <p:spPr>
          <a:xfrm xmlns:a="http://schemas.openxmlformats.org/drawingml/2006/main">
            <a:off x="876300" y="2271886"/>
            <a:ext cx="10668000" cy="4247804"/>
          </a:xfrm>
          <a:prstGeom xmlns:a="http://schemas.openxmlformats.org/drawingml/2006/main" prst="rect">
            <a:avLst/>
          </a:prstGeom>
        </p:spPr>
      </p:pic>
      <p:sp>
        <p:nvSpPr>
          <p:cNvPr id="5" name="text">
            <a:extLst xmlns:a="http://schemas.openxmlformats.org/drawingml/2006/main">
              <a:ext uri="{FF2B5EF4-FFF2-40B4-BE49-F238E27FC236}">
                <a16:creationId xmlns:a16="http://schemas.microsoft.com/office/drawing/2014/main" id="{7792A13E-E82D-4CD9-958E-01463375A317}"/>
              </a:ext>
            </a:extLst>
          </p:cNvPr>
          <p:cNvSpPr>
            <a:spLocks xmlns:a="http://schemas.openxmlformats.org/drawingml/2006/main" noGrp="1"/>
          </p:cNvSpPr>
          <p:nvPr/>
        </p:nvSpPr>
        <p:spPr>
          <a:xfrm xmlns:a="http://schemas.openxmlformats.org/drawingml/2006/main">
            <a:off x="12001500" y="2524125"/>
            <a:ext cx="2543175"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D6556"/>
                </a:solidFill>
                <a:latin typeface="Noto Sans KR"/>
                <a:ea typeface="Noto Sans KR"/>
                <a:cs typeface="Noto Sans KR"/>
              </a:defRPr>
            </a:pPr>
            <a:r>
              <a:rPr sz="2700" b="1">
                <a:solidFill>
                  <a:srgbClr val="2D6556"/>
                </a:solidFill>
                <a:latin typeface="Noto Sans KR"/>
                <a:ea typeface="Noto Sans KR"/>
                <a:cs typeface="Noto Sans KR"/>
              </a:rPr>
              <a:t>해냈어요</a:t>
            </a:r>
          </a:p>
          <a:p xmlns:a="http://schemas.openxmlformats.org/drawingml/2006/main">
            <a:pPr algn="l">
              <a:defRPr sz="2700" b="1">
                <a:solidFill>
                  <a:srgbClr val="2D6556"/>
                </a:solidFill>
                <a:latin typeface="Noto Sans KR"/>
                <a:ea typeface="Noto Sans KR"/>
                <a:cs typeface="Noto Sans KR"/>
              </a:defRPr>
            </a:pPr>
            <a:r>
              <a:rPr sz="2700" b="1">
                <a:solidFill>
                  <a:srgbClr val="2D6556"/>
                </a:solidFill>
                <a:latin typeface="Noto Sans KR"/>
                <a:ea typeface="Noto Sans KR"/>
                <a:cs typeface="Noto Sans KR"/>
              </a:rPr>
              <a:t>조금 했어요</a:t>
            </a:r>
          </a:p>
          <a:p xmlns:a="http://schemas.openxmlformats.org/drawingml/2006/main">
            <a:pPr algn="l">
              <a:defRPr sz="2700" b="1">
                <a:solidFill>
                  <a:srgbClr val="2D6556"/>
                </a:solidFill>
                <a:latin typeface="Noto Sans KR"/>
                <a:ea typeface="Noto Sans KR"/>
                <a:cs typeface="Noto Sans KR"/>
              </a:defRPr>
            </a:pPr>
            <a:r>
              <a:rPr sz="2700" b="1">
                <a:solidFill>
                  <a:srgbClr val="2D6556"/>
                </a:solidFill>
                <a:latin typeface="Noto Sans KR"/>
                <a:ea typeface="Noto Sans KR"/>
                <a:cs typeface="Noto Sans KR"/>
              </a:rPr>
              <a:t>쉬어갔어요</a:t>
            </a:r>
          </a:p>
        </p:txBody>
      </p:sp>
      <p:sp>
        <p:nvSpPr>
          <p:cNvPr id="6" name="text">
            <a:extLst xmlns:a="http://schemas.openxmlformats.org/drawingml/2006/main">
              <a:ext uri="{FF2B5EF4-FFF2-40B4-BE49-F238E27FC236}">
                <a16:creationId xmlns:a16="http://schemas.microsoft.com/office/drawing/2014/main" id="{983C4405-A5BF-4EB2-A20D-ED159CE9524E}"/>
              </a:ext>
            </a:extLst>
          </p:cNvPr>
          <p:cNvSpPr>
            <a:spLocks xmlns:a="http://schemas.openxmlformats.org/drawingml/2006/main" noGrp="1"/>
          </p:cNvSpPr>
          <p:nvPr/>
        </p:nvSpPr>
        <p:spPr>
          <a:xfrm xmlns:a="http://schemas.openxmlformats.org/drawingml/2006/main">
            <a:off x="933450" y="7219950"/>
            <a:ext cx="13277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13E39"/>
                </a:solidFill>
                <a:latin typeface="Noto Sans KR"/>
                <a:ea typeface="Noto Sans KR"/>
                <a:cs typeface="Noto Sans KR"/>
              </a:defRPr>
            </a:pPr>
            <a:r>
              <a:rPr sz="2175" b="0">
                <a:solidFill>
                  <a:srgbClr val="213E39"/>
                </a:solidFill>
                <a:latin typeface="Noto Sans KR"/>
                <a:ea typeface="Noto Sans KR"/>
                <a:cs typeface="Noto Sans KR"/>
              </a:rPr>
              <a:t>메모와 실천 시간을 함께 남기고, 같은 날짜에 다시 저장하면 기존 일지를 갱신합니다.</a:t>
            </a:r>
          </a:p>
        </p:txBody>
      </p:sp>
    </p:spTree>
    <p:extLst>
      <p:ext uri="{BB962C8B-B14F-4D97-AF65-F5344CB8AC3E}">
        <p14:creationId xmlns:p14="http://schemas.microsoft.com/office/powerpoint/2010/main" val="1632205335"/>
      </p:ext>
    </p:extLst>
  </p:cSld>
</p:sld>
</file>

<file path=ppt/slides/slide6.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3797D9D2-174B-49E9-8037-122F0F060370}"/>
              </a:ext>
            </a:extLst>
          </p:cNvPr>
          <p:cNvSpPr>
            <a:spLocks xmlns:a="http://schemas.openxmlformats.org/drawingml/2006/main" noGrp="1"/>
          </p:cNvSpPr>
          <p:nvPr/>
        </p:nvSpPr>
        <p:spPr>
          <a:xfrm xmlns:a="http://schemas.openxmlformats.org/drawingml/2006/main">
            <a:off x="838200" y="514350"/>
            <a:ext cx="1356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13E39"/>
                </a:solidFill>
                <a:latin typeface="Noto Sans KR"/>
                <a:ea typeface="Noto Sans KR"/>
                <a:cs typeface="Noto Sans KR"/>
              </a:defRPr>
            </a:pPr>
            <a:r>
              <a:rPr sz="3600" b="1">
                <a:solidFill>
                  <a:srgbClr val="213E39"/>
                </a:solidFill>
                <a:latin typeface="Noto Sans KR"/>
                <a:ea typeface="Noto Sans KR"/>
                <a:cs typeface="Noto Sans KR"/>
              </a:rPr>
              <a:t>기록 보관함</a:t>
            </a:r>
          </a:p>
        </p:txBody>
      </p:sp>
      <p:sp>
        <p:nvSpPr>
          <p:cNvPr id="2" name="subtitle">
            <a:extLst xmlns:a="http://schemas.openxmlformats.org/drawingml/2006/main">
              <a:ext uri="{FF2B5EF4-FFF2-40B4-BE49-F238E27FC236}">
                <a16:creationId xmlns:a16="http://schemas.microsoft.com/office/drawing/2014/main" id="{8B3D9E39-4042-4713-8214-0865B72330CC}"/>
              </a:ext>
            </a:extLst>
          </p:cNvPr>
          <p:cNvSpPr>
            <a:spLocks xmlns:a="http://schemas.openxmlformats.org/drawingml/2006/main" noGrp="1"/>
          </p:cNvSpPr>
          <p:nvPr/>
        </p:nvSpPr>
        <p:spPr>
          <a:xfrm xmlns:a="http://schemas.openxmlformats.org/drawingml/2006/main">
            <a:off x="857250" y="1304925"/>
            <a:ext cx="1352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66F"/>
                </a:solidFill>
                <a:latin typeface="Noto Sans KR"/>
                <a:ea typeface="Noto Sans KR"/>
                <a:cs typeface="Noto Sans KR"/>
              </a:defRPr>
            </a:pPr>
            <a:r>
              <a:rPr sz="1725" b="0">
                <a:solidFill>
                  <a:srgbClr val="66766F"/>
                </a:solidFill>
                <a:latin typeface="Noto Sans KR"/>
                <a:ea typeface="Noto Sans KR"/>
                <a:cs typeface="Noto Sans KR"/>
              </a:rPr>
              <a:t>달력에서 날짜를 고르고 조건으로 일지를 조회</a:t>
            </a:r>
          </a:p>
        </p:txBody>
      </p:sp>
      <p:sp>
        <p:nvSpPr>
          <p:cNvPr id="3" name="page-number">
            <a:extLst xmlns:a="http://schemas.openxmlformats.org/drawingml/2006/main">
              <a:ext uri="{FF2B5EF4-FFF2-40B4-BE49-F238E27FC236}">
                <a16:creationId xmlns:a16="http://schemas.microsoft.com/office/drawing/2014/main" id="{7A31D046-5B6B-46BF-9B5D-E16EAC957331}"/>
              </a:ext>
            </a:extLst>
          </p:cNvPr>
          <p:cNvSpPr>
            <a:spLocks xmlns:a="http://schemas.openxmlformats.org/drawingml/2006/main" noGrp="1"/>
          </p:cNvSpPr>
          <p:nvPr/>
        </p:nvSpPr>
        <p:spPr>
          <a:xfrm xmlns:a="http://schemas.openxmlformats.org/drawingml/2006/main">
            <a:off x="13811250" y="81248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66F"/>
                </a:solidFill>
                <a:latin typeface="Noto Sans KR"/>
                <a:ea typeface="Noto Sans KR"/>
                <a:cs typeface="Noto Sans KR"/>
              </a:defRPr>
            </a:pPr>
            <a:r>
              <a:rPr sz="1350" b="0">
                <a:solidFill>
                  <a:srgbClr val="66766F"/>
                </a:solidFill>
                <a:latin typeface="Noto Sans KR"/>
                <a:ea typeface="Noto Sans KR"/>
                <a:cs typeface="Noto Sans KR"/>
              </a:rPr>
              <a:t>06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c3485db2dfa4eea"/>
          <a:stretch xmlns:a="http://schemas.openxmlformats.org/drawingml/2006/main"/>
        </p:blipFill>
        <p:spPr>
          <a:xfrm xmlns:a="http://schemas.openxmlformats.org/drawingml/2006/main">
            <a:off x="1858055" y="1895475"/>
            <a:ext cx="7666264" cy="5962650"/>
          </a:xfrm>
          <a:prstGeom xmlns:a="http://schemas.openxmlformats.org/drawingml/2006/main" prst="rect">
            <a:avLst/>
          </a:prstGeom>
        </p:spPr>
      </p:pic>
      <p:sp>
        <p:nvSpPr>
          <p:cNvPr id="5" name="text">
            <a:extLst xmlns:a="http://schemas.openxmlformats.org/drawingml/2006/main">
              <a:ext uri="{FF2B5EF4-FFF2-40B4-BE49-F238E27FC236}">
                <a16:creationId xmlns:a16="http://schemas.microsoft.com/office/drawing/2014/main" id="{FB9976AE-B879-4A4F-9F24-813EFCDA403A}"/>
              </a:ext>
            </a:extLst>
          </p:cNvPr>
          <p:cNvSpPr>
            <a:spLocks xmlns:a="http://schemas.openxmlformats.org/drawingml/2006/main" noGrp="1"/>
          </p:cNvSpPr>
          <p:nvPr/>
        </p:nvSpPr>
        <p:spPr>
          <a:xfrm xmlns:a="http://schemas.openxmlformats.org/drawingml/2006/main">
            <a:off x="11020425" y="2133600"/>
            <a:ext cx="3409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D6556"/>
                </a:solidFill>
                <a:latin typeface="Noto Sans KR"/>
                <a:ea typeface="Noto Sans KR"/>
                <a:cs typeface="Noto Sans KR"/>
              </a:defRPr>
            </a:pPr>
            <a:r>
              <a:rPr sz="2250" b="1">
                <a:solidFill>
                  <a:srgbClr val="2D6556"/>
                </a:solidFill>
                <a:latin typeface="Noto Sans KR"/>
                <a:ea typeface="Noto Sans KR"/>
                <a:cs typeface="Noto Sans KR"/>
              </a:rPr>
              <a:t>월간 달력</a:t>
            </a:r>
          </a:p>
        </p:txBody>
      </p:sp>
      <p:sp>
        <p:nvSpPr>
          <p:cNvPr id="6" name="text">
            <a:extLst xmlns:a="http://schemas.openxmlformats.org/drawingml/2006/main">
              <a:ext uri="{FF2B5EF4-FFF2-40B4-BE49-F238E27FC236}">
                <a16:creationId xmlns:a16="http://schemas.microsoft.com/office/drawing/2014/main" id="{103B7926-B909-49AF-A602-91A7E025F66A}"/>
              </a:ext>
            </a:extLst>
          </p:cNvPr>
          <p:cNvSpPr>
            <a:spLocks xmlns:a="http://schemas.openxmlformats.org/drawingml/2006/main" noGrp="1"/>
          </p:cNvSpPr>
          <p:nvPr/>
        </p:nvSpPr>
        <p:spPr>
          <a:xfrm xmlns:a="http://schemas.openxmlformats.org/drawingml/2006/main">
            <a:off x="11020425" y="2619375"/>
            <a:ext cx="34099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13E39"/>
                </a:solidFill>
                <a:latin typeface="Noto Sans KR"/>
                <a:ea typeface="Noto Sans KR"/>
                <a:cs typeface="Noto Sans KR"/>
              </a:defRPr>
            </a:pPr>
            <a:r>
              <a:rPr sz="1875" b="0">
                <a:solidFill>
                  <a:srgbClr val="213E39"/>
                </a:solidFill>
                <a:latin typeface="Noto Sans KR"/>
                <a:ea typeface="Noto Sans KR"/>
                <a:cs typeface="Noto Sans KR"/>
              </a:rPr>
              <a:t>기록한 날짜를 확인하고 그날의 일지를 조회합니다.</a:t>
            </a:r>
          </a:p>
        </p:txBody>
      </p:sp>
      <p:sp>
        <p:nvSpPr>
          <p:cNvPr id="7" name="text">
            <a:extLst xmlns:a="http://schemas.openxmlformats.org/drawingml/2006/main">
              <a:ext uri="{FF2B5EF4-FFF2-40B4-BE49-F238E27FC236}">
                <a16:creationId xmlns:a16="http://schemas.microsoft.com/office/drawing/2014/main" id="{25FD3CA5-D377-4071-8F59-C4D608017CE9}"/>
              </a:ext>
            </a:extLst>
          </p:cNvPr>
          <p:cNvSpPr>
            <a:spLocks xmlns:a="http://schemas.openxmlformats.org/drawingml/2006/main" noGrp="1"/>
          </p:cNvSpPr>
          <p:nvPr/>
        </p:nvSpPr>
        <p:spPr>
          <a:xfrm xmlns:a="http://schemas.openxmlformats.org/drawingml/2006/main">
            <a:off x="11020425" y="3886200"/>
            <a:ext cx="3409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D6556"/>
                </a:solidFill>
                <a:latin typeface="Noto Sans KR"/>
                <a:ea typeface="Noto Sans KR"/>
                <a:cs typeface="Noto Sans KR"/>
              </a:defRPr>
            </a:pPr>
            <a:r>
              <a:rPr sz="2250" b="1">
                <a:solidFill>
                  <a:srgbClr val="2D6556"/>
                </a:solidFill>
                <a:latin typeface="Noto Sans KR"/>
                <a:ea typeface="Noto Sans KR"/>
                <a:cs typeface="Noto Sans KR"/>
              </a:rPr>
              <a:t>조건별 조회</a:t>
            </a:r>
          </a:p>
        </p:txBody>
      </p:sp>
      <p:sp>
        <p:nvSpPr>
          <p:cNvPr id="8" name="text">
            <a:extLst xmlns:a="http://schemas.openxmlformats.org/drawingml/2006/main">
              <a:ext uri="{FF2B5EF4-FFF2-40B4-BE49-F238E27FC236}">
                <a16:creationId xmlns:a16="http://schemas.microsoft.com/office/drawing/2014/main" id="{00058BD5-DA88-4D64-8DF9-4E3C55035BA2}"/>
              </a:ext>
            </a:extLst>
          </p:cNvPr>
          <p:cNvSpPr>
            <a:spLocks xmlns:a="http://schemas.openxmlformats.org/drawingml/2006/main" noGrp="1"/>
          </p:cNvSpPr>
          <p:nvPr/>
        </p:nvSpPr>
        <p:spPr>
          <a:xfrm xmlns:a="http://schemas.openxmlformats.org/drawingml/2006/main">
            <a:off x="11020425" y="4371975"/>
            <a:ext cx="34099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13E39"/>
                </a:solidFill>
                <a:latin typeface="Noto Sans KR"/>
                <a:ea typeface="Noto Sans KR"/>
                <a:cs typeface="Noto Sans KR"/>
              </a:defRPr>
            </a:pPr>
            <a:r>
              <a:rPr sz="1875" b="0">
                <a:solidFill>
                  <a:srgbClr val="213E39"/>
                </a:solidFill>
                <a:latin typeface="Noto Sans KR"/>
                <a:ea typeface="Noto Sans KR"/>
                <a:cs typeface="Noto Sans KR"/>
              </a:rPr>
              <a:t>기간, 결심과 수행 상태로 기록을 찾아봅니다.</a:t>
            </a:r>
          </a:p>
        </p:txBody>
      </p:sp>
      <p:sp>
        <p:nvSpPr>
          <p:cNvPr id="9" name="text">
            <a:extLst xmlns:a="http://schemas.openxmlformats.org/drawingml/2006/main">
              <a:ext uri="{FF2B5EF4-FFF2-40B4-BE49-F238E27FC236}">
                <a16:creationId xmlns:a16="http://schemas.microsoft.com/office/drawing/2014/main" id="{3CA319B7-8332-48B8-919A-3D22DF578C82}"/>
              </a:ext>
            </a:extLst>
          </p:cNvPr>
          <p:cNvSpPr>
            <a:spLocks xmlns:a="http://schemas.openxmlformats.org/drawingml/2006/main" noGrp="1"/>
          </p:cNvSpPr>
          <p:nvPr/>
        </p:nvSpPr>
        <p:spPr>
          <a:xfrm xmlns:a="http://schemas.openxmlformats.org/drawingml/2006/main">
            <a:off x="11020425" y="5638800"/>
            <a:ext cx="3409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D6556"/>
                </a:solidFill>
                <a:latin typeface="Noto Sans KR"/>
                <a:ea typeface="Noto Sans KR"/>
                <a:cs typeface="Noto Sans KR"/>
              </a:defRPr>
            </a:pPr>
            <a:r>
              <a:rPr sz="2250" b="1">
                <a:solidFill>
                  <a:srgbClr val="2D6556"/>
                </a:solidFill>
                <a:latin typeface="Noto Sans KR"/>
                <a:ea typeface="Noto Sans KR"/>
                <a:cs typeface="Noto Sans KR"/>
              </a:rPr>
              <a:t>이어서 수정</a:t>
            </a:r>
          </a:p>
        </p:txBody>
      </p:sp>
      <p:sp>
        <p:nvSpPr>
          <p:cNvPr id="10" name="text">
            <a:extLst xmlns:a="http://schemas.openxmlformats.org/drawingml/2006/main">
              <a:ext uri="{FF2B5EF4-FFF2-40B4-BE49-F238E27FC236}">
                <a16:creationId xmlns:a16="http://schemas.microsoft.com/office/drawing/2014/main" id="{98B4FCF3-BCB4-4679-B95C-299D2ACA6A74}"/>
              </a:ext>
            </a:extLst>
          </p:cNvPr>
          <p:cNvSpPr>
            <a:spLocks xmlns:a="http://schemas.openxmlformats.org/drawingml/2006/main" noGrp="1"/>
          </p:cNvSpPr>
          <p:nvPr/>
        </p:nvSpPr>
        <p:spPr>
          <a:xfrm xmlns:a="http://schemas.openxmlformats.org/drawingml/2006/main">
            <a:off x="11020425" y="6124575"/>
            <a:ext cx="34099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13E39"/>
                </a:solidFill>
                <a:latin typeface="Noto Sans KR"/>
                <a:ea typeface="Noto Sans KR"/>
                <a:cs typeface="Noto Sans KR"/>
              </a:defRPr>
            </a:pPr>
            <a:r>
              <a:rPr sz="1875" b="0">
                <a:solidFill>
                  <a:srgbClr val="213E39"/>
                </a:solidFill>
                <a:latin typeface="Noto Sans KR"/>
                <a:ea typeface="Noto Sans KR"/>
                <a:cs typeface="Noto Sans KR"/>
              </a:rPr>
              <a:t>해당 날짜의 기록 화면으로 이동해 내용을 보완합니다.</a:t>
            </a:r>
          </a:p>
        </p:txBody>
      </p:sp>
    </p:spTree>
    <p:extLst>
      <p:ext uri="{BB962C8B-B14F-4D97-AF65-F5344CB8AC3E}">
        <p14:creationId xmlns:p14="http://schemas.microsoft.com/office/powerpoint/2010/main" val="1551095240"/>
      </p:ext>
    </p:extLst>
  </p:cSld>
</p:sld>
</file>

<file path=ppt/slides/slide7.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E1B06677-C948-44A4-8257-232F82D634ED}"/>
              </a:ext>
            </a:extLst>
          </p:cNvPr>
          <p:cNvSpPr>
            <a:spLocks xmlns:a="http://schemas.openxmlformats.org/drawingml/2006/main" noGrp="1"/>
          </p:cNvSpPr>
          <p:nvPr/>
        </p:nvSpPr>
        <p:spPr>
          <a:xfrm xmlns:a="http://schemas.openxmlformats.org/drawingml/2006/main">
            <a:off x="838200" y="514350"/>
            <a:ext cx="1356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13E39"/>
                </a:solidFill>
                <a:latin typeface="Noto Sans KR"/>
                <a:ea typeface="Noto Sans KR"/>
                <a:cs typeface="Noto Sans KR"/>
              </a:defRPr>
            </a:pPr>
            <a:r>
              <a:rPr sz="3600" b="1">
                <a:solidFill>
                  <a:srgbClr val="213E39"/>
                </a:solidFill>
                <a:latin typeface="Noto Sans KR"/>
                <a:ea typeface="Noto Sans KR"/>
                <a:cs typeface="Noto Sans KR"/>
              </a:rPr>
              <a:t>모바일 사용 화면</a:t>
            </a:r>
          </a:p>
        </p:txBody>
      </p:sp>
      <p:sp>
        <p:nvSpPr>
          <p:cNvPr id="2" name="subtitle">
            <a:extLst xmlns:a="http://schemas.openxmlformats.org/drawingml/2006/main">
              <a:ext uri="{FF2B5EF4-FFF2-40B4-BE49-F238E27FC236}">
                <a16:creationId xmlns:a16="http://schemas.microsoft.com/office/drawing/2014/main" id="{0BD88C3F-A07D-4C96-920A-0591CE452D26}"/>
              </a:ext>
            </a:extLst>
          </p:cNvPr>
          <p:cNvSpPr>
            <a:spLocks xmlns:a="http://schemas.openxmlformats.org/drawingml/2006/main" noGrp="1"/>
          </p:cNvSpPr>
          <p:nvPr/>
        </p:nvSpPr>
        <p:spPr>
          <a:xfrm xmlns:a="http://schemas.openxmlformats.org/drawingml/2006/main">
            <a:off x="857250" y="1304925"/>
            <a:ext cx="1352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66F"/>
                </a:solidFill>
                <a:latin typeface="Noto Sans KR"/>
                <a:ea typeface="Noto Sans KR"/>
                <a:cs typeface="Noto Sans KR"/>
              </a:defRPr>
            </a:pPr>
            <a:r>
              <a:rPr sz="1725" b="0">
                <a:solidFill>
                  <a:srgbClr val="66766F"/>
                </a:solidFill>
                <a:latin typeface="Noto Sans KR"/>
                <a:ea typeface="Noto Sans KR"/>
                <a:cs typeface="Noto Sans KR"/>
              </a:rPr>
              <a:t>390px 너비에서 메뉴와 일지 목록을 재배치</a:t>
            </a:r>
          </a:p>
        </p:txBody>
      </p:sp>
      <p:sp>
        <p:nvSpPr>
          <p:cNvPr id="3" name="page-number">
            <a:extLst xmlns:a="http://schemas.openxmlformats.org/drawingml/2006/main">
              <a:ext uri="{FF2B5EF4-FFF2-40B4-BE49-F238E27FC236}">
                <a16:creationId xmlns:a16="http://schemas.microsoft.com/office/drawing/2014/main" id="{51925FFB-0EB8-423B-ABEB-B507DB0E6D07}"/>
              </a:ext>
            </a:extLst>
          </p:cNvPr>
          <p:cNvSpPr>
            <a:spLocks xmlns:a="http://schemas.openxmlformats.org/drawingml/2006/main" noGrp="1"/>
          </p:cNvSpPr>
          <p:nvPr/>
        </p:nvSpPr>
        <p:spPr>
          <a:xfrm xmlns:a="http://schemas.openxmlformats.org/drawingml/2006/main">
            <a:off x="13811250" y="81248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66F"/>
                </a:solidFill>
                <a:latin typeface="Noto Sans KR"/>
                <a:ea typeface="Noto Sans KR"/>
                <a:cs typeface="Noto Sans KR"/>
              </a:defRPr>
            </a:pPr>
            <a:r>
              <a:rPr sz="1350" b="0">
                <a:solidFill>
                  <a:srgbClr val="66766F"/>
                </a:solidFill>
                <a:latin typeface="Noto Sans KR"/>
                <a:ea typeface="Noto Sans KR"/>
                <a:cs typeface="Noto Sans KR"/>
              </a:rPr>
              <a:t>07</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020b510594948d9"/>
          <a:stretch xmlns:a="http://schemas.openxmlformats.org/drawingml/2006/main"/>
        </p:blipFill>
        <p:spPr>
          <a:xfrm xmlns:a="http://schemas.openxmlformats.org/drawingml/2006/main">
            <a:off x="1774296" y="1838325"/>
            <a:ext cx="2242608" cy="6210300"/>
          </a:xfrm>
          <a:prstGeom xmlns:a="http://schemas.openxmlformats.org/drawingml/2006/main" prst="rect">
            <a:avLst/>
          </a:prstGeom>
        </p:spPr>
      </p:pic>
      <p:sp>
        <p:nvSpPr>
          <p:cNvPr id="5" name="text">
            <a:extLst xmlns:a="http://schemas.openxmlformats.org/drawingml/2006/main">
              <a:ext uri="{FF2B5EF4-FFF2-40B4-BE49-F238E27FC236}">
                <a16:creationId xmlns:a16="http://schemas.microsoft.com/office/drawing/2014/main" id="{2D1D1A90-972B-4E96-9F6F-32CF24E28BD2}"/>
              </a:ext>
            </a:extLst>
          </p:cNvPr>
          <p:cNvSpPr>
            <a:spLocks xmlns:a="http://schemas.openxmlformats.org/drawingml/2006/main" noGrp="1"/>
          </p:cNvSpPr>
          <p:nvPr/>
        </p:nvSpPr>
        <p:spPr>
          <a:xfrm xmlns:a="http://schemas.openxmlformats.org/drawingml/2006/main">
            <a:off x="5619750" y="2266950"/>
            <a:ext cx="85629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13E39"/>
                </a:solidFill>
                <a:latin typeface="Noto Sans KR"/>
                <a:ea typeface="Noto Sans KR"/>
                <a:cs typeface="Noto Sans KR"/>
              </a:defRPr>
            </a:pPr>
            <a:r>
              <a:rPr sz="4350" b="1">
                <a:solidFill>
                  <a:srgbClr val="213E39"/>
                </a:solidFill>
                <a:latin typeface="Noto Sans KR"/>
                <a:ea typeface="Noto Sans KR"/>
                <a:cs typeface="Noto Sans KR"/>
              </a:rPr>
              <a:t>작은 화면에서도</a:t>
            </a:r>
          </a:p>
          <a:p xmlns:a="http://schemas.openxmlformats.org/drawingml/2006/main">
            <a:pPr algn="l">
              <a:defRPr sz="4350" b="1">
                <a:solidFill>
                  <a:srgbClr val="213E39"/>
                </a:solidFill>
                <a:latin typeface="Noto Sans KR"/>
                <a:ea typeface="Noto Sans KR"/>
                <a:cs typeface="Noto Sans KR"/>
              </a:defRPr>
            </a:pPr>
            <a:r>
              <a:rPr sz="4350" b="1">
                <a:solidFill>
                  <a:srgbClr val="213E39"/>
                </a:solidFill>
                <a:latin typeface="Noto Sans KR"/>
                <a:ea typeface="Noto Sans KR"/>
                <a:cs typeface="Noto Sans KR"/>
              </a:rPr>
              <a:t>같은 기록을 이어갑니다</a:t>
            </a:r>
          </a:p>
        </p:txBody>
      </p:sp>
      <p:sp>
        <p:nvSpPr>
          <p:cNvPr id="6" name="text">
            <a:extLst xmlns:a="http://schemas.openxmlformats.org/drawingml/2006/main">
              <a:ext uri="{FF2B5EF4-FFF2-40B4-BE49-F238E27FC236}">
                <a16:creationId xmlns:a16="http://schemas.microsoft.com/office/drawing/2014/main" id="{A6A27D89-D478-437A-A8CA-D8FC31CC7573}"/>
              </a:ext>
            </a:extLst>
          </p:cNvPr>
          <p:cNvSpPr>
            <a:spLocks xmlns:a="http://schemas.openxmlformats.org/drawingml/2006/main" noGrp="1"/>
          </p:cNvSpPr>
          <p:nvPr/>
        </p:nvSpPr>
        <p:spPr>
          <a:xfrm xmlns:a="http://schemas.openxmlformats.org/drawingml/2006/main">
            <a:off x="5667375" y="4257675"/>
            <a:ext cx="8458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D6556"/>
                </a:solidFill>
                <a:latin typeface="Noto Sans KR"/>
                <a:ea typeface="Noto Sans KR"/>
                <a:cs typeface="Noto Sans KR"/>
              </a:defRPr>
            </a:pPr>
            <a:r>
              <a:rPr sz="2250" b="1">
                <a:solidFill>
                  <a:srgbClr val="2D6556"/>
                </a:solidFill>
                <a:latin typeface="Noto Sans KR"/>
                <a:ea typeface="Noto Sans KR"/>
                <a:cs typeface="Noto Sans KR"/>
              </a:rPr>
              <a:t>상단 메뉴</a:t>
            </a:r>
          </a:p>
        </p:txBody>
      </p:sp>
      <p:sp>
        <p:nvSpPr>
          <p:cNvPr id="7" name="text">
            <a:extLst xmlns:a="http://schemas.openxmlformats.org/drawingml/2006/main">
              <a:ext uri="{FF2B5EF4-FFF2-40B4-BE49-F238E27FC236}">
                <a16:creationId xmlns:a16="http://schemas.microsoft.com/office/drawing/2014/main" id="{8AA26515-7641-4518-854A-A9DF6FE5B757}"/>
              </a:ext>
            </a:extLst>
          </p:cNvPr>
          <p:cNvSpPr>
            <a:spLocks xmlns:a="http://schemas.openxmlformats.org/drawingml/2006/main" noGrp="1"/>
          </p:cNvSpPr>
          <p:nvPr/>
        </p:nvSpPr>
        <p:spPr>
          <a:xfrm xmlns:a="http://schemas.openxmlformats.org/drawingml/2006/main">
            <a:off x="5667375" y="4743450"/>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13E39"/>
                </a:solidFill>
                <a:latin typeface="Noto Sans KR"/>
                <a:ea typeface="Noto Sans KR"/>
                <a:cs typeface="Noto Sans KR"/>
              </a:defRPr>
            </a:pPr>
            <a:r>
              <a:rPr sz="1875" b="0">
                <a:solidFill>
                  <a:srgbClr val="213E39"/>
                </a:solidFill>
                <a:latin typeface="Noto Sans KR"/>
                <a:ea typeface="Noto Sans KR"/>
                <a:cs typeface="Noto Sans KR"/>
              </a:rPr>
              <a:t>좁은 화면에서는 주요 메뉴를 상단에 배치합니다.</a:t>
            </a:r>
          </a:p>
        </p:txBody>
      </p:sp>
      <p:sp>
        <p:nvSpPr>
          <p:cNvPr id="8" name="text">
            <a:extLst xmlns:a="http://schemas.openxmlformats.org/drawingml/2006/main">
              <a:ext uri="{FF2B5EF4-FFF2-40B4-BE49-F238E27FC236}">
                <a16:creationId xmlns:a16="http://schemas.microsoft.com/office/drawing/2014/main" id="{1CF83328-85DE-490E-804C-FCC460C30ABA}"/>
              </a:ext>
            </a:extLst>
          </p:cNvPr>
          <p:cNvSpPr>
            <a:spLocks xmlns:a="http://schemas.openxmlformats.org/drawingml/2006/main" noGrp="1"/>
          </p:cNvSpPr>
          <p:nvPr/>
        </p:nvSpPr>
        <p:spPr>
          <a:xfrm xmlns:a="http://schemas.openxmlformats.org/drawingml/2006/main">
            <a:off x="5667375" y="5372100"/>
            <a:ext cx="8458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D6556"/>
                </a:solidFill>
                <a:latin typeface="Noto Sans KR"/>
                <a:ea typeface="Noto Sans KR"/>
                <a:cs typeface="Noto Sans KR"/>
              </a:defRPr>
            </a:pPr>
            <a:r>
              <a:rPr sz="2250" b="1">
                <a:solidFill>
                  <a:srgbClr val="2D6556"/>
                </a:solidFill>
                <a:latin typeface="Noto Sans KR"/>
                <a:ea typeface="Noto Sans KR"/>
                <a:cs typeface="Noto Sans KR"/>
              </a:rPr>
              <a:t>간결한 현황</a:t>
            </a:r>
          </a:p>
        </p:txBody>
      </p:sp>
      <p:sp>
        <p:nvSpPr>
          <p:cNvPr id="9" name="text">
            <a:extLst xmlns:a="http://schemas.openxmlformats.org/drawingml/2006/main">
              <a:ext uri="{FF2B5EF4-FFF2-40B4-BE49-F238E27FC236}">
                <a16:creationId xmlns:a16="http://schemas.microsoft.com/office/drawing/2014/main" id="{4836EFD9-5DC5-48CD-9099-2223E3DEA01F}"/>
              </a:ext>
            </a:extLst>
          </p:cNvPr>
          <p:cNvSpPr>
            <a:spLocks xmlns:a="http://schemas.openxmlformats.org/drawingml/2006/main" noGrp="1"/>
          </p:cNvSpPr>
          <p:nvPr/>
        </p:nvSpPr>
        <p:spPr>
          <a:xfrm xmlns:a="http://schemas.openxmlformats.org/drawingml/2006/main">
            <a:off x="5667375" y="585787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13E39"/>
                </a:solidFill>
                <a:latin typeface="Noto Sans KR"/>
                <a:ea typeface="Noto Sans KR"/>
                <a:cs typeface="Noto Sans KR"/>
              </a:defRPr>
            </a:pPr>
            <a:r>
              <a:rPr sz="1875" b="0">
                <a:solidFill>
                  <a:srgbClr val="213E39"/>
                </a:solidFill>
                <a:latin typeface="Noto Sans KR"/>
                <a:ea typeface="Noto Sans KR"/>
                <a:cs typeface="Noto Sans KR"/>
              </a:rPr>
              <a:t>달성률과 핵심 수치를 보여주고 일지 목록을 세로로 정리합니다.</a:t>
            </a:r>
          </a:p>
        </p:txBody>
      </p:sp>
      <p:sp>
        <p:nvSpPr>
          <p:cNvPr id="10" name="text">
            <a:extLst xmlns:a="http://schemas.openxmlformats.org/drawingml/2006/main">
              <a:ext uri="{FF2B5EF4-FFF2-40B4-BE49-F238E27FC236}">
                <a16:creationId xmlns:a16="http://schemas.microsoft.com/office/drawing/2014/main" id="{EFA38B7C-6397-410D-9BB0-83C771C30C00}"/>
              </a:ext>
            </a:extLst>
          </p:cNvPr>
          <p:cNvSpPr>
            <a:spLocks xmlns:a="http://schemas.openxmlformats.org/drawingml/2006/main" noGrp="1"/>
          </p:cNvSpPr>
          <p:nvPr/>
        </p:nvSpPr>
        <p:spPr>
          <a:xfrm xmlns:a="http://schemas.openxmlformats.org/drawingml/2006/main">
            <a:off x="5667375" y="6486525"/>
            <a:ext cx="8458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D6556"/>
                </a:solidFill>
                <a:latin typeface="Noto Sans KR"/>
                <a:ea typeface="Noto Sans KR"/>
                <a:cs typeface="Noto Sans KR"/>
              </a:defRPr>
            </a:pPr>
            <a:r>
              <a:rPr sz="2250" b="1">
                <a:solidFill>
                  <a:srgbClr val="2D6556"/>
                </a:solidFill>
                <a:latin typeface="Noto Sans KR"/>
                <a:ea typeface="Noto Sans KR"/>
                <a:cs typeface="Noto Sans KR"/>
              </a:rPr>
              <a:t>같은 API 사용</a:t>
            </a:r>
          </a:p>
        </p:txBody>
      </p:sp>
      <p:sp>
        <p:nvSpPr>
          <p:cNvPr id="11" name="text">
            <a:extLst xmlns:a="http://schemas.openxmlformats.org/drawingml/2006/main">
              <a:ext uri="{FF2B5EF4-FFF2-40B4-BE49-F238E27FC236}">
                <a16:creationId xmlns:a16="http://schemas.microsoft.com/office/drawing/2014/main" id="{2DE72B7C-AD68-4EE9-AE6A-14B96C1B784C}"/>
              </a:ext>
            </a:extLst>
          </p:cNvPr>
          <p:cNvSpPr>
            <a:spLocks xmlns:a="http://schemas.openxmlformats.org/drawingml/2006/main" noGrp="1"/>
          </p:cNvSpPr>
          <p:nvPr/>
        </p:nvSpPr>
        <p:spPr>
          <a:xfrm xmlns:a="http://schemas.openxmlformats.org/drawingml/2006/main">
            <a:off x="5667375" y="6972300"/>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13E39"/>
                </a:solidFill>
                <a:latin typeface="Noto Sans KR"/>
                <a:ea typeface="Noto Sans KR"/>
                <a:cs typeface="Noto Sans KR"/>
              </a:defRPr>
            </a:pPr>
            <a:r>
              <a:rPr sz="1875" b="0">
                <a:solidFill>
                  <a:srgbClr val="213E39"/>
                </a:solidFill>
                <a:latin typeface="Noto Sans KR"/>
                <a:ea typeface="Noto Sans KR"/>
                <a:cs typeface="Noto Sans KR"/>
              </a:rPr>
              <a:t>기기별로 별도 데이터를 만들지 않고 사용자 계정의 기록을 조회합니다.</a:t>
            </a:r>
          </a:p>
        </p:txBody>
      </p:sp>
    </p:spTree>
    <p:extLst>
      <p:ext uri="{BB962C8B-B14F-4D97-AF65-F5344CB8AC3E}">
        <p14:creationId xmlns:p14="http://schemas.microsoft.com/office/powerpoint/2010/main" val="1227745767"/>
      </p:ext>
    </p:extLst>
  </p:cSld>
</p:sld>
</file>

<file path=ppt/slides/slide8.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4CE560C-DB52-40C8-83BA-FD41AD9D7124}"/>
              </a:ext>
            </a:extLst>
          </p:cNvPr>
          <p:cNvSpPr>
            <a:spLocks xmlns:a="http://schemas.openxmlformats.org/drawingml/2006/main" noGrp="1"/>
          </p:cNvSpPr>
          <p:nvPr/>
        </p:nvSpPr>
        <p:spPr>
          <a:xfrm xmlns:a="http://schemas.openxmlformats.org/drawingml/2006/main">
            <a:off x="838200" y="514350"/>
            <a:ext cx="1356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13E39"/>
                </a:solidFill>
                <a:latin typeface="Noto Sans KR"/>
                <a:ea typeface="Noto Sans KR"/>
                <a:cs typeface="Noto Sans KR"/>
              </a:defRPr>
            </a:pPr>
            <a:r>
              <a:rPr sz="3600" b="1">
                <a:solidFill>
                  <a:srgbClr val="213E39"/>
                </a:solidFill>
                <a:latin typeface="Noto Sans KR"/>
                <a:ea typeface="Noto Sans KR"/>
                <a:cs typeface="Noto Sans KR"/>
              </a:rPr>
              <a:t>기술 구성</a:t>
            </a:r>
          </a:p>
        </p:txBody>
      </p:sp>
      <p:sp>
        <p:nvSpPr>
          <p:cNvPr id="2" name="subtitle">
            <a:extLst xmlns:a="http://schemas.openxmlformats.org/drawingml/2006/main">
              <a:ext uri="{FF2B5EF4-FFF2-40B4-BE49-F238E27FC236}">
                <a16:creationId xmlns:a16="http://schemas.microsoft.com/office/drawing/2014/main" id="{ECBB5352-0B55-44A3-B35A-7A1D0AE7CB2B}"/>
              </a:ext>
            </a:extLst>
          </p:cNvPr>
          <p:cNvSpPr>
            <a:spLocks xmlns:a="http://schemas.openxmlformats.org/drawingml/2006/main" noGrp="1"/>
          </p:cNvSpPr>
          <p:nvPr/>
        </p:nvSpPr>
        <p:spPr>
          <a:xfrm xmlns:a="http://schemas.openxmlformats.org/drawingml/2006/main">
            <a:off x="857250" y="1304925"/>
            <a:ext cx="1352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66F"/>
                </a:solidFill>
                <a:latin typeface="Noto Sans KR"/>
                <a:ea typeface="Noto Sans KR"/>
                <a:cs typeface="Noto Sans KR"/>
              </a:defRPr>
            </a:pPr>
            <a:r>
              <a:rPr sz="1725" b="0">
                <a:solidFill>
                  <a:srgbClr val="66766F"/>
                </a:solidFill>
                <a:latin typeface="Noto Sans KR"/>
                <a:ea typeface="Noto Sans KR"/>
                <a:cs typeface="Noto Sans KR"/>
              </a:rPr>
              <a:t>Nuxt 서버가 브라우저 요청을 Spring Boot로 전달</a:t>
            </a:r>
          </a:p>
        </p:txBody>
      </p:sp>
      <p:sp>
        <p:nvSpPr>
          <p:cNvPr id="3" name="page-number">
            <a:extLst xmlns:a="http://schemas.openxmlformats.org/drawingml/2006/main">
              <a:ext uri="{FF2B5EF4-FFF2-40B4-BE49-F238E27FC236}">
                <a16:creationId xmlns:a16="http://schemas.microsoft.com/office/drawing/2014/main" id="{9CDBD860-6420-482D-8E7A-6427B1F829F5}"/>
              </a:ext>
            </a:extLst>
          </p:cNvPr>
          <p:cNvSpPr>
            <a:spLocks xmlns:a="http://schemas.openxmlformats.org/drawingml/2006/main" noGrp="1"/>
          </p:cNvSpPr>
          <p:nvPr/>
        </p:nvSpPr>
        <p:spPr>
          <a:xfrm xmlns:a="http://schemas.openxmlformats.org/drawingml/2006/main">
            <a:off x="13811250" y="81248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66F"/>
                </a:solidFill>
                <a:latin typeface="Noto Sans KR"/>
                <a:ea typeface="Noto Sans KR"/>
                <a:cs typeface="Noto Sans KR"/>
              </a:defRPr>
            </a:pPr>
            <a:r>
              <a:rPr sz="1350" b="0">
                <a:solidFill>
                  <a:srgbClr val="66766F"/>
                </a:solidFill>
                <a:latin typeface="Noto Sans KR"/>
                <a:ea typeface="Noto Sans KR"/>
                <a:cs typeface="Noto Sans KR"/>
              </a:rPr>
              <a:t>08</a:t>
            </a:r>
          </a:p>
        </p:txBody>
      </p:sp>
      <p:graphicFrame>
        <p:nvGraphicFramePr>
          <p:cNvPr id="9" name=""/>
          <p:cNvGraphicFramePr/>
          <p:nvPr/>
        </p:nvGraphicFramePr>
        <p:xfrm>
          <a:off xmlns:a="http://schemas.openxmlformats.org/drawingml/2006/main" x="838200" y="2143125"/>
          <a:ext xmlns:a="http://schemas.openxmlformats.org/drawingml/2006/main" cx="13563600" cy="5200650"/>
        </p:xfrm>
        <a:graphic xmlns:a="http://schemas.openxmlformats.org/drawingml/2006/main">
          <a:graphicData uri="http://schemas.openxmlformats.org/drawingml/2006/table">
            <a:tbl>
              <a:tblPr/>
              <a:tblGrid>
                <a:gridCol w="2038350"/>
                <a:gridCol w="5524500"/>
                <a:gridCol w="6000750"/>
              </a:tblGrid>
              <a:tr h="581025">
                <a:tc>
                  <a:txBody>
                    <a:bodyPr wrap="square">
                      <a:noAutofit/>
                    </a:bodyPr>
                    <a:lstStyle/>
                    <a:p>
                      <a:r>
                        <a:rPr sz="1875" b="1">
                          <a:solidFill>
                            <a:srgbClr val="FFFFFF"/>
                          </a:solidFill>
                          <a:latin typeface="Noto Sans KR"/>
                          <a:ea typeface="Noto Sans KR"/>
                          <a:cs typeface="Noto Sans KR"/>
                        </a:rPr>
                        <a:t>구간</a:t>
                      </a:r>
                    </a:p>
                  </a:txBody>
                  <a:tcPr marL="123825" marR="123825" marT="95250" marB="76200">
                    <a:solidFill>
                      <a:srgbClr val="2D6556"/>
                    </a:solidFill>
                  </a:tcPr>
                </a:tc>
                <a:tc>
                  <a:txBody>
                    <a:bodyPr wrap="square">
                      <a:noAutofit/>
                    </a:bodyPr>
                    <a:lstStyle/>
                    <a:p>
                      <a:r>
                        <a:rPr sz="1875" b="1">
                          <a:solidFill>
                            <a:srgbClr val="FFFFFF"/>
                          </a:solidFill>
                          <a:latin typeface="Noto Sans KR"/>
                          <a:ea typeface="Noto Sans KR"/>
                          <a:cs typeface="Noto Sans KR"/>
                        </a:rPr>
                        <a:t>기술</a:t>
                      </a:r>
                    </a:p>
                  </a:txBody>
                  <a:tcPr marL="123825" marR="123825" marT="95250" marB="76200">
                    <a:solidFill>
                      <a:srgbClr val="2D6556"/>
                    </a:solidFill>
                  </a:tcPr>
                </a:tc>
                <a:tc>
                  <a:txBody>
                    <a:bodyPr wrap="square">
                      <a:noAutofit/>
                    </a:bodyPr>
                    <a:lstStyle/>
                    <a:p>
                      <a:r>
                        <a:rPr sz="1875" b="1">
                          <a:solidFill>
                            <a:srgbClr val="FFFFFF"/>
                          </a:solidFill>
                          <a:latin typeface="Noto Sans KR"/>
                          <a:ea typeface="Noto Sans KR"/>
                          <a:cs typeface="Noto Sans KR"/>
                        </a:rPr>
                        <a:t>역할</a:t>
                      </a:r>
                    </a:p>
                  </a:txBody>
                  <a:tcPr marL="123825" marR="123825" marT="95250" marB="76200">
                    <a:solidFill>
                      <a:srgbClr val="2D6556"/>
                    </a:solidFill>
                  </a:tcPr>
                </a:tc>
              </a:tr>
              <a:tr h="923925">
                <a:tc>
                  <a:txBody>
                    <a:bodyPr wrap="square">
                      <a:noAutofit/>
                    </a:bodyPr>
                    <a:lstStyle/>
                    <a:p>
                      <a:r>
                        <a:rPr sz="1875" b="0">
                          <a:solidFill>
                            <a:srgbClr val="213E39"/>
                          </a:solidFill>
                          <a:latin typeface="Noto Sans KR"/>
                          <a:ea typeface="Noto Sans KR"/>
                          <a:cs typeface="Noto Sans KR"/>
                        </a:rPr>
                        <a:t>프런트</a:t>
                      </a:r>
                    </a:p>
                  </a:txBody>
                  <a:tcPr marL="123825" marR="123825" marT="95250" marB="76200">
                    <a:solidFill>
                      <a:srgbClr val="FFFFFF"/>
                    </a:solidFill>
                  </a:tcPr>
                </a:tc>
                <a:tc>
                  <a:txBody>
                    <a:bodyPr wrap="square">
                      <a:noAutofit/>
                    </a:bodyPr>
                    <a:lstStyle/>
                    <a:p>
                      <a:r>
                        <a:rPr sz="1875" b="0">
                          <a:solidFill>
                            <a:srgbClr val="213E39"/>
                          </a:solidFill>
                          <a:latin typeface="Noto Sans KR"/>
                          <a:ea typeface="Noto Sans KR"/>
                          <a:cs typeface="Noto Sans KR"/>
                        </a:rPr>
                        <a:t>Nuxt 4 / Vue 3 / TypeScript</a:t>
                      </a:r>
                    </a:p>
                  </a:txBody>
                  <a:tcPr marL="123825" marR="123825" marT="95250" marB="76200">
                    <a:solidFill>
                      <a:srgbClr val="FFFFFF"/>
                    </a:solidFill>
                  </a:tcPr>
                </a:tc>
                <a:tc>
                  <a:txBody>
                    <a:bodyPr wrap="square">
                      <a:noAutofit/>
                    </a:bodyPr>
                    <a:lstStyle/>
                    <a:p>
                      <a:r>
                        <a:rPr sz="1875" b="0">
                          <a:solidFill>
                            <a:srgbClr val="213E39"/>
                          </a:solidFill>
                          <a:latin typeface="Noto Sans KR"/>
                          <a:ea typeface="Noto Sans KR"/>
                          <a:cs typeface="Noto Sans KR"/>
                        </a:rPr>
                        <a:t>페이지, 폼, 인증 상태와 반응형 UI</a:t>
                      </a:r>
                    </a:p>
                  </a:txBody>
                  <a:tcPr marL="123825" marR="123825" marT="95250" marB="76200">
                    <a:solidFill>
                      <a:srgbClr val="FFFFFF"/>
                    </a:solidFill>
                  </a:tcPr>
                </a:tc>
              </a:tr>
              <a:tr h="923925">
                <a:tc>
                  <a:txBody>
                    <a:bodyPr wrap="square">
                      <a:noAutofit/>
                    </a:bodyPr>
                    <a:lstStyle/>
                    <a:p>
                      <a:r>
                        <a:rPr sz="1875" b="0">
                          <a:solidFill>
                            <a:srgbClr val="213E39"/>
                          </a:solidFill>
                          <a:latin typeface="Noto Sans KR"/>
                          <a:ea typeface="Noto Sans KR"/>
                          <a:cs typeface="Noto Sans KR"/>
                        </a:rPr>
                        <a:t>웹 서버</a:t>
                      </a:r>
                    </a:p>
                  </a:txBody>
                  <a:tcPr marL="123825" marR="123825" marT="95250" marB="76200">
                    <a:solidFill>
                      <a:srgbClr val="F0F4ED"/>
                    </a:solidFill>
                  </a:tcPr>
                </a:tc>
                <a:tc>
                  <a:txBody>
                    <a:bodyPr wrap="square">
                      <a:noAutofit/>
                    </a:bodyPr>
                    <a:lstStyle/>
                    <a:p>
                      <a:r>
                        <a:rPr sz="1875" b="0">
                          <a:solidFill>
                            <a:srgbClr val="213E39"/>
                          </a:solidFill>
                          <a:latin typeface="Noto Sans KR"/>
                          <a:ea typeface="Noto Sans KR"/>
                          <a:cs typeface="Noto Sans KR"/>
                        </a:rPr>
                        <a:t>Nuxt Nitro</a:t>
                      </a:r>
                    </a:p>
                  </a:txBody>
                  <a:tcPr marL="123825" marR="123825" marT="95250" marB="76200">
                    <a:solidFill>
                      <a:srgbClr val="F0F4ED"/>
                    </a:solidFill>
                  </a:tcPr>
                </a:tc>
                <a:tc>
                  <a:txBody>
                    <a:bodyPr wrap="square">
                      <a:noAutofit/>
                    </a:bodyPr>
                    <a:lstStyle/>
                    <a:p>
                      <a:r>
                        <a:rPr sz="1875" b="0">
                          <a:solidFill>
                            <a:srgbClr val="213E39"/>
                          </a:solidFill>
                          <a:latin typeface="Noto Sans KR"/>
                          <a:ea typeface="Noto Sans KR"/>
                          <a:cs typeface="Noto Sans KR"/>
                        </a:rPr>
                        <a:t>/api 요청 프록시. 브라우저는 같은 출처로 호출</a:t>
                      </a:r>
                    </a:p>
                  </a:txBody>
                  <a:tcPr marL="123825" marR="123825" marT="95250" marB="76200">
                    <a:solidFill>
                      <a:srgbClr val="F0F4ED"/>
                    </a:solidFill>
                  </a:tcPr>
                </a:tc>
              </a:tr>
              <a:tr h="923925">
                <a:tc>
                  <a:txBody>
                    <a:bodyPr wrap="square">
                      <a:noAutofit/>
                    </a:bodyPr>
                    <a:lstStyle/>
                    <a:p>
                      <a:r>
                        <a:rPr sz="1875" b="0">
                          <a:solidFill>
                            <a:srgbClr val="213E39"/>
                          </a:solidFill>
                          <a:latin typeface="Noto Sans KR"/>
                          <a:ea typeface="Noto Sans KR"/>
                          <a:cs typeface="Noto Sans KR"/>
                        </a:rPr>
                        <a:t>백엔드</a:t>
                      </a:r>
                    </a:p>
                  </a:txBody>
                  <a:tcPr marL="123825" marR="123825" marT="95250" marB="76200">
                    <a:solidFill>
                      <a:srgbClr val="FFFFFF"/>
                    </a:solidFill>
                  </a:tcPr>
                </a:tc>
                <a:tc>
                  <a:txBody>
                    <a:bodyPr wrap="square">
                      <a:noAutofit/>
                    </a:bodyPr>
                    <a:lstStyle/>
                    <a:p>
                      <a:r>
                        <a:rPr sz="1875" b="0">
                          <a:solidFill>
                            <a:srgbClr val="213E39"/>
                          </a:solidFill>
                          <a:latin typeface="Noto Sans KR"/>
                          <a:ea typeface="Noto Sans KR"/>
                          <a:cs typeface="Noto Sans KR"/>
                        </a:rPr>
                        <a:t>Java 21 / Spring Boot 4 / Security</a:t>
                      </a:r>
                    </a:p>
                  </a:txBody>
                  <a:tcPr marL="123825" marR="123825" marT="95250" marB="76200">
                    <a:solidFill>
                      <a:srgbClr val="FFFFFF"/>
                    </a:solidFill>
                  </a:tcPr>
                </a:tc>
                <a:tc>
                  <a:txBody>
                    <a:bodyPr wrap="square">
                      <a:noAutofit/>
                    </a:bodyPr>
                    <a:lstStyle/>
                    <a:p>
                      <a:r>
                        <a:rPr sz="1875" b="0">
                          <a:solidFill>
                            <a:srgbClr val="213E39"/>
                          </a:solidFill>
                          <a:latin typeface="Noto Sans KR"/>
                          <a:ea typeface="Noto Sans KR"/>
                          <a:cs typeface="Noto Sans KR"/>
                        </a:rPr>
                        <a:t>인증, 소유권 확인, 결심 / 일지 서비스</a:t>
                      </a:r>
                    </a:p>
                  </a:txBody>
                  <a:tcPr marL="123825" marR="123825" marT="95250" marB="76200">
                    <a:solidFill>
                      <a:srgbClr val="FFFFFF"/>
                    </a:solidFill>
                  </a:tcPr>
                </a:tc>
              </a:tr>
              <a:tr h="923925">
                <a:tc>
                  <a:txBody>
                    <a:bodyPr wrap="square">
                      <a:noAutofit/>
                    </a:bodyPr>
                    <a:lstStyle/>
                    <a:p>
                      <a:r>
                        <a:rPr sz="1875" b="0">
                          <a:solidFill>
                            <a:srgbClr val="213E39"/>
                          </a:solidFill>
                          <a:latin typeface="Noto Sans KR"/>
                          <a:ea typeface="Noto Sans KR"/>
                          <a:cs typeface="Noto Sans KR"/>
                        </a:rPr>
                        <a:t>데이터</a:t>
                      </a:r>
                    </a:p>
                  </a:txBody>
                  <a:tcPr marL="123825" marR="123825" marT="95250" marB="76200">
                    <a:solidFill>
                      <a:srgbClr val="F0F4ED"/>
                    </a:solidFill>
                  </a:tcPr>
                </a:tc>
                <a:tc>
                  <a:txBody>
                    <a:bodyPr wrap="square">
                      <a:noAutofit/>
                    </a:bodyPr>
                    <a:lstStyle/>
                    <a:p>
                      <a:r>
                        <a:rPr sz="1875" b="0">
                          <a:solidFill>
                            <a:srgbClr val="213E39"/>
                          </a:solidFill>
                          <a:latin typeface="Noto Sans KR"/>
                          <a:ea typeface="Noto Sans KR"/>
                          <a:cs typeface="Noto Sans KR"/>
                        </a:rPr>
                        <a:t>JPA / PostgreSQL 17 / Flyway</a:t>
                      </a:r>
                    </a:p>
                  </a:txBody>
                  <a:tcPr marL="123825" marR="123825" marT="95250" marB="76200">
                    <a:solidFill>
                      <a:srgbClr val="F0F4ED"/>
                    </a:solidFill>
                  </a:tcPr>
                </a:tc>
                <a:tc>
                  <a:txBody>
                    <a:bodyPr wrap="square">
                      <a:noAutofit/>
                    </a:bodyPr>
                    <a:lstStyle/>
                    <a:p>
                      <a:r>
                        <a:rPr sz="1875" b="0">
                          <a:solidFill>
                            <a:srgbClr val="213E39"/>
                          </a:solidFill>
                          <a:latin typeface="Noto Sans KR"/>
                          <a:ea typeface="Noto Sans KR"/>
                          <a:cs typeface="Noto Sans KR"/>
                        </a:rPr>
                        <a:t>트랜잭션, 저장과 스키마 버전 관리</a:t>
                      </a:r>
                    </a:p>
                  </a:txBody>
                  <a:tcPr marL="123825" marR="123825" marT="95250" marB="76200">
                    <a:solidFill>
                      <a:srgbClr val="F0F4ED"/>
                    </a:solidFill>
                  </a:tcPr>
                </a:tc>
              </a:tr>
              <a:tr h="923925">
                <a:tc>
                  <a:txBody>
                    <a:bodyPr wrap="square">
                      <a:noAutofit/>
                    </a:bodyPr>
                    <a:lstStyle/>
                    <a:p>
                      <a:r>
                        <a:rPr sz="1875" b="0">
                          <a:solidFill>
                            <a:srgbClr val="213E39"/>
                          </a:solidFill>
                          <a:latin typeface="Noto Sans KR"/>
                          <a:ea typeface="Noto Sans KR"/>
                          <a:cs typeface="Noto Sans KR"/>
                        </a:rPr>
                        <a:t>검증</a:t>
                      </a:r>
                    </a:p>
                  </a:txBody>
                  <a:tcPr marL="123825" marR="123825" marT="95250" marB="76200">
                    <a:solidFill>
                      <a:srgbClr val="FFFFFF"/>
                    </a:solidFill>
                  </a:tcPr>
                </a:tc>
                <a:tc>
                  <a:txBody>
                    <a:bodyPr wrap="square">
                      <a:noAutofit/>
                    </a:bodyPr>
                    <a:lstStyle/>
                    <a:p>
                      <a:r>
                        <a:rPr sz="1875" b="0">
                          <a:solidFill>
                            <a:srgbClr val="213E39"/>
                          </a:solidFill>
                          <a:latin typeface="Noto Sans KR"/>
                          <a:ea typeface="Noto Sans KR"/>
                          <a:cs typeface="Noto Sans KR"/>
                        </a:rPr>
                        <a:t>JUnit / Playwright</a:t>
                      </a:r>
                    </a:p>
                  </a:txBody>
                  <a:tcPr marL="123825" marR="123825" marT="95250" marB="76200">
                    <a:solidFill>
                      <a:srgbClr val="FFFFFF"/>
                    </a:solidFill>
                  </a:tcPr>
                </a:tc>
                <a:tc>
                  <a:txBody>
                    <a:bodyPr wrap="square">
                      <a:noAutofit/>
                    </a:bodyPr>
                    <a:lstStyle/>
                    <a:p>
                      <a:r>
                        <a:rPr sz="1875" b="0">
                          <a:solidFill>
                            <a:srgbClr val="213E39"/>
                          </a:solidFill>
                          <a:latin typeface="Noto Sans KR"/>
                          <a:ea typeface="Noto Sans KR"/>
                          <a:cs typeface="Noto Sans KR"/>
                        </a:rPr>
                        <a:t>HTTP API 통합 테스트와 브라우저 시나리오</a:t>
                      </a:r>
                    </a:p>
                  </a:txBody>
                  <a:tcPr marL="123825" marR="123825" marT="95250" marB="76200">
                    <a:solidFill>
                      <a:srgbClr val="FFFFFF"/>
                    </a:solidFill>
                  </a:tcPr>
                </a:tc>
              </a:tr>
            </a:tbl>
          </a:graphicData>
        </a:graphic>
      </p:graphicFrame>
      <p:sp>
        <p:nvSpPr>
          <p:cNvPr id="5" name="text">
            <a:extLst xmlns:a="http://schemas.openxmlformats.org/drawingml/2006/main">
              <a:ext uri="{FF2B5EF4-FFF2-40B4-BE49-F238E27FC236}">
                <a16:creationId xmlns:a16="http://schemas.microsoft.com/office/drawing/2014/main" id="{51D43C09-852F-433C-BB2E-E6B01E450EA5}"/>
              </a:ext>
            </a:extLst>
          </p:cNvPr>
          <p:cNvSpPr>
            <a:spLocks xmlns:a="http://schemas.openxmlformats.org/drawingml/2006/main" noGrp="1"/>
          </p:cNvSpPr>
          <p:nvPr/>
        </p:nvSpPr>
        <p:spPr>
          <a:xfrm xmlns:a="http://schemas.openxmlformats.org/drawingml/2006/main">
            <a:off x="857250" y="7705725"/>
            <a:ext cx="1323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66766F"/>
                </a:solidFill>
                <a:latin typeface="Noto Sans KR"/>
                <a:ea typeface="Noto Sans KR"/>
                <a:cs typeface="Noto Sans KR"/>
              </a:defRPr>
            </a:pPr>
            <a:r>
              <a:rPr sz="1575" b="0">
                <a:solidFill>
                  <a:srgbClr val="66766F"/>
                </a:solidFill>
                <a:latin typeface="Noto Sans KR"/>
                <a:ea typeface="Noto Sans KR"/>
                <a:cs typeface="Noto Sans KR"/>
              </a:rPr>
              <a:t>Nuxt는 클라이언트 렌더링으로 구성했습니다. API는 단일 Spring Boot 애플리케이션입니다.</a:t>
            </a:r>
          </a:p>
        </p:txBody>
      </p:sp>
    </p:spTree>
    <p:extLst>
      <p:ext uri="{BB962C8B-B14F-4D97-AF65-F5344CB8AC3E}">
        <p14:creationId xmlns:p14="http://schemas.microsoft.com/office/powerpoint/2010/main" val="1156903074"/>
      </p:ext>
    </p:extLst>
  </p:cSld>
</p:sld>
</file>

<file path=ppt/slides/slide9.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FF184B6-6AEB-45F9-8D77-E45771045E6F}"/>
              </a:ext>
            </a:extLst>
          </p:cNvPr>
          <p:cNvSpPr>
            <a:spLocks xmlns:a="http://schemas.openxmlformats.org/drawingml/2006/main" noGrp="1"/>
          </p:cNvSpPr>
          <p:nvPr/>
        </p:nvSpPr>
        <p:spPr>
          <a:xfrm xmlns:a="http://schemas.openxmlformats.org/drawingml/2006/main">
            <a:off x="838200" y="514350"/>
            <a:ext cx="1356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13E39"/>
                </a:solidFill>
                <a:latin typeface="Noto Sans KR"/>
                <a:ea typeface="Noto Sans KR"/>
                <a:cs typeface="Noto Sans KR"/>
              </a:defRPr>
            </a:pPr>
            <a:r>
              <a:rPr sz="3600" b="1">
                <a:solidFill>
                  <a:srgbClr val="213E39"/>
                </a:solidFill>
                <a:latin typeface="Noto Sans KR"/>
                <a:ea typeface="Noto Sans KR"/>
                <a:cs typeface="Noto Sans KR"/>
              </a:rPr>
              <a:t>데이터 무결성 설계</a:t>
            </a:r>
          </a:p>
        </p:txBody>
      </p:sp>
      <p:sp>
        <p:nvSpPr>
          <p:cNvPr id="2" name="subtitle">
            <a:extLst xmlns:a="http://schemas.openxmlformats.org/drawingml/2006/main">
              <a:ext uri="{FF2B5EF4-FFF2-40B4-BE49-F238E27FC236}">
                <a16:creationId xmlns:a16="http://schemas.microsoft.com/office/drawing/2014/main" id="{7A0C12EE-6012-4D0F-A4EB-B0C539F7151E}"/>
              </a:ext>
            </a:extLst>
          </p:cNvPr>
          <p:cNvSpPr>
            <a:spLocks xmlns:a="http://schemas.openxmlformats.org/drawingml/2006/main" noGrp="1"/>
          </p:cNvSpPr>
          <p:nvPr/>
        </p:nvSpPr>
        <p:spPr>
          <a:xfrm xmlns:a="http://schemas.openxmlformats.org/drawingml/2006/main">
            <a:off x="857250" y="1304925"/>
            <a:ext cx="1352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66F"/>
                </a:solidFill>
                <a:latin typeface="Noto Sans KR"/>
                <a:ea typeface="Noto Sans KR"/>
                <a:cs typeface="Noto Sans KR"/>
              </a:defRPr>
            </a:pPr>
            <a:r>
              <a:rPr sz="1725" b="0">
                <a:solidFill>
                  <a:srgbClr val="66766F"/>
                </a:solidFill>
                <a:latin typeface="Noto Sans KR"/>
                <a:ea typeface="Noto Sans KR"/>
                <a:cs typeface="Noto Sans KR"/>
              </a:rPr>
              <a:t>소유권, 중복 저장과 동시 수정을 서버에서 처리</a:t>
            </a:r>
          </a:p>
        </p:txBody>
      </p:sp>
      <p:sp>
        <p:nvSpPr>
          <p:cNvPr id="3" name="page-number">
            <a:extLst xmlns:a="http://schemas.openxmlformats.org/drawingml/2006/main">
              <a:ext uri="{FF2B5EF4-FFF2-40B4-BE49-F238E27FC236}">
                <a16:creationId xmlns:a16="http://schemas.microsoft.com/office/drawing/2014/main" id="{30F5D557-031D-46AF-AF35-07C61C4566F7}"/>
              </a:ext>
            </a:extLst>
          </p:cNvPr>
          <p:cNvSpPr>
            <a:spLocks xmlns:a="http://schemas.openxmlformats.org/drawingml/2006/main" noGrp="1"/>
          </p:cNvSpPr>
          <p:nvPr/>
        </p:nvSpPr>
        <p:spPr>
          <a:xfrm xmlns:a="http://schemas.openxmlformats.org/drawingml/2006/main">
            <a:off x="13811250" y="81248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66F"/>
                </a:solidFill>
                <a:latin typeface="Noto Sans KR"/>
                <a:ea typeface="Noto Sans KR"/>
                <a:cs typeface="Noto Sans KR"/>
              </a:defRPr>
            </a:pPr>
            <a:r>
              <a:rPr sz="1350" b="0">
                <a:solidFill>
                  <a:srgbClr val="66766F"/>
                </a:solidFill>
                <a:latin typeface="Noto Sans KR"/>
                <a:ea typeface="Noto Sans KR"/>
                <a:cs typeface="Noto Sans KR"/>
              </a:rPr>
              <a:t>09</a:t>
            </a:r>
          </a:p>
        </p:txBody>
      </p:sp>
      <p:graphicFrame>
        <p:nvGraphicFramePr>
          <p:cNvPr id="8" name=""/>
          <p:cNvGraphicFramePr/>
          <p:nvPr/>
        </p:nvGraphicFramePr>
        <p:xfrm>
          <a:off xmlns:a="http://schemas.openxmlformats.org/drawingml/2006/main" x="838200" y="2238375"/>
          <a:ext xmlns:a="http://schemas.openxmlformats.org/drawingml/2006/main" cx="13563600" cy="5543550"/>
        </p:xfrm>
        <a:graphic xmlns:a="http://schemas.openxmlformats.org/drawingml/2006/main">
          <a:graphicData uri="http://schemas.openxmlformats.org/drawingml/2006/table">
            <a:tbl>
              <a:tblPr/>
              <a:tblGrid>
                <a:gridCol w="4105275"/>
                <a:gridCol w="9458325"/>
              </a:tblGrid>
              <a:tr h="638175">
                <a:tc>
                  <a:txBody>
                    <a:bodyPr wrap="square">
                      <a:noAutofit/>
                    </a:bodyPr>
                    <a:lstStyle/>
                    <a:p>
                      <a:r>
                        <a:rPr sz="2100" b="1">
                          <a:solidFill>
                            <a:srgbClr val="FFFFFF"/>
                          </a:solidFill>
                          <a:latin typeface="Noto Sans KR"/>
                          <a:ea typeface="Noto Sans KR"/>
                          <a:cs typeface="Noto Sans KR"/>
                        </a:rPr>
                        <a:t>고려한 문제</a:t>
                      </a:r>
                    </a:p>
                  </a:txBody>
                  <a:tcPr marL="123825" marR="123825" marT="95250" marB="76200">
                    <a:solidFill>
                      <a:srgbClr val="2D6556"/>
                    </a:solidFill>
                  </a:tcPr>
                </a:tc>
                <a:tc>
                  <a:txBody>
                    <a:bodyPr wrap="square">
                      <a:noAutofit/>
                    </a:bodyPr>
                    <a:lstStyle/>
                    <a:p>
                      <a:r>
                        <a:rPr sz="2100" b="1">
                          <a:solidFill>
                            <a:srgbClr val="FFFFFF"/>
                          </a:solidFill>
                          <a:latin typeface="Noto Sans KR"/>
                          <a:ea typeface="Noto Sans KR"/>
                          <a:cs typeface="Noto Sans KR"/>
                        </a:rPr>
                        <a:t>구현한 처리</a:t>
                      </a:r>
                    </a:p>
                  </a:txBody>
                  <a:tcPr marL="123825" marR="123825" marT="95250" marB="76200">
                    <a:solidFill>
                      <a:srgbClr val="2D6556"/>
                    </a:solidFill>
                  </a:tcPr>
                </a:tc>
              </a:tr>
              <a:tr h="942975">
                <a:tc>
                  <a:txBody>
                    <a:bodyPr wrap="square">
                      <a:noAutofit/>
                    </a:bodyPr>
                    <a:lstStyle/>
                    <a:p>
                      <a:r>
                        <a:rPr sz="2100" b="0">
                          <a:solidFill>
                            <a:srgbClr val="213E39"/>
                          </a:solidFill>
                          <a:latin typeface="Noto Sans KR"/>
                          <a:ea typeface="Noto Sans KR"/>
                          <a:cs typeface="Noto Sans KR"/>
                        </a:rPr>
                        <a:t>사용자 간 데이터 접근</a:t>
                      </a:r>
                    </a:p>
                  </a:txBody>
                  <a:tcPr marL="123825" marR="123825" marT="95250" marB="76200">
                    <a:solidFill>
                      <a:srgbClr val="FFFFFF"/>
                    </a:solidFill>
                  </a:tcPr>
                </a:tc>
                <a:tc>
                  <a:txBody>
                    <a:bodyPr wrap="square">
                      <a:noAutofit/>
                    </a:bodyPr>
                    <a:lstStyle/>
                    <a:p>
                      <a:r>
                        <a:rPr sz="2100" b="0">
                          <a:solidFill>
                            <a:srgbClr val="213E39"/>
                          </a:solidFill>
                          <a:latin typeface="Noto Sans KR"/>
                          <a:ea typeface="Noto Sans KR"/>
                          <a:cs typeface="Noto Sans KR"/>
                        </a:rPr>
                        <a:t>검증된 JWT의 사용자 ID와 결심 소유자를 함께 조회</a:t>
                      </a:r>
                    </a:p>
                  </a:txBody>
                  <a:tcPr marL="123825" marR="123825" marT="95250" marB="76200">
                    <a:solidFill>
                      <a:srgbClr val="FFFFFF"/>
                    </a:solidFill>
                  </a:tcPr>
                </a:tc>
              </a:tr>
              <a:tr h="1038225">
                <a:tc>
                  <a:txBody>
                    <a:bodyPr wrap="square">
                      <a:noAutofit/>
                    </a:bodyPr>
                    <a:lstStyle/>
                    <a:p>
                      <a:r>
                        <a:rPr sz="2100" b="0">
                          <a:solidFill>
                            <a:srgbClr val="213E39"/>
                          </a:solidFill>
                          <a:latin typeface="Noto Sans KR"/>
                          <a:ea typeface="Noto Sans KR"/>
                          <a:cs typeface="Noto Sans KR"/>
                        </a:rPr>
                        <a:t>같은 날의 중복 일지</a:t>
                      </a:r>
                    </a:p>
                  </a:txBody>
                  <a:tcPr marL="123825" marR="123825" marT="95250" marB="76200">
                    <a:solidFill>
                      <a:srgbClr val="F0F4ED"/>
                    </a:solidFill>
                  </a:tcPr>
                </a:tc>
                <a:tc>
                  <a:txBody>
                    <a:bodyPr wrap="square">
                      <a:noAutofit/>
                    </a:bodyPr>
                    <a:lstStyle/>
                    <a:p>
                      <a:r>
                        <a:rPr sz="2100" b="0">
                          <a:solidFill>
                            <a:srgbClr val="213E39"/>
                          </a:solidFill>
                          <a:latin typeface="Noto Sans KR"/>
                          <a:ea typeface="Noto Sans KR"/>
                          <a:cs typeface="Noto Sans KR"/>
                        </a:rPr>
                        <a:t>결심 행 쓰기 잠금과 (goal_id, entry_date) 유일 키 적용</a:t>
                      </a:r>
                    </a:p>
                  </a:txBody>
                  <a:tcPr marL="123825" marR="123825" marT="95250" marB="76200">
                    <a:solidFill>
                      <a:srgbClr val="F0F4ED"/>
                    </a:solidFill>
                  </a:tcPr>
                </a:tc>
              </a:tr>
              <a:tr h="942975">
                <a:tc>
                  <a:txBody>
                    <a:bodyPr wrap="square">
                      <a:noAutofit/>
                    </a:bodyPr>
                    <a:lstStyle/>
                    <a:p>
                      <a:r>
                        <a:rPr sz="2100" b="0">
                          <a:solidFill>
                            <a:srgbClr val="213E39"/>
                          </a:solidFill>
                          <a:latin typeface="Noto Sans KR"/>
                          <a:ea typeface="Noto Sans KR"/>
                          <a:cs typeface="Noto Sans KR"/>
                        </a:rPr>
                        <a:t>결심 수정 충돌</a:t>
                      </a:r>
                    </a:p>
                  </a:txBody>
                  <a:tcPr marL="123825" marR="123825" marT="95250" marB="76200">
                    <a:solidFill>
                      <a:srgbClr val="FFFFFF"/>
                    </a:solidFill>
                  </a:tcPr>
                </a:tc>
                <a:tc>
                  <a:txBody>
                    <a:bodyPr wrap="square">
                      <a:noAutofit/>
                    </a:bodyPr>
                    <a:lstStyle/>
                    <a:p>
                      <a:r>
                        <a:rPr sz="2100" b="0">
                          <a:solidFill>
                            <a:srgbClr val="213E39"/>
                          </a:solidFill>
                          <a:latin typeface="Noto Sans KR"/>
                          <a:ea typeface="Noto Sans KR"/>
                          <a:cs typeface="Noto Sans KR"/>
                        </a:rPr>
                        <a:t>JPA version을 확인하고 오래된 수정 요청에 409 응답</a:t>
                      </a:r>
                    </a:p>
                  </a:txBody>
                  <a:tcPr marL="123825" marR="123825" marT="95250" marB="76200">
                    <a:solidFill>
                      <a:srgbClr val="FFFFFF"/>
                    </a:solidFill>
                  </a:tcPr>
                </a:tc>
              </a:tr>
              <a:tr h="1038225">
                <a:tc>
                  <a:txBody>
                    <a:bodyPr wrap="square">
                      <a:noAutofit/>
                    </a:bodyPr>
                    <a:lstStyle/>
                    <a:p>
                      <a:r>
                        <a:rPr sz="2100" b="0">
                          <a:solidFill>
                            <a:srgbClr val="213E39"/>
                          </a:solidFill>
                          <a:latin typeface="Noto Sans KR"/>
                          <a:ea typeface="Noto Sans KR"/>
                          <a:cs typeface="Noto Sans KR"/>
                        </a:rPr>
                        <a:t>보관과 삭제의 차이</a:t>
                      </a:r>
                    </a:p>
                  </a:txBody>
                  <a:tcPr marL="123825" marR="123825" marT="95250" marB="76200">
                    <a:solidFill>
                      <a:srgbClr val="F0F4ED"/>
                    </a:solidFill>
                  </a:tcPr>
                </a:tc>
                <a:tc>
                  <a:txBody>
                    <a:bodyPr wrap="square">
                      <a:noAutofit/>
                    </a:bodyPr>
                    <a:lstStyle/>
                    <a:p>
                      <a:r>
                        <a:rPr sz="2100" b="0">
                          <a:solidFill>
                            <a:srgbClr val="213E39"/>
                          </a:solidFill>
                          <a:latin typeface="Noto Sans KR"/>
                          <a:ea typeface="Noto Sans KR"/>
                          <a:cs typeface="Noto Sans KR"/>
                        </a:rPr>
                        <a:t>보관은 일지 유지. 결심 삭제는 외래 키로 관련 일지 삭제</a:t>
                      </a:r>
                    </a:p>
                  </a:txBody>
                  <a:tcPr marL="123825" marR="123825" marT="95250" marB="76200">
                    <a:solidFill>
                      <a:srgbClr val="F0F4ED"/>
                    </a:solidFill>
                  </a:tcPr>
                </a:tc>
              </a:tr>
              <a:tr h="942975">
                <a:tc>
                  <a:txBody>
                    <a:bodyPr wrap="square">
                      <a:noAutofit/>
                    </a:bodyPr>
                    <a:lstStyle/>
                    <a:p>
                      <a:r>
                        <a:rPr sz="2100" b="0">
                          <a:solidFill>
                            <a:srgbClr val="213E39"/>
                          </a:solidFill>
                          <a:latin typeface="Noto Sans KR"/>
                          <a:ea typeface="Noto Sans KR"/>
                          <a:cs typeface="Noto Sans KR"/>
                        </a:rPr>
                        <a:t>날짜 일관성</a:t>
                      </a:r>
                    </a:p>
                  </a:txBody>
                  <a:tcPr marL="123825" marR="123825" marT="95250" marB="76200">
                    <a:solidFill>
                      <a:srgbClr val="FFFFFF"/>
                    </a:solidFill>
                  </a:tcPr>
                </a:tc>
                <a:tc>
                  <a:txBody>
                    <a:bodyPr wrap="square">
                      <a:noAutofit/>
                    </a:bodyPr>
                    <a:lstStyle/>
                    <a:p>
                      <a:r>
                        <a:rPr sz="2100" b="0">
                          <a:solidFill>
                            <a:srgbClr val="213E39"/>
                          </a:solidFill>
                          <a:latin typeface="Noto Sans KR"/>
                          <a:ea typeface="Noto Sans KR"/>
                          <a:cs typeface="Noto Sans KR"/>
                        </a:rPr>
                        <a:t>Asia/Seoul 업무 날짜와 UTC 기반 기록 시각 구분</a:t>
                      </a:r>
                    </a:p>
                  </a:txBody>
                  <a:tcPr marL="123825" marR="123825" marT="95250" marB="76200">
                    <a:solidFill>
                      <a:srgbClr val="FFFFFF"/>
                    </a:solidFill>
                  </a:tcPr>
                </a:tc>
              </a:tr>
            </a:tbl>
          </a:graphicData>
        </a:graphic>
      </p:graphicFrame>
    </p:spTree>
    <p:extLst>
      <p:ext uri="{BB962C8B-B14F-4D97-AF65-F5344CB8AC3E}">
        <p14:creationId xmlns:p14="http://schemas.microsoft.com/office/powerpoint/2010/main" val="1135866524"/>
      </p:ext>
    </p:extLst>
  </p:cSld>
</p:sld>
</file>

<file path=ppt/slides/slide10.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2350F9C1-FCF4-4693-8017-A88D0806755D}"/>
              </a:ext>
            </a:extLst>
          </p:cNvPr>
          <p:cNvSpPr>
            <a:spLocks xmlns:a="http://schemas.openxmlformats.org/drawingml/2006/main" noGrp="1"/>
          </p:cNvSpPr>
          <p:nvPr/>
        </p:nvSpPr>
        <p:spPr>
          <a:xfrm xmlns:a="http://schemas.openxmlformats.org/drawingml/2006/main">
            <a:off x="838200" y="514350"/>
            <a:ext cx="1356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13E39"/>
                </a:solidFill>
                <a:latin typeface="Noto Sans KR"/>
                <a:ea typeface="Noto Sans KR"/>
                <a:cs typeface="Noto Sans KR"/>
              </a:defRPr>
            </a:pPr>
            <a:r>
              <a:rPr sz="3600" b="1">
                <a:solidFill>
                  <a:srgbClr val="213E39"/>
                </a:solidFill>
                <a:latin typeface="Noto Sans KR"/>
                <a:ea typeface="Noto Sans KR"/>
                <a:cs typeface="Noto Sans KR"/>
              </a:rPr>
              <a:t>개발과 Docker 실행 구성</a:t>
            </a:r>
          </a:p>
        </p:txBody>
      </p:sp>
      <p:sp>
        <p:nvSpPr>
          <p:cNvPr id="2" name="subtitle">
            <a:extLst xmlns:a="http://schemas.openxmlformats.org/drawingml/2006/main">
              <a:ext uri="{FF2B5EF4-FFF2-40B4-BE49-F238E27FC236}">
                <a16:creationId xmlns:a16="http://schemas.microsoft.com/office/drawing/2014/main" id="{F9EB81B5-0F9B-480F-8658-4B2F35E786A6}"/>
              </a:ext>
            </a:extLst>
          </p:cNvPr>
          <p:cNvSpPr>
            <a:spLocks xmlns:a="http://schemas.openxmlformats.org/drawingml/2006/main" noGrp="1"/>
          </p:cNvSpPr>
          <p:nvPr/>
        </p:nvSpPr>
        <p:spPr>
          <a:xfrm xmlns:a="http://schemas.openxmlformats.org/drawingml/2006/main">
            <a:off x="857250" y="1304925"/>
            <a:ext cx="1352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66F"/>
                </a:solidFill>
                <a:latin typeface="Noto Sans KR"/>
                <a:ea typeface="Noto Sans KR"/>
                <a:cs typeface="Noto Sans KR"/>
              </a:defRPr>
            </a:pPr>
            <a:r>
              <a:rPr sz="1725" b="0">
                <a:solidFill>
                  <a:srgbClr val="66766F"/>
                </a:solidFill>
                <a:latin typeface="Noto Sans KR"/>
                <a:ea typeface="Noto Sans KR"/>
                <a:cs typeface="Noto Sans KR"/>
              </a:rPr>
              <a:t>로컬 디버깅 설정과 이미지 빌드 파일 제공</a:t>
            </a:r>
          </a:p>
        </p:txBody>
      </p:sp>
      <p:sp>
        <p:nvSpPr>
          <p:cNvPr id="3" name="page-number">
            <a:extLst xmlns:a="http://schemas.openxmlformats.org/drawingml/2006/main">
              <a:ext uri="{FF2B5EF4-FFF2-40B4-BE49-F238E27FC236}">
                <a16:creationId xmlns:a16="http://schemas.microsoft.com/office/drawing/2014/main" id="{F2D998C2-36D4-417F-B2F6-4DB873C0DAAC}"/>
              </a:ext>
            </a:extLst>
          </p:cNvPr>
          <p:cNvSpPr>
            <a:spLocks xmlns:a="http://schemas.openxmlformats.org/drawingml/2006/main" noGrp="1"/>
          </p:cNvSpPr>
          <p:nvPr/>
        </p:nvSpPr>
        <p:spPr>
          <a:xfrm xmlns:a="http://schemas.openxmlformats.org/drawingml/2006/main">
            <a:off x="13811250" y="81248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66F"/>
                </a:solidFill>
                <a:latin typeface="Noto Sans KR"/>
                <a:ea typeface="Noto Sans KR"/>
                <a:cs typeface="Noto Sans KR"/>
              </a:defRPr>
            </a:pPr>
            <a:r>
              <a:rPr sz="1350" b="0">
                <a:solidFill>
                  <a:srgbClr val="66766F"/>
                </a:solidFill>
                <a:latin typeface="Noto Sans KR"/>
                <a:ea typeface="Noto Sans KR"/>
                <a:cs typeface="Noto Sans KR"/>
              </a:rPr>
              <a:t>10</a:t>
            </a:r>
          </a:p>
        </p:txBody>
      </p:sp>
      <p:graphicFrame>
        <p:nvGraphicFramePr>
          <p:cNvPr id="10" name=""/>
          <p:cNvGraphicFramePr/>
          <p:nvPr/>
        </p:nvGraphicFramePr>
        <p:xfrm>
          <a:off xmlns:a="http://schemas.openxmlformats.org/drawingml/2006/main" x="838200" y="2171700"/>
          <a:ext xmlns:a="http://schemas.openxmlformats.org/drawingml/2006/main" cx="13563600" cy="4152900"/>
        </p:xfrm>
        <a:graphic xmlns:a="http://schemas.openxmlformats.org/drawingml/2006/main">
          <a:graphicData uri="http://schemas.openxmlformats.org/drawingml/2006/table">
            <a:tbl>
              <a:tblPr/>
              <a:tblGrid>
                <a:gridCol w="2476500"/>
                <a:gridCol w="5143500"/>
                <a:gridCol w="5943600"/>
              </a:tblGrid>
              <a:tr h="600075">
                <a:tc>
                  <a:txBody>
                    <a:bodyPr wrap="square">
                      <a:noAutofit/>
                    </a:bodyPr>
                    <a:lstStyle/>
                    <a:p>
                      <a:r>
                        <a:rPr sz="2025" b="1">
                          <a:solidFill>
                            <a:srgbClr val="FFFFFF"/>
                          </a:solidFill>
                          <a:latin typeface="Noto Sans KR"/>
                          <a:ea typeface="Noto Sans KR"/>
                          <a:cs typeface="Noto Sans KR"/>
                        </a:rPr>
                        <a:t>구성</a:t>
                      </a:r>
                    </a:p>
                  </a:txBody>
                  <a:tcPr marL="123825" marR="123825" marT="95250" marB="76200">
                    <a:solidFill>
                      <a:srgbClr val="2D6556"/>
                    </a:solidFill>
                  </a:tcPr>
                </a:tc>
                <a:tc>
                  <a:txBody>
                    <a:bodyPr wrap="square">
                      <a:noAutofit/>
                    </a:bodyPr>
                    <a:lstStyle/>
                    <a:p>
                      <a:r>
                        <a:rPr sz="2025" b="1">
                          <a:solidFill>
                            <a:srgbClr val="FFFFFF"/>
                          </a:solidFill>
                          <a:latin typeface="Noto Sans KR"/>
                          <a:ea typeface="Noto Sans KR"/>
                          <a:cs typeface="Noto Sans KR"/>
                        </a:rPr>
                        <a:t>로컬 개발</a:t>
                      </a:r>
                    </a:p>
                  </a:txBody>
                  <a:tcPr marL="123825" marR="123825" marT="95250" marB="76200">
                    <a:solidFill>
                      <a:srgbClr val="2D6556"/>
                    </a:solidFill>
                  </a:tcPr>
                </a:tc>
                <a:tc>
                  <a:txBody>
                    <a:bodyPr wrap="square">
                      <a:noAutofit/>
                    </a:bodyPr>
                    <a:lstStyle/>
                    <a:p>
                      <a:r>
                        <a:rPr sz="2025" b="1">
                          <a:solidFill>
                            <a:srgbClr val="FFFFFF"/>
                          </a:solidFill>
                          <a:latin typeface="Noto Sans KR"/>
                          <a:ea typeface="Noto Sans KR"/>
                          <a:cs typeface="Noto Sans KR"/>
                        </a:rPr>
                        <a:t>Docker 구성</a:t>
                      </a:r>
                    </a:p>
                  </a:txBody>
                  <a:tcPr marL="123825" marR="123825" marT="95250" marB="76200">
                    <a:solidFill>
                      <a:srgbClr val="2D6556"/>
                    </a:solidFill>
                  </a:tcPr>
                </a:tc>
              </a:tr>
              <a:tr h="809625">
                <a:tc>
                  <a:txBody>
                    <a:bodyPr wrap="square">
                      <a:noAutofit/>
                    </a:bodyPr>
                    <a:lstStyle/>
                    <a:p>
                      <a:r>
                        <a:rPr sz="2025" b="0">
                          <a:solidFill>
                            <a:srgbClr val="213E39"/>
                          </a:solidFill>
                          <a:latin typeface="Noto Sans KR"/>
                          <a:ea typeface="Noto Sans KR"/>
                          <a:cs typeface="Noto Sans KR"/>
                        </a:rPr>
                        <a:t>PostgreSQL</a:t>
                      </a:r>
                    </a:p>
                  </a:txBody>
                  <a:tcPr marL="123825" marR="123825" marT="95250" marB="76200">
                    <a:solidFill>
                      <a:srgbClr val="FFFFFF"/>
                    </a:solidFill>
                  </a:tcPr>
                </a:tc>
                <a:tc>
                  <a:txBody>
                    <a:bodyPr wrap="square">
                      <a:noAutofit/>
                    </a:bodyPr>
                    <a:lstStyle/>
                    <a:p>
                      <a:r>
                        <a:rPr sz="2025" b="0">
                          <a:solidFill>
                            <a:srgbClr val="213E39"/>
                          </a:solidFill>
                          <a:latin typeface="Noto Sans KR"/>
                          <a:ea typeface="Noto Sans KR"/>
                          <a:cs typeface="Noto Sans KR"/>
                        </a:rPr>
                        <a:t>DB 컨테이너 5433 포트</a:t>
                      </a:r>
                    </a:p>
                  </a:txBody>
                  <a:tcPr marL="123825" marR="123825" marT="95250" marB="76200">
                    <a:solidFill>
                      <a:srgbClr val="FFFFFF"/>
                    </a:solidFill>
                  </a:tcPr>
                </a:tc>
                <a:tc>
                  <a:txBody>
                    <a:bodyPr wrap="square">
                      <a:noAutofit/>
                    </a:bodyPr>
                    <a:lstStyle/>
                    <a:p>
                      <a:r>
                        <a:rPr sz="2025" b="0">
                          <a:solidFill>
                            <a:srgbClr val="213E39"/>
                          </a:solidFill>
                          <a:latin typeface="Noto Sans KR"/>
                          <a:ea typeface="Noto Sans KR"/>
                          <a:cs typeface="Noto Sans KR"/>
                        </a:rPr>
                        <a:t>DB 서비스와 영속 볼륨</a:t>
                      </a:r>
                    </a:p>
                  </a:txBody>
                  <a:tcPr marL="123825" marR="123825" marT="95250" marB="76200">
                    <a:solidFill>
                      <a:srgbClr val="FFFFFF"/>
                    </a:solidFill>
                  </a:tcPr>
                </a:tc>
              </a:tr>
              <a:tr h="914400">
                <a:tc>
                  <a:txBody>
                    <a:bodyPr wrap="square">
                      <a:noAutofit/>
                    </a:bodyPr>
                    <a:lstStyle/>
                    <a:p>
                      <a:r>
                        <a:rPr sz="2025" b="0">
                          <a:solidFill>
                            <a:srgbClr val="213E39"/>
                          </a:solidFill>
                          <a:latin typeface="Noto Sans KR"/>
                          <a:ea typeface="Noto Sans KR"/>
                          <a:cs typeface="Noto Sans KR"/>
                        </a:rPr>
                        <a:t>Spring Boot</a:t>
                      </a:r>
                    </a:p>
                  </a:txBody>
                  <a:tcPr marL="123825" marR="123825" marT="95250" marB="76200">
                    <a:solidFill>
                      <a:srgbClr val="F0F4ED"/>
                    </a:solidFill>
                  </a:tcPr>
                </a:tc>
                <a:tc>
                  <a:txBody>
                    <a:bodyPr wrap="square">
                      <a:noAutofit/>
                    </a:bodyPr>
                    <a:lstStyle/>
                    <a:p>
                      <a:r>
                        <a:rPr sz="2025" b="0">
                          <a:solidFill>
                            <a:srgbClr val="213E39"/>
                          </a:solidFill>
                          <a:latin typeface="Noto Sans KR"/>
                          <a:ea typeface="Noto Sans KR"/>
                          <a:cs typeface="Noto Sans KR"/>
                        </a:rPr>
                        <a:t>IntelliJ Debug, 8080 포트</a:t>
                      </a:r>
                    </a:p>
                  </a:txBody>
                  <a:tcPr marL="123825" marR="123825" marT="95250" marB="76200">
                    <a:solidFill>
                      <a:srgbClr val="F0F4ED"/>
                    </a:solidFill>
                  </a:tcPr>
                </a:tc>
                <a:tc>
                  <a:txBody>
                    <a:bodyPr wrap="square">
                      <a:noAutofit/>
                    </a:bodyPr>
                    <a:lstStyle/>
                    <a:p>
                      <a:r>
                        <a:rPr sz="2025" b="0">
                          <a:solidFill>
                            <a:srgbClr val="213E39"/>
                          </a:solidFill>
                          <a:latin typeface="Noto Sans KR"/>
                          <a:ea typeface="Noto Sans KR"/>
                          <a:cs typeface="Noto Sans KR"/>
                        </a:rPr>
                        <a:t>JDK 빌드 / JRE 실행 이미지</a:t>
                      </a:r>
                    </a:p>
                  </a:txBody>
                  <a:tcPr marL="123825" marR="123825" marT="95250" marB="76200">
                    <a:solidFill>
                      <a:srgbClr val="F0F4ED"/>
                    </a:solidFill>
                  </a:tcPr>
                </a:tc>
              </a:tr>
              <a:tr h="914400">
                <a:tc>
                  <a:txBody>
                    <a:bodyPr wrap="square">
                      <a:noAutofit/>
                    </a:bodyPr>
                    <a:lstStyle/>
                    <a:p>
                      <a:r>
                        <a:rPr sz="2025" b="0">
                          <a:solidFill>
                            <a:srgbClr val="213E39"/>
                          </a:solidFill>
                          <a:latin typeface="Noto Sans KR"/>
                          <a:ea typeface="Noto Sans KR"/>
                          <a:cs typeface="Noto Sans KR"/>
                        </a:rPr>
                        <a:t>Nuxt</a:t>
                      </a:r>
                    </a:p>
                  </a:txBody>
                  <a:tcPr marL="123825" marR="123825" marT="95250" marB="76200">
                    <a:solidFill>
                      <a:srgbClr val="FFFFFF"/>
                    </a:solidFill>
                  </a:tcPr>
                </a:tc>
                <a:tc>
                  <a:txBody>
                    <a:bodyPr wrap="square">
                      <a:noAutofit/>
                    </a:bodyPr>
                    <a:lstStyle/>
                    <a:p>
                      <a:r>
                        <a:rPr sz="2025" b="0">
                          <a:solidFill>
                            <a:srgbClr val="213E39"/>
                          </a:solidFill>
                          <a:latin typeface="Noto Sans KR"/>
                          <a:ea typeface="Noto Sans KR"/>
                          <a:cs typeface="Noto Sans KR"/>
                        </a:rPr>
                        <a:t>npm run dev, 3300 포트</a:t>
                      </a:r>
                    </a:p>
                  </a:txBody>
                  <a:tcPr marL="123825" marR="123825" marT="95250" marB="76200">
                    <a:solidFill>
                      <a:srgbClr val="FFFFFF"/>
                    </a:solidFill>
                  </a:tcPr>
                </a:tc>
                <a:tc>
                  <a:txBody>
                    <a:bodyPr wrap="square">
                      <a:noAutofit/>
                    </a:bodyPr>
                    <a:lstStyle/>
                    <a:p>
                      <a:r>
                        <a:rPr sz="2025" b="0">
                          <a:solidFill>
                            <a:srgbClr val="213E39"/>
                          </a:solidFill>
                          <a:latin typeface="Noto Sans KR"/>
                          <a:ea typeface="Noto Sans KR"/>
                          <a:cs typeface="Noto Sans KR"/>
                        </a:rPr>
                        <a:t>Nuxt 빌드 / Node 실행 이미지</a:t>
                      </a:r>
                    </a:p>
                  </a:txBody>
                  <a:tcPr marL="123825" marR="123825" marT="95250" marB="76200">
                    <a:solidFill>
                      <a:srgbClr val="FFFFFF"/>
                    </a:solidFill>
                  </a:tcPr>
                </a:tc>
              </a:tr>
              <a:tr h="914400">
                <a:tc>
                  <a:txBody>
                    <a:bodyPr wrap="square">
                      <a:noAutofit/>
                    </a:bodyPr>
                    <a:lstStyle/>
                    <a:p>
                      <a:r>
                        <a:rPr sz="2025" b="0">
                          <a:solidFill>
                            <a:srgbClr val="213E39"/>
                          </a:solidFill>
                          <a:latin typeface="Noto Sans KR"/>
                          <a:ea typeface="Noto Sans KR"/>
                          <a:cs typeface="Noto Sans KR"/>
                        </a:rPr>
                        <a:t>연결 확인</a:t>
                      </a:r>
                    </a:p>
                  </a:txBody>
                  <a:tcPr marL="123825" marR="123825" marT="95250" marB="76200">
                    <a:solidFill>
                      <a:srgbClr val="F0F4ED"/>
                    </a:solidFill>
                  </a:tcPr>
                </a:tc>
                <a:tc>
                  <a:txBody>
                    <a:bodyPr wrap="square">
                      <a:noAutofit/>
                    </a:bodyPr>
                    <a:lstStyle/>
                    <a:p>
                      <a:r>
                        <a:rPr sz="2025" b="0">
                          <a:solidFill>
                            <a:srgbClr val="213E39"/>
                          </a:solidFill>
                          <a:latin typeface="Noto Sans KR"/>
                          <a:ea typeface="Noto Sans KR"/>
                          <a:cs typeface="Noto Sans KR"/>
                        </a:rPr>
                        <a:t>API와 웹 health 응답</a:t>
                      </a:r>
                    </a:p>
                  </a:txBody>
                  <a:tcPr marL="123825" marR="123825" marT="95250" marB="76200">
                    <a:solidFill>
                      <a:srgbClr val="F0F4ED"/>
                    </a:solidFill>
                  </a:tcPr>
                </a:tc>
                <a:tc>
                  <a:txBody>
                    <a:bodyPr wrap="square">
                      <a:noAutofit/>
                    </a:bodyPr>
                    <a:lstStyle/>
                    <a:p>
                      <a:r>
                        <a:rPr sz="2025" b="0">
                          <a:solidFill>
                            <a:srgbClr val="213E39"/>
                          </a:solidFill>
                          <a:latin typeface="Noto Sans KR"/>
                          <a:ea typeface="Noto Sans KR"/>
                          <a:cs typeface="Noto Sans KR"/>
                        </a:rPr>
                        <a:t>서비스별 healthcheck와 시작 순서</a:t>
                      </a:r>
                    </a:p>
                  </a:txBody>
                  <a:tcPr marL="123825" marR="123825" marT="95250" marB="76200">
                    <a:solidFill>
                      <a:srgbClr val="F0F4ED"/>
                    </a:solidFill>
                  </a:tcPr>
                </a:tc>
              </a:tr>
            </a:tbl>
          </a:graphicData>
        </a:graphic>
      </p:graphicFrame>
      <p:sp>
        <p:nvSpPr>
          <p:cNvPr id="5" name="text">
            <a:extLst xmlns:a="http://schemas.openxmlformats.org/drawingml/2006/main">
              <a:ext uri="{FF2B5EF4-FFF2-40B4-BE49-F238E27FC236}">
                <a16:creationId xmlns:a16="http://schemas.microsoft.com/office/drawing/2014/main" id="{D5EA8841-3070-4405-8C3F-CA702472A98B}"/>
              </a:ext>
            </a:extLst>
          </p:cNvPr>
          <p:cNvSpPr>
            <a:spLocks xmlns:a="http://schemas.openxmlformats.org/drawingml/2006/main" noGrp="1"/>
          </p:cNvSpPr>
          <p:nvPr/>
        </p:nvSpPr>
        <p:spPr>
          <a:xfrm xmlns:a="http://schemas.openxmlformats.org/drawingml/2006/main">
            <a:off x="895350" y="6848475"/>
            <a:ext cx="1323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D6556"/>
                </a:solidFill>
                <a:latin typeface="Noto Sans KR"/>
                <a:ea typeface="Noto Sans KR"/>
                <a:cs typeface="Noto Sans KR"/>
              </a:defRPr>
            </a:pPr>
            <a:r>
              <a:rPr sz="2700" b="1">
                <a:solidFill>
                  <a:srgbClr val="2D6556"/>
                </a:solidFill>
                <a:latin typeface="Noto Sans KR"/>
                <a:ea typeface="Noto Sans KR"/>
                <a:cs typeface="Noto Sans KR"/>
              </a:rPr>
              <a:t>docker compose up -d --build --wait</a:t>
            </a:r>
          </a:p>
        </p:txBody>
      </p:sp>
      <p:sp>
        <p:nvSpPr>
          <p:cNvPr id="6" name="text">
            <a:extLst xmlns:a="http://schemas.openxmlformats.org/drawingml/2006/main">
              <a:ext uri="{FF2B5EF4-FFF2-40B4-BE49-F238E27FC236}">
                <a16:creationId xmlns:a16="http://schemas.microsoft.com/office/drawing/2014/main" id="{9DB915A0-F792-4E57-AB2A-74020104D3D3}"/>
              </a:ext>
            </a:extLst>
          </p:cNvPr>
          <p:cNvSpPr>
            <a:spLocks xmlns:a="http://schemas.openxmlformats.org/drawingml/2006/main" noGrp="1"/>
          </p:cNvSpPr>
          <p:nvPr/>
        </p:nvSpPr>
        <p:spPr>
          <a:xfrm xmlns:a="http://schemas.openxmlformats.org/drawingml/2006/main">
            <a:off x="857250" y="7810500"/>
            <a:ext cx="1323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965828"/>
                </a:solidFill>
                <a:latin typeface="Noto Sans KR"/>
                <a:ea typeface="Noto Sans KR"/>
                <a:cs typeface="Noto Sans KR"/>
              </a:defRPr>
            </a:pPr>
            <a:r>
              <a:rPr sz="1575" b="0">
                <a:solidFill>
                  <a:srgbClr val="965828"/>
                </a:solidFill>
                <a:latin typeface="Noto Sans KR"/>
                <a:ea typeface="Noto Sans KR"/>
                <a:cs typeface="Noto Sans KR"/>
              </a:rPr>
              <a:t>Compose 구성 검사는 통과했습니다. Docker 전체 기동과 PostgreSQL 통합 검증은 추가 확인 대상입니다.</a:t>
            </a:r>
          </a:p>
        </p:txBody>
      </p:sp>
    </p:spTree>
    <p:extLst>
      <p:ext uri="{BB962C8B-B14F-4D97-AF65-F5344CB8AC3E}">
        <p14:creationId xmlns:p14="http://schemas.microsoft.com/office/powerpoint/2010/main" val="2146146288"/>
      </p:ext>
    </p:extLst>
  </p:cSld>
</p:sld>
</file>

<file path=ppt/slides/slide11.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EA98474-E22A-4E05-B4AF-5A8CFE81610F}"/>
              </a:ext>
            </a:extLst>
          </p:cNvPr>
          <p:cNvSpPr>
            <a:spLocks xmlns:a="http://schemas.openxmlformats.org/drawingml/2006/main" noGrp="1"/>
          </p:cNvSpPr>
          <p:nvPr/>
        </p:nvSpPr>
        <p:spPr>
          <a:xfrm xmlns:a="http://schemas.openxmlformats.org/drawingml/2006/main">
            <a:off x="838200" y="514350"/>
            <a:ext cx="1356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13E39"/>
                </a:solidFill>
                <a:latin typeface="Noto Sans KR"/>
                <a:ea typeface="Noto Sans KR"/>
                <a:cs typeface="Noto Sans KR"/>
              </a:defRPr>
            </a:pPr>
            <a:r>
              <a:rPr sz="3600" b="1">
                <a:solidFill>
                  <a:srgbClr val="213E39"/>
                </a:solidFill>
                <a:latin typeface="Noto Sans KR"/>
                <a:ea typeface="Noto Sans KR"/>
                <a:cs typeface="Noto Sans KR"/>
              </a:rPr>
              <a:t>검증 현황</a:t>
            </a:r>
          </a:p>
        </p:txBody>
      </p:sp>
      <p:sp>
        <p:nvSpPr>
          <p:cNvPr id="2" name="subtitle">
            <a:extLst xmlns:a="http://schemas.openxmlformats.org/drawingml/2006/main">
              <a:ext uri="{FF2B5EF4-FFF2-40B4-BE49-F238E27FC236}">
                <a16:creationId xmlns:a16="http://schemas.microsoft.com/office/drawing/2014/main" id="{5EE777B9-0D54-4EE3-910F-0F5EF9B6A5CD}"/>
              </a:ext>
            </a:extLst>
          </p:cNvPr>
          <p:cNvSpPr>
            <a:spLocks xmlns:a="http://schemas.openxmlformats.org/drawingml/2006/main" noGrp="1"/>
          </p:cNvSpPr>
          <p:nvPr/>
        </p:nvSpPr>
        <p:spPr>
          <a:xfrm xmlns:a="http://schemas.openxmlformats.org/drawingml/2006/main">
            <a:off x="857250" y="1304925"/>
            <a:ext cx="1352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66F"/>
                </a:solidFill>
                <a:latin typeface="Noto Sans KR"/>
                <a:ea typeface="Noto Sans KR"/>
                <a:cs typeface="Noto Sans KR"/>
              </a:defRPr>
            </a:pPr>
            <a:r>
              <a:rPr sz="1725" b="0">
                <a:solidFill>
                  <a:srgbClr val="66766F"/>
                </a:solidFill>
                <a:latin typeface="Noto Sans KR"/>
                <a:ea typeface="Noto Sans KR"/>
                <a:cs typeface="Noto Sans KR"/>
              </a:rPr>
              <a:t>기존 제작 환경의 결과와 로컬 적용 상태</a:t>
            </a:r>
          </a:p>
        </p:txBody>
      </p:sp>
      <p:sp>
        <p:nvSpPr>
          <p:cNvPr id="3" name="page-number">
            <a:extLst xmlns:a="http://schemas.openxmlformats.org/drawingml/2006/main">
              <a:ext uri="{FF2B5EF4-FFF2-40B4-BE49-F238E27FC236}">
                <a16:creationId xmlns:a16="http://schemas.microsoft.com/office/drawing/2014/main" id="{2B18DF4B-3484-45FC-86E1-9494669F7390}"/>
              </a:ext>
            </a:extLst>
          </p:cNvPr>
          <p:cNvSpPr>
            <a:spLocks xmlns:a="http://schemas.openxmlformats.org/drawingml/2006/main" noGrp="1"/>
          </p:cNvSpPr>
          <p:nvPr/>
        </p:nvSpPr>
        <p:spPr>
          <a:xfrm xmlns:a="http://schemas.openxmlformats.org/drawingml/2006/main">
            <a:off x="13811250" y="81248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66F"/>
                </a:solidFill>
                <a:latin typeface="Noto Sans KR"/>
                <a:ea typeface="Noto Sans KR"/>
                <a:cs typeface="Noto Sans KR"/>
              </a:defRPr>
            </a:pPr>
            <a:r>
              <a:rPr sz="1350" b="0">
                <a:solidFill>
                  <a:srgbClr val="66766F"/>
                </a:solidFill>
                <a:latin typeface="Noto Sans KR"/>
                <a:ea typeface="Noto Sans KR"/>
                <a:cs typeface="Noto Sans KR"/>
              </a:rPr>
              <a:t>11</a:t>
            </a:r>
          </a:p>
        </p:txBody>
      </p:sp>
      <p:graphicFrame>
        <p:nvGraphicFramePr>
          <p:cNvPr id="8" name=""/>
          <p:cNvGraphicFramePr/>
          <p:nvPr/>
        </p:nvGraphicFramePr>
        <p:xfrm>
          <a:off xmlns:a="http://schemas.openxmlformats.org/drawingml/2006/main" x="838200" y="2047875"/>
          <a:ext xmlns:a="http://schemas.openxmlformats.org/drawingml/2006/main" cx="13563600" cy="5972175"/>
        </p:xfrm>
        <a:graphic xmlns:a="http://schemas.openxmlformats.org/drawingml/2006/main">
          <a:graphicData uri="http://schemas.openxmlformats.org/drawingml/2006/table">
            <a:tbl>
              <a:tblPr/>
              <a:tblGrid>
                <a:gridCol w="4429125"/>
                <a:gridCol w="2286000"/>
                <a:gridCol w="6848475"/>
              </a:tblGrid>
              <a:tr h="619125">
                <a:tc>
                  <a:txBody>
                    <a:bodyPr wrap="square">
                      <a:noAutofit/>
                    </a:bodyPr>
                    <a:lstStyle/>
                    <a:p>
                      <a:r>
                        <a:rPr sz="1800" b="1">
                          <a:solidFill>
                            <a:srgbClr val="FFFFFF"/>
                          </a:solidFill>
                          <a:latin typeface="Noto Sans KR"/>
                          <a:ea typeface="Noto Sans KR"/>
                          <a:cs typeface="Noto Sans KR"/>
                        </a:rPr>
                        <a:t>검증 항목</a:t>
                      </a:r>
                    </a:p>
                  </a:txBody>
                  <a:tcPr marL="123825" marR="123825" marT="95250" marB="76200">
                    <a:solidFill>
                      <a:srgbClr val="2D6556"/>
                    </a:solidFill>
                  </a:tcPr>
                </a:tc>
                <a:tc>
                  <a:txBody>
                    <a:bodyPr wrap="square">
                      <a:noAutofit/>
                    </a:bodyPr>
                    <a:lstStyle/>
                    <a:p>
                      <a:r>
                        <a:rPr sz="1800" b="1">
                          <a:solidFill>
                            <a:srgbClr val="FFFFFF"/>
                          </a:solidFill>
                          <a:latin typeface="Noto Sans KR"/>
                          <a:ea typeface="Noto Sans KR"/>
                          <a:cs typeface="Noto Sans KR"/>
                        </a:rPr>
                        <a:t>결과</a:t>
                      </a:r>
                    </a:p>
                  </a:txBody>
                  <a:tcPr marL="123825" marR="123825" marT="95250" marB="76200">
                    <a:solidFill>
                      <a:srgbClr val="2D6556"/>
                    </a:solidFill>
                  </a:tcPr>
                </a:tc>
                <a:tc>
                  <a:txBody>
                    <a:bodyPr wrap="square">
                      <a:noAutofit/>
                    </a:bodyPr>
                    <a:lstStyle/>
                    <a:p>
                      <a:r>
                        <a:rPr sz="1800" b="1">
                          <a:solidFill>
                            <a:srgbClr val="FFFFFF"/>
                          </a:solidFill>
                          <a:latin typeface="Noto Sans KR"/>
                          <a:ea typeface="Noto Sans KR"/>
                          <a:cs typeface="Noto Sans KR"/>
                        </a:rPr>
                        <a:t>범위</a:t>
                      </a:r>
                    </a:p>
                  </a:txBody>
                  <a:tcPr marL="123825" marR="123825" marT="95250" marB="76200">
                    <a:solidFill>
                      <a:srgbClr val="2D6556"/>
                    </a:solidFill>
                  </a:tcPr>
                </a:tc>
              </a:tr>
              <a:tr h="923925">
                <a:tc>
                  <a:txBody>
                    <a:bodyPr wrap="square">
                      <a:noAutofit/>
                    </a:bodyPr>
                    <a:lstStyle/>
                    <a:p>
                      <a:r>
                        <a:rPr sz="1800" b="0">
                          <a:solidFill>
                            <a:srgbClr val="213E39"/>
                          </a:solidFill>
                          <a:latin typeface="Noto Sans KR"/>
                          <a:ea typeface="Noto Sans KR"/>
                          <a:cs typeface="Noto Sans KR"/>
                        </a:rPr>
                        <a:t>HTTP API 통합 테스트</a:t>
                      </a:r>
                    </a:p>
                  </a:txBody>
                  <a:tcPr marL="123825" marR="123825" marT="95250" marB="76200">
                    <a:solidFill>
                      <a:srgbClr val="FFFFFF"/>
                    </a:solidFill>
                  </a:tcPr>
                </a:tc>
                <a:tc>
                  <a:txBody>
                    <a:bodyPr wrap="square">
                      <a:noAutofit/>
                    </a:bodyPr>
                    <a:lstStyle/>
                    <a:p>
                      <a:r>
                        <a:rPr sz="1800" b="0">
                          <a:solidFill>
                            <a:srgbClr val="213E39"/>
                          </a:solidFill>
                          <a:latin typeface="Noto Sans KR"/>
                          <a:ea typeface="Noto Sans KR"/>
                          <a:cs typeface="Noto Sans KR"/>
                        </a:rPr>
                        <a:t>10개 통과</a:t>
                      </a:r>
                    </a:p>
                  </a:txBody>
                  <a:tcPr marL="123825" marR="123825" marT="95250" marB="76200">
                    <a:solidFill>
                      <a:srgbClr val="FFFFFF"/>
                    </a:solidFill>
                  </a:tcPr>
                </a:tc>
                <a:tc>
                  <a:txBody>
                    <a:bodyPr wrap="square">
                      <a:noAutofit/>
                    </a:bodyPr>
                    <a:lstStyle/>
                    <a:p>
                      <a:r>
                        <a:rPr sz="1800" b="0">
                          <a:solidFill>
                            <a:srgbClr val="213E39"/>
                          </a:solidFill>
                          <a:latin typeface="Noto Sans KR"/>
                          <a:ea typeface="Noto Sans KR"/>
                          <a:cs typeface="Noto Sans KR"/>
                        </a:rPr>
                        <a:t>실제 HTTP 서버와 H2 PostgreSQL 호환 모드</a:t>
                      </a:r>
                    </a:p>
                  </a:txBody>
                  <a:tcPr marL="123825" marR="123825" marT="95250" marB="76200">
                    <a:solidFill>
                      <a:srgbClr val="FFFFFF"/>
                    </a:solidFill>
                  </a:tcPr>
                </a:tc>
              </a:tr>
              <a:tr h="923925">
                <a:tc>
                  <a:txBody>
                    <a:bodyPr wrap="square">
                      <a:noAutofit/>
                    </a:bodyPr>
                    <a:lstStyle/>
                    <a:p>
                      <a:r>
                        <a:rPr sz="1800" b="0">
                          <a:solidFill>
                            <a:srgbClr val="213E39"/>
                          </a:solidFill>
                          <a:latin typeface="Noto Sans KR"/>
                          <a:ea typeface="Noto Sans KR"/>
                          <a:cs typeface="Noto Sans KR"/>
                        </a:rPr>
                        <a:t>브라우저 시나리오</a:t>
                      </a:r>
                    </a:p>
                  </a:txBody>
                  <a:tcPr marL="123825" marR="123825" marT="95250" marB="76200">
                    <a:solidFill>
                      <a:srgbClr val="F0F4ED"/>
                    </a:solidFill>
                  </a:tcPr>
                </a:tc>
                <a:tc>
                  <a:txBody>
                    <a:bodyPr wrap="square">
                      <a:noAutofit/>
                    </a:bodyPr>
                    <a:lstStyle/>
                    <a:p>
                      <a:r>
                        <a:rPr sz="1800" b="0">
                          <a:solidFill>
                            <a:srgbClr val="213E39"/>
                          </a:solidFill>
                          <a:latin typeface="Noto Sans KR"/>
                          <a:ea typeface="Noto Sans KR"/>
                          <a:cs typeface="Noto Sans KR"/>
                        </a:rPr>
                        <a:t>1개 통과</a:t>
                      </a:r>
                    </a:p>
                  </a:txBody>
                  <a:tcPr marL="123825" marR="123825" marT="95250" marB="76200">
                    <a:solidFill>
                      <a:srgbClr val="F0F4ED"/>
                    </a:solidFill>
                  </a:tcPr>
                </a:tc>
                <a:tc>
                  <a:txBody>
                    <a:bodyPr wrap="square">
                      <a:noAutofit/>
                    </a:bodyPr>
                    <a:lstStyle/>
                    <a:p>
                      <a:r>
                        <a:rPr sz="1800" b="0">
                          <a:solidFill>
                            <a:srgbClr val="213E39"/>
                          </a:solidFill>
                          <a:latin typeface="Noto Sans KR"/>
                          <a:ea typeface="Noto Sans KR"/>
                          <a:cs typeface="Noto Sans KR"/>
                        </a:rPr>
                        <a:t>가입, 결심 생성, 일지 수정 / 삭제, 로그아웃</a:t>
                      </a:r>
                    </a:p>
                  </a:txBody>
                  <a:tcPr marL="123825" marR="123825" marT="95250" marB="76200">
                    <a:solidFill>
                      <a:srgbClr val="F0F4ED"/>
                    </a:solidFill>
                  </a:tcPr>
                </a:tc>
              </a:tr>
              <a:tr h="828675">
                <a:tc>
                  <a:txBody>
                    <a:bodyPr wrap="square">
                      <a:noAutofit/>
                    </a:bodyPr>
                    <a:lstStyle/>
                    <a:p>
                      <a:r>
                        <a:rPr sz="1800" b="0">
                          <a:solidFill>
                            <a:srgbClr val="213E39"/>
                          </a:solidFill>
                          <a:latin typeface="Noto Sans KR"/>
                          <a:ea typeface="Noto Sans KR"/>
                          <a:cs typeface="Noto Sans KR"/>
                        </a:rPr>
                        <a:t>프런트 / 백엔드 빌드</a:t>
                      </a:r>
                    </a:p>
                  </a:txBody>
                  <a:tcPr marL="123825" marR="123825" marT="95250" marB="76200">
                    <a:solidFill>
                      <a:srgbClr val="FFFFFF"/>
                    </a:solidFill>
                  </a:tcPr>
                </a:tc>
                <a:tc>
                  <a:txBody>
                    <a:bodyPr wrap="square">
                      <a:noAutofit/>
                    </a:bodyPr>
                    <a:lstStyle/>
                    <a:p>
                      <a:r>
                        <a:rPr sz="1800" b="0">
                          <a:solidFill>
                            <a:srgbClr val="213E39"/>
                          </a:solidFill>
                          <a:latin typeface="Noto Sans KR"/>
                          <a:ea typeface="Noto Sans KR"/>
                          <a:cs typeface="Noto Sans KR"/>
                        </a:rPr>
                        <a:t>통과</a:t>
                      </a:r>
                    </a:p>
                  </a:txBody>
                  <a:tcPr marL="123825" marR="123825" marT="95250" marB="76200">
                    <a:solidFill>
                      <a:srgbClr val="FFFFFF"/>
                    </a:solidFill>
                  </a:tcPr>
                </a:tc>
                <a:tc>
                  <a:txBody>
                    <a:bodyPr wrap="square">
                      <a:noAutofit/>
                    </a:bodyPr>
                    <a:lstStyle/>
                    <a:p>
                      <a:r>
                        <a:rPr sz="1800" b="0">
                          <a:solidFill>
                            <a:srgbClr val="213E39"/>
                          </a:solidFill>
                          <a:latin typeface="Noto Sans KR"/>
                          <a:ea typeface="Noto Sans KR"/>
                          <a:cs typeface="Noto Sans KR"/>
                        </a:rPr>
                        <a:t>TypeScript 검사, Nuxt 빌드, Java 21 JAR</a:t>
                      </a:r>
                    </a:p>
                  </a:txBody>
                  <a:tcPr marL="123825" marR="123825" marT="95250" marB="76200">
                    <a:solidFill>
                      <a:srgbClr val="FFFFFF"/>
                    </a:solidFill>
                  </a:tcPr>
                </a:tc>
              </a:tr>
              <a:tr h="828675">
                <a:tc>
                  <a:txBody>
                    <a:bodyPr wrap="square">
                      <a:noAutofit/>
                    </a:bodyPr>
                    <a:lstStyle/>
                    <a:p>
                      <a:r>
                        <a:rPr sz="1800" b="0">
                          <a:solidFill>
                            <a:srgbClr val="213E39"/>
                          </a:solidFill>
                          <a:latin typeface="Noto Sans KR"/>
                          <a:ea typeface="Noto Sans KR"/>
                          <a:cs typeface="Noto Sans KR"/>
                        </a:rPr>
                        <a:t>Compose 구성 검사</a:t>
                      </a:r>
                    </a:p>
                  </a:txBody>
                  <a:tcPr marL="123825" marR="123825" marT="95250" marB="76200">
                    <a:solidFill>
                      <a:srgbClr val="F0F4ED"/>
                    </a:solidFill>
                  </a:tcPr>
                </a:tc>
                <a:tc>
                  <a:txBody>
                    <a:bodyPr wrap="square">
                      <a:noAutofit/>
                    </a:bodyPr>
                    <a:lstStyle/>
                    <a:p>
                      <a:r>
                        <a:rPr sz="1800" b="0">
                          <a:solidFill>
                            <a:srgbClr val="213E39"/>
                          </a:solidFill>
                          <a:latin typeface="Noto Sans KR"/>
                          <a:ea typeface="Noto Sans KR"/>
                          <a:cs typeface="Noto Sans KR"/>
                        </a:rPr>
                        <a:t>통과</a:t>
                      </a:r>
                    </a:p>
                  </a:txBody>
                  <a:tcPr marL="123825" marR="123825" marT="95250" marB="76200">
                    <a:solidFill>
                      <a:srgbClr val="F0F4ED"/>
                    </a:solidFill>
                  </a:tcPr>
                </a:tc>
                <a:tc>
                  <a:txBody>
                    <a:bodyPr wrap="square">
                      <a:noAutofit/>
                    </a:bodyPr>
                    <a:lstStyle/>
                    <a:p>
                      <a:r>
                        <a:rPr sz="1800" b="0">
                          <a:solidFill>
                            <a:srgbClr val="213E39"/>
                          </a:solidFill>
                          <a:latin typeface="Noto Sans KR"/>
                          <a:ea typeface="Noto Sans KR"/>
                          <a:cs typeface="Noto Sans KR"/>
                        </a:rPr>
                        <a:t>기본 / 디버그 / 테스트 구성의 정합성</a:t>
                      </a:r>
                    </a:p>
                  </a:txBody>
                  <a:tcPr marL="123825" marR="123825" marT="95250" marB="76200">
                    <a:solidFill>
                      <a:srgbClr val="F0F4ED"/>
                    </a:solidFill>
                  </a:tcPr>
                </a:tc>
              </a:tr>
              <a:tr h="923925">
                <a:tc>
                  <a:txBody>
                    <a:bodyPr wrap="square">
                      <a:noAutofit/>
                    </a:bodyPr>
                    <a:lstStyle/>
                    <a:p>
                      <a:r>
                        <a:rPr sz="1800" b="0">
                          <a:solidFill>
                            <a:srgbClr val="213E39"/>
                          </a:solidFill>
                          <a:latin typeface="Noto Sans KR"/>
                          <a:ea typeface="Noto Sans KR"/>
                          <a:cs typeface="Noto Sans KR"/>
                        </a:rPr>
                        <a:t>PostgreSQL / Docker 전체 실행</a:t>
                      </a:r>
                    </a:p>
                  </a:txBody>
                  <a:tcPr marL="123825" marR="123825" marT="95250" marB="76200">
                    <a:solidFill>
                      <a:srgbClr val="FFFFFF"/>
                    </a:solidFill>
                  </a:tcPr>
                </a:tc>
                <a:tc>
                  <a:txBody>
                    <a:bodyPr wrap="square">
                      <a:noAutofit/>
                    </a:bodyPr>
                    <a:lstStyle/>
                    <a:p>
                      <a:r>
                        <a:rPr sz="1800" b="0">
                          <a:solidFill>
                            <a:srgbClr val="213E39"/>
                          </a:solidFill>
                          <a:latin typeface="Noto Sans KR"/>
                          <a:ea typeface="Noto Sans KR"/>
                          <a:cs typeface="Noto Sans KR"/>
                        </a:rPr>
                        <a:t>추가 확인</a:t>
                      </a:r>
                    </a:p>
                  </a:txBody>
                  <a:tcPr marL="123825" marR="123825" marT="95250" marB="76200">
                    <a:solidFill>
                      <a:srgbClr val="FFFFFF"/>
                    </a:solidFill>
                  </a:tcPr>
                </a:tc>
                <a:tc>
                  <a:txBody>
                    <a:bodyPr wrap="square">
                      <a:noAutofit/>
                    </a:bodyPr>
                    <a:lstStyle/>
                    <a:p>
                      <a:r>
                        <a:rPr sz="1800" b="0">
                          <a:solidFill>
                            <a:srgbClr val="213E39"/>
                          </a:solidFill>
                          <a:latin typeface="Noto Sans KR"/>
                          <a:ea typeface="Noto Sans KR"/>
                          <a:cs typeface="Noto Sans KR"/>
                        </a:rPr>
                        <a:t>실제 DB 테스트와 전체 컨테이너 기동</a:t>
                      </a:r>
                    </a:p>
                  </a:txBody>
                  <a:tcPr marL="123825" marR="123825" marT="95250" marB="76200">
                    <a:solidFill>
                      <a:srgbClr val="FFFFFF"/>
                    </a:solidFill>
                  </a:tcPr>
                </a:tc>
              </a:tr>
              <a:tr h="923925">
                <a:tc>
                  <a:txBody>
                    <a:bodyPr wrap="square">
                      <a:noAutofit/>
                    </a:bodyPr>
                    <a:lstStyle/>
                    <a:p>
                      <a:r>
                        <a:rPr sz="1800" b="0">
                          <a:solidFill>
                            <a:srgbClr val="213E39"/>
                          </a:solidFill>
                          <a:latin typeface="Noto Sans KR"/>
                          <a:ea typeface="Noto Sans KR"/>
                          <a:cs typeface="Noto Sans KR"/>
                        </a:rPr>
                        <a:t>사용자 로컬 회원가입</a:t>
                      </a:r>
                    </a:p>
                  </a:txBody>
                  <a:tcPr marL="123825" marR="123825" marT="95250" marB="76200">
                    <a:solidFill>
                      <a:srgbClr val="F0F4ED"/>
                    </a:solidFill>
                  </a:tcPr>
                </a:tc>
                <a:tc>
                  <a:txBody>
                    <a:bodyPr wrap="square">
                      <a:noAutofit/>
                    </a:bodyPr>
                    <a:lstStyle/>
                    <a:p>
                      <a:r>
                        <a:rPr sz="1800" b="0">
                          <a:solidFill>
                            <a:srgbClr val="213E39"/>
                          </a:solidFill>
                          <a:latin typeface="Noto Sans KR"/>
                          <a:ea typeface="Noto Sans KR"/>
                          <a:cs typeface="Noto Sans KR"/>
                        </a:rPr>
                        <a:t>연결 점검 중</a:t>
                      </a:r>
                    </a:p>
                  </a:txBody>
                  <a:tcPr marL="123825" marR="123825" marT="95250" marB="76200">
                    <a:solidFill>
                      <a:srgbClr val="F0F4ED"/>
                    </a:solidFill>
                  </a:tcPr>
                </a:tc>
                <a:tc>
                  <a:txBody>
                    <a:bodyPr wrap="square">
                      <a:noAutofit/>
                    </a:bodyPr>
                    <a:lstStyle/>
                    <a:p>
                      <a:r>
                        <a:rPr sz="1800" b="0">
                          <a:solidFill>
                            <a:srgbClr val="213E39"/>
                          </a:solidFill>
                          <a:latin typeface="Noto Sans KR"/>
                          <a:ea typeface="Noto Sans KR"/>
                          <a:cs typeface="Noto Sans KR"/>
                        </a:rPr>
                        <a:t>502 제보 후 백엔드 기동 / health 확인 안내</a:t>
                      </a:r>
                    </a:p>
                  </a:txBody>
                  <a:tcPr marL="123825" marR="123825" marT="95250" marB="76200">
                    <a:solidFill>
                      <a:srgbClr val="F0F4ED"/>
                    </a:solidFill>
                  </a:tcPr>
                </a:tc>
              </a:tr>
            </a:tbl>
          </a:graphicData>
        </a:graphic>
      </p:graphicFrame>
    </p:spTree>
    <p:extLst>
      <p:ext uri="{BB962C8B-B14F-4D97-AF65-F5344CB8AC3E}">
        <p14:creationId xmlns:p14="http://schemas.microsoft.com/office/powerpoint/2010/main" val="248186213"/>
      </p:ext>
    </p:extLst>
  </p:cSld>
</p:sld>
</file>

<file path=ppt/slides/slide1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E414471A-D5CC-49D0-8119-8AF65C28DD19}"/>
              </a:ext>
            </a:extLst>
          </p:cNvPr>
          <p:cNvSpPr>
            <a:spLocks xmlns:a="http://schemas.openxmlformats.org/drawingml/2006/main" noGrp="1"/>
          </p:cNvSpPr>
          <p:nvPr/>
        </p:nvSpPr>
        <p:spPr>
          <a:xfrm xmlns:a="http://schemas.openxmlformats.org/drawingml/2006/main">
            <a:off x="838200" y="514350"/>
            <a:ext cx="1356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13E39"/>
                </a:solidFill>
                <a:latin typeface="Noto Sans KR"/>
                <a:ea typeface="Noto Sans KR"/>
                <a:cs typeface="Noto Sans KR"/>
              </a:defRPr>
            </a:pPr>
            <a:r>
              <a:rPr sz="3600" b="1">
                <a:solidFill>
                  <a:srgbClr val="213E39"/>
                </a:solidFill>
                <a:latin typeface="Noto Sans KR"/>
                <a:ea typeface="Noto Sans KR"/>
                <a:cs typeface="Noto Sans KR"/>
              </a:rPr>
              <a:t>제공 산출물과 다음 단계</a:t>
            </a:r>
          </a:p>
        </p:txBody>
      </p:sp>
      <p:sp>
        <p:nvSpPr>
          <p:cNvPr id="2" name="subtitle">
            <a:extLst xmlns:a="http://schemas.openxmlformats.org/drawingml/2006/main">
              <a:ext uri="{FF2B5EF4-FFF2-40B4-BE49-F238E27FC236}">
                <a16:creationId xmlns:a16="http://schemas.microsoft.com/office/drawing/2014/main" id="{F15EFE09-F480-40F6-A608-B82006154F9C}"/>
              </a:ext>
            </a:extLst>
          </p:cNvPr>
          <p:cNvSpPr>
            <a:spLocks xmlns:a="http://schemas.openxmlformats.org/drawingml/2006/main" noGrp="1"/>
          </p:cNvSpPr>
          <p:nvPr/>
        </p:nvSpPr>
        <p:spPr>
          <a:xfrm xmlns:a="http://schemas.openxmlformats.org/drawingml/2006/main">
            <a:off x="857250" y="1304925"/>
            <a:ext cx="1352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66F"/>
                </a:solidFill>
                <a:latin typeface="Noto Sans KR"/>
                <a:ea typeface="Noto Sans KR"/>
                <a:cs typeface="Noto Sans KR"/>
              </a:defRPr>
            </a:pPr>
            <a:r>
              <a:rPr sz="1725" b="0">
                <a:solidFill>
                  <a:srgbClr val="66766F"/>
                </a:solidFill>
                <a:latin typeface="Noto Sans KR"/>
                <a:ea typeface="Noto Sans KR"/>
                <a:cs typeface="Noto Sans KR"/>
              </a:rPr>
              <a:t>구현 내용을 문서와 테스트로 연결한 개인 프로젝트</a:t>
            </a:r>
          </a:p>
        </p:txBody>
      </p:sp>
      <p:sp>
        <p:nvSpPr>
          <p:cNvPr id="3" name="page-number">
            <a:extLst xmlns:a="http://schemas.openxmlformats.org/drawingml/2006/main">
              <a:ext uri="{FF2B5EF4-FFF2-40B4-BE49-F238E27FC236}">
                <a16:creationId xmlns:a16="http://schemas.microsoft.com/office/drawing/2014/main" id="{AEB93973-4531-4542-ABB5-4D638DB770E6}"/>
              </a:ext>
            </a:extLst>
          </p:cNvPr>
          <p:cNvSpPr>
            <a:spLocks xmlns:a="http://schemas.openxmlformats.org/drawingml/2006/main" noGrp="1"/>
          </p:cNvSpPr>
          <p:nvPr/>
        </p:nvSpPr>
        <p:spPr>
          <a:xfrm xmlns:a="http://schemas.openxmlformats.org/drawingml/2006/main">
            <a:off x="13811250" y="81248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66F"/>
                </a:solidFill>
                <a:latin typeface="Noto Sans KR"/>
                <a:ea typeface="Noto Sans KR"/>
                <a:cs typeface="Noto Sans KR"/>
              </a:defRPr>
            </a:pPr>
            <a:r>
              <a:rPr sz="1350" b="0">
                <a:solidFill>
                  <a:srgbClr val="66766F"/>
                </a:solidFill>
                <a:latin typeface="Noto Sans KR"/>
                <a:ea typeface="Noto Sans KR"/>
                <a:cs typeface="Noto Sans KR"/>
              </a:rPr>
              <a:t>12</a:t>
            </a:r>
          </a:p>
        </p:txBody>
      </p:sp>
      <p:sp>
        <p:nvSpPr>
          <p:cNvPr id="4" name="text">
            <a:extLst xmlns:a="http://schemas.openxmlformats.org/drawingml/2006/main">
              <a:ext uri="{FF2B5EF4-FFF2-40B4-BE49-F238E27FC236}">
                <a16:creationId xmlns:a16="http://schemas.microsoft.com/office/drawing/2014/main" id="{1F3B6A30-E75A-456E-B071-01CCAD7B4748}"/>
              </a:ext>
            </a:extLst>
          </p:cNvPr>
          <p:cNvSpPr>
            <a:spLocks xmlns:a="http://schemas.openxmlformats.org/drawingml/2006/main" noGrp="1"/>
          </p:cNvSpPr>
          <p:nvPr/>
        </p:nvSpPr>
        <p:spPr>
          <a:xfrm xmlns:a="http://schemas.openxmlformats.org/drawingml/2006/main">
            <a:off x="866775" y="2133600"/>
            <a:ext cx="621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D6556"/>
                </a:solidFill>
                <a:latin typeface="Noto Sans KR"/>
                <a:ea typeface="Noto Sans KR"/>
                <a:cs typeface="Noto Sans KR"/>
              </a:defRPr>
            </a:pPr>
            <a:r>
              <a:rPr sz="2850" b="1">
                <a:solidFill>
                  <a:srgbClr val="2D6556"/>
                </a:solidFill>
                <a:latin typeface="Noto Sans KR"/>
                <a:ea typeface="Noto Sans KR"/>
                <a:cs typeface="Noto Sans KR"/>
              </a:rPr>
              <a:t>제공 산출물</a:t>
            </a:r>
          </a:p>
        </p:txBody>
      </p:sp>
      <p:graphicFrame>
        <p:nvGraphicFramePr>
          <p:cNvPr id="18" name=""/>
          <p:cNvGraphicFramePr/>
          <p:nvPr/>
        </p:nvGraphicFramePr>
        <p:xfrm>
          <a:off xmlns:a="http://schemas.openxmlformats.org/drawingml/2006/main" x="847725" y="2905125"/>
          <a:ext xmlns:a="http://schemas.openxmlformats.org/drawingml/2006/main" cx="6705600" cy="4533900"/>
        </p:xfrm>
        <a:graphic xmlns:a="http://schemas.openxmlformats.org/drawingml/2006/main">
          <a:graphicData uri="http://schemas.openxmlformats.org/drawingml/2006/table">
            <a:tbl>
              <a:tblPr/>
              <a:tblGrid>
                <a:gridCol w="1924050"/>
                <a:gridCol w="4781550"/>
              </a:tblGrid>
              <a:tr h="571500">
                <a:tc>
                  <a:txBody>
                    <a:bodyPr wrap="square">
                      <a:noAutofit/>
                    </a:bodyPr>
                    <a:lstStyle/>
                    <a:p>
                      <a:r>
                        <a:rPr sz="1875" b="1">
                          <a:solidFill>
                            <a:srgbClr val="FFFFFF"/>
                          </a:solidFill>
                          <a:latin typeface="Noto Sans KR"/>
                          <a:ea typeface="Noto Sans KR"/>
                          <a:cs typeface="Noto Sans KR"/>
                        </a:rPr>
                        <a:t>산출물</a:t>
                      </a:r>
                    </a:p>
                  </a:txBody>
                  <a:tcPr marL="123825" marR="123825" marT="95250" marB="76200">
                    <a:solidFill>
                      <a:srgbClr val="2D6556"/>
                    </a:solidFill>
                  </a:tcPr>
                </a:tc>
                <a:tc>
                  <a:txBody>
                    <a:bodyPr wrap="square">
                      <a:noAutofit/>
                    </a:bodyPr>
                    <a:lstStyle/>
                    <a:p>
                      <a:r>
                        <a:rPr sz="1875" b="1">
                          <a:solidFill>
                            <a:srgbClr val="FFFFFF"/>
                          </a:solidFill>
                          <a:latin typeface="Noto Sans KR"/>
                          <a:ea typeface="Noto Sans KR"/>
                          <a:cs typeface="Noto Sans KR"/>
                        </a:rPr>
                        <a:t>포함 내용</a:t>
                      </a:r>
                    </a:p>
                  </a:txBody>
                  <a:tcPr marL="123825" marR="123825" marT="95250" marB="76200">
                    <a:solidFill>
                      <a:srgbClr val="2D6556"/>
                    </a:solidFill>
                  </a:tcPr>
                </a:tc>
              </a:tr>
              <a:tr h="781050">
                <a:tc>
                  <a:txBody>
                    <a:bodyPr wrap="square">
                      <a:noAutofit/>
                    </a:bodyPr>
                    <a:lstStyle/>
                    <a:p>
                      <a:r>
                        <a:rPr sz="1875" b="0">
                          <a:solidFill>
                            <a:srgbClr val="213E39"/>
                          </a:solidFill>
                          <a:latin typeface="Noto Sans KR"/>
                          <a:ea typeface="Noto Sans KR"/>
                          <a:cs typeface="Noto Sans KR"/>
                        </a:rPr>
                        <a:t>프로젝트 소스</a:t>
                      </a:r>
                    </a:p>
                  </a:txBody>
                  <a:tcPr marL="123825" marR="123825" marT="95250" marB="76200">
                    <a:solidFill>
                      <a:srgbClr val="FFFFFF"/>
                    </a:solidFill>
                  </a:tcPr>
                </a:tc>
                <a:tc>
                  <a:txBody>
                    <a:bodyPr wrap="square">
                      <a:noAutofit/>
                    </a:bodyPr>
                    <a:lstStyle/>
                    <a:p>
                      <a:r>
                        <a:rPr sz="1875" b="0">
                          <a:solidFill>
                            <a:srgbClr val="213E39"/>
                          </a:solidFill>
                          <a:latin typeface="Noto Sans KR"/>
                          <a:ea typeface="Noto Sans KR"/>
                          <a:cs typeface="Noto Sans KR"/>
                        </a:rPr>
                        <a:t>Nuxt 화면과 Spring Boot API</a:t>
                      </a:r>
                    </a:p>
                  </a:txBody>
                  <a:tcPr marL="123825" marR="123825" marT="95250" marB="76200">
                    <a:solidFill>
                      <a:srgbClr val="FFFFFF"/>
                    </a:solidFill>
                  </a:tcPr>
                </a:tc>
              </a:tr>
              <a:tr h="838200">
                <a:tc>
                  <a:txBody>
                    <a:bodyPr wrap="square">
                      <a:noAutofit/>
                    </a:bodyPr>
                    <a:lstStyle/>
                    <a:p>
                      <a:r>
                        <a:rPr sz="1875" b="0">
                          <a:solidFill>
                            <a:srgbClr val="213E39"/>
                          </a:solidFill>
                          <a:latin typeface="Noto Sans KR"/>
                          <a:ea typeface="Noto Sans KR"/>
                          <a:cs typeface="Noto Sans KR"/>
                        </a:rPr>
                        <a:t>데이터 설계</a:t>
                      </a:r>
                    </a:p>
                  </a:txBody>
                  <a:tcPr marL="123825" marR="123825" marT="95250" marB="76200">
                    <a:solidFill>
                      <a:srgbClr val="F0F4ED"/>
                    </a:solidFill>
                  </a:tcPr>
                </a:tc>
                <a:tc>
                  <a:txBody>
                    <a:bodyPr wrap="square">
                      <a:noAutofit/>
                    </a:bodyPr>
                    <a:lstStyle/>
                    <a:p>
                      <a:r>
                        <a:rPr sz="1875" b="0">
                          <a:solidFill>
                            <a:srgbClr val="213E39"/>
                          </a:solidFill>
                          <a:latin typeface="Noto Sans KR"/>
                          <a:ea typeface="Noto Sans KR"/>
                          <a:cs typeface="Noto Sans KR"/>
                        </a:rPr>
                        <a:t>Flyway DDL, 엔티티와 데이터 규칙</a:t>
                      </a:r>
                    </a:p>
                  </a:txBody>
                  <a:tcPr marL="123825" marR="123825" marT="95250" marB="76200">
                    <a:solidFill>
                      <a:srgbClr val="F0F4ED"/>
                    </a:solidFill>
                  </a:tcPr>
                </a:tc>
              </a:tr>
              <a:tr h="781050">
                <a:tc>
                  <a:txBody>
                    <a:bodyPr wrap="square">
                      <a:noAutofit/>
                    </a:bodyPr>
                    <a:lstStyle/>
                    <a:p>
                      <a:r>
                        <a:rPr sz="1875" b="0">
                          <a:solidFill>
                            <a:srgbClr val="213E39"/>
                          </a:solidFill>
                          <a:latin typeface="Noto Sans KR"/>
                          <a:ea typeface="Noto Sans KR"/>
                          <a:cs typeface="Noto Sans KR"/>
                        </a:rPr>
                        <a:t>검증 코드</a:t>
                      </a:r>
                    </a:p>
                  </a:txBody>
                  <a:tcPr marL="123825" marR="123825" marT="95250" marB="76200">
                    <a:solidFill>
                      <a:srgbClr val="FFFFFF"/>
                    </a:solidFill>
                  </a:tcPr>
                </a:tc>
                <a:tc>
                  <a:txBody>
                    <a:bodyPr wrap="square">
                      <a:noAutofit/>
                    </a:bodyPr>
                    <a:lstStyle/>
                    <a:p>
                      <a:r>
                        <a:rPr sz="1875" b="0">
                          <a:solidFill>
                            <a:srgbClr val="213E39"/>
                          </a:solidFill>
                          <a:latin typeface="Noto Sans KR"/>
                          <a:ea typeface="Noto Sans KR"/>
                          <a:cs typeface="Noto Sans KR"/>
                        </a:rPr>
                        <a:t>API 통합 테스트와 브라우저 테스트</a:t>
                      </a:r>
                    </a:p>
                  </a:txBody>
                  <a:tcPr marL="123825" marR="123825" marT="95250" marB="76200">
                    <a:solidFill>
                      <a:srgbClr val="FFFFFF"/>
                    </a:solidFill>
                  </a:tcPr>
                </a:tc>
              </a:tr>
              <a:tr h="781050">
                <a:tc>
                  <a:txBody>
                    <a:bodyPr wrap="square">
                      <a:noAutofit/>
                    </a:bodyPr>
                    <a:lstStyle/>
                    <a:p>
                      <a:r>
                        <a:rPr sz="1875" b="0">
                          <a:solidFill>
                            <a:srgbClr val="213E39"/>
                          </a:solidFill>
                          <a:latin typeface="Noto Sans KR"/>
                          <a:ea typeface="Noto Sans KR"/>
                          <a:cs typeface="Noto Sans KR"/>
                        </a:rPr>
                        <a:t>실행 문서</a:t>
                      </a:r>
                    </a:p>
                  </a:txBody>
                  <a:tcPr marL="123825" marR="123825" marT="95250" marB="76200">
                    <a:solidFill>
                      <a:srgbClr val="F0F4ED"/>
                    </a:solidFill>
                  </a:tcPr>
                </a:tc>
                <a:tc>
                  <a:txBody>
                    <a:bodyPr wrap="square">
                      <a:noAutofit/>
                    </a:bodyPr>
                    <a:lstStyle/>
                    <a:p>
                      <a:r>
                        <a:rPr sz="1875" b="0">
                          <a:solidFill>
                            <a:srgbClr val="213E39"/>
                          </a:solidFill>
                          <a:latin typeface="Noto Sans KR"/>
                          <a:ea typeface="Noto Sans KR"/>
                          <a:cs typeface="Noto Sans KR"/>
                        </a:rPr>
                        <a:t>IntelliJ, Docker, API 호출 예제</a:t>
                      </a:r>
                    </a:p>
                  </a:txBody>
                  <a:tcPr marL="123825" marR="123825" marT="95250" marB="76200">
                    <a:solidFill>
                      <a:srgbClr val="F0F4ED"/>
                    </a:solidFill>
                  </a:tcPr>
                </a:tc>
              </a:tr>
              <a:tr h="781050">
                <a:tc>
                  <a:txBody>
                    <a:bodyPr wrap="square">
                      <a:noAutofit/>
                    </a:bodyPr>
                    <a:lstStyle/>
                    <a:p>
                      <a:r>
                        <a:rPr sz="1875" b="0">
                          <a:solidFill>
                            <a:srgbClr val="213E39"/>
                          </a:solidFill>
                          <a:latin typeface="Noto Sans KR"/>
                          <a:ea typeface="Noto Sans KR"/>
                          <a:cs typeface="Noto Sans KR"/>
                        </a:rPr>
                        <a:t>화면 문서</a:t>
                      </a:r>
                    </a:p>
                  </a:txBody>
                  <a:tcPr marL="123825" marR="123825" marT="95250" marB="76200">
                    <a:solidFill>
                      <a:srgbClr val="FFFFFF"/>
                    </a:solidFill>
                  </a:tcPr>
                </a:tc>
                <a:tc>
                  <a:txBody>
                    <a:bodyPr wrap="square">
                      <a:noAutofit/>
                    </a:bodyPr>
                    <a:lstStyle/>
                    <a:p>
                      <a:r>
                        <a:rPr sz="1875" b="0">
                          <a:solidFill>
                            <a:srgbClr val="213E39"/>
                          </a:solidFill>
                          <a:latin typeface="Noto Sans KR"/>
                          <a:ea typeface="Noto Sans KR"/>
                          <a:cs typeface="Noto Sans KR"/>
                        </a:rPr>
                        <a:t>화면 ID, 입력 / 동작과 API 연결</a:t>
                      </a:r>
                    </a:p>
                  </a:txBody>
                  <a:tcPr marL="123825" marR="123825" marT="95250" marB="76200">
                    <a:solidFill>
                      <a:srgbClr val="FFFFFF"/>
                    </a:solidFill>
                  </a:tcPr>
                </a:tc>
              </a:tr>
            </a:tbl>
          </a:graphicData>
        </a:graphic>
      </p:graphicFrame>
      <p:sp>
        <p:nvSpPr>
          <p:cNvPr id="6" name="text">
            <a:extLst xmlns:a="http://schemas.openxmlformats.org/drawingml/2006/main">
              <a:ext uri="{FF2B5EF4-FFF2-40B4-BE49-F238E27FC236}">
                <a16:creationId xmlns:a16="http://schemas.microsoft.com/office/drawing/2014/main" id="{A628B10D-708A-4277-90AF-3F69AA7B4057}"/>
              </a:ext>
            </a:extLst>
          </p:cNvPr>
          <p:cNvSpPr>
            <a:spLocks xmlns:a="http://schemas.openxmlformats.org/drawingml/2006/main" noGrp="1"/>
          </p:cNvSpPr>
          <p:nvPr/>
        </p:nvSpPr>
        <p:spPr>
          <a:xfrm xmlns:a="http://schemas.openxmlformats.org/drawingml/2006/main">
            <a:off x="8201025" y="2133600"/>
            <a:ext cx="619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D6556"/>
                </a:solidFill>
                <a:latin typeface="Noto Sans KR"/>
                <a:ea typeface="Noto Sans KR"/>
                <a:cs typeface="Noto Sans KR"/>
              </a:defRPr>
            </a:pPr>
            <a:r>
              <a:rPr sz="2850" b="1">
                <a:solidFill>
                  <a:srgbClr val="2D6556"/>
                </a:solidFill>
                <a:latin typeface="Noto Sans KR"/>
                <a:ea typeface="Noto Sans KR"/>
                <a:cs typeface="Noto Sans KR"/>
              </a:rPr>
              <a:t>다음 단계</a:t>
            </a:r>
          </a:p>
        </p:txBody>
      </p:sp>
      <p:sp>
        <p:nvSpPr>
          <p:cNvPr id="7" name="text">
            <a:extLst xmlns:a="http://schemas.openxmlformats.org/drawingml/2006/main">
              <a:ext uri="{FF2B5EF4-FFF2-40B4-BE49-F238E27FC236}">
                <a16:creationId xmlns:a16="http://schemas.microsoft.com/office/drawing/2014/main" id="{206F8703-BF3D-4498-B2F1-F777C965504E}"/>
              </a:ext>
            </a:extLst>
          </p:cNvPr>
          <p:cNvSpPr>
            <a:spLocks xmlns:a="http://schemas.openxmlformats.org/drawingml/2006/main" noGrp="1"/>
          </p:cNvSpPr>
          <p:nvPr/>
        </p:nvSpPr>
        <p:spPr>
          <a:xfrm xmlns:a="http://schemas.openxmlformats.org/drawingml/2006/main">
            <a:off x="8248650" y="2933700"/>
            <a:ext cx="6153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D6556"/>
                </a:solidFill>
                <a:latin typeface="Noto Sans KR"/>
                <a:ea typeface="Noto Sans KR"/>
                <a:cs typeface="Noto Sans KR"/>
              </a:defRPr>
            </a:pPr>
            <a:r>
              <a:rPr sz="2250" b="1">
                <a:solidFill>
                  <a:srgbClr val="2D6556"/>
                </a:solidFill>
                <a:latin typeface="Noto Sans KR"/>
                <a:ea typeface="Noto Sans KR"/>
                <a:cs typeface="Noto Sans KR"/>
              </a:rPr>
              <a:t>로컬 연결 확인</a:t>
            </a:r>
          </a:p>
        </p:txBody>
      </p:sp>
      <p:sp>
        <p:nvSpPr>
          <p:cNvPr id="8" name="text">
            <a:extLst xmlns:a="http://schemas.openxmlformats.org/drawingml/2006/main">
              <a:ext uri="{FF2B5EF4-FFF2-40B4-BE49-F238E27FC236}">
                <a16:creationId xmlns:a16="http://schemas.microsoft.com/office/drawing/2014/main" id="{7FF01017-80CB-4740-979F-0B0A1BF94348}"/>
              </a:ext>
            </a:extLst>
          </p:cNvPr>
          <p:cNvSpPr>
            <a:spLocks xmlns:a="http://schemas.openxmlformats.org/drawingml/2006/main" noGrp="1"/>
          </p:cNvSpPr>
          <p:nvPr/>
        </p:nvSpPr>
        <p:spPr>
          <a:xfrm xmlns:a="http://schemas.openxmlformats.org/drawingml/2006/main">
            <a:off x="8248650" y="3419475"/>
            <a:ext cx="6153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13E39"/>
                </a:solidFill>
                <a:latin typeface="Noto Sans KR"/>
                <a:ea typeface="Noto Sans KR"/>
                <a:cs typeface="Noto Sans KR"/>
              </a:defRPr>
            </a:pPr>
            <a:r>
              <a:rPr sz="1875" b="0">
                <a:solidFill>
                  <a:srgbClr val="213E39"/>
                </a:solidFill>
                <a:latin typeface="Noto Sans KR"/>
                <a:ea typeface="Noto Sans KR"/>
                <a:cs typeface="Noto Sans KR"/>
              </a:rPr>
              <a:t>API health와 회원가입을 확인하고 실제 PostgreSQL 테스트를 실행합니다.</a:t>
            </a:r>
          </a:p>
        </p:txBody>
      </p:sp>
      <p:sp>
        <p:nvSpPr>
          <p:cNvPr id="9" name="text">
            <a:extLst xmlns:a="http://schemas.openxmlformats.org/drawingml/2006/main">
              <a:ext uri="{FF2B5EF4-FFF2-40B4-BE49-F238E27FC236}">
                <a16:creationId xmlns:a16="http://schemas.microsoft.com/office/drawing/2014/main" id="{23C3D963-6ABA-49F0-8D90-B7A943CB9075}"/>
              </a:ext>
            </a:extLst>
          </p:cNvPr>
          <p:cNvSpPr>
            <a:spLocks xmlns:a="http://schemas.openxmlformats.org/drawingml/2006/main" noGrp="1"/>
          </p:cNvSpPr>
          <p:nvPr/>
        </p:nvSpPr>
        <p:spPr>
          <a:xfrm xmlns:a="http://schemas.openxmlformats.org/drawingml/2006/main">
            <a:off x="8248650" y="4429125"/>
            <a:ext cx="6153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D6556"/>
                </a:solidFill>
                <a:latin typeface="Noto Sans KR"/>
                <a:ea typeface="Noto Sans KR"/>
                <a:cs typeface="Noto Sans KR"/>
              </a:defRPr>
            </a:pPr>
            <a:r>
              <a:rPr sz="2250" b="1">
                <a:solidFill>
                  <a:srgbClr val="2D6556"/>
                </a:solidFill>
                <a:latin typeface="Noto Sans KR"/>
                <a:ea typeface="Noto Sans KR"/>
                <a:cs typeface="Noto Sans KR"/>
              </a:rPr>
              <a:t>Docker 통합 실행</a:t>
            </a:r>
          </a:p>
        </p:txBody>
      </p:sp>
      <p:sp>
        <p:nvSpPr>
          <p:cNvPr id="10" name="text">
            <a:extLst xmlns:a="http://schemas.openxmlformats.org/drawingml/2006/main">
              <a:ext uri="{FF2B5EF4-FFF2-40B4-BE49-F238E27FC236}">
                <a16:creationId xmlns:a16="http://schemas.microsoft.com/office/drawing/2014/main" id="{25A0AA13-9D16-47EB-A295-395C630DFA58}"/>
              </a:ext>
            </a:extLst>
          </p:cNvPr>
          <p:cNvSpPr>
            <a:spLocks xmlns:a="http://schemas.openxmlformats.org/drawingml/2006/main" noGrp="1"/>
          </p:cNvSpPr>
          <p:nvPr/>
        </p:nvSpPr>
        <p:spPr>
          <a:xfrm xmlns:a="http://schemas.openxmlformats.org/drawingml/2006/main">
            <a:off x="8248650" y="4914900"/>
            <a:ext cx="6153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13E39"/>
                </a:solidFill>
                <a:latin typeface="Noto Sans KR"/>
                <a:ea typeface="Noto Sans KR"/>
                <a:cs typeface="Noto Sans KR"/>
              </a:defRPr>
            </a:pPr>
            <a:r>
              <a:rPr sz="1875" b="0">
                <a:solidFill>
                  <a:srgbClr val="213E39"/>
                </a:solidFill>
                <a:latin typeface="Noto Sans KR"/>
                <a:ea typeface="Noto Sans KR"/>
                <a:cs typeface="Noto Sans KR"/>
              </a:rPr>
              <a:t>전체 서비스를 띄워 재시작 후 데이터 유지와 API 연결을 확인합니다.</a:t>
            </a:r>
          </a:p>
        </p:txBody>
      </p:sp>
      <p:sp>
        <p:nvSpPr>
          <p:cNvPr id="11" name="text">
            <a:extLst xmlns:a="http://schemas.openxmlformats.org/drawingml/2006/main">
              <a:ext uri="{FF2B5EF4-FFF2-40B4-BE49-F238E27FC236}">
                <a16:creationId xmlns:a16="http://schemas.microsoft.com/office/drawing/2014/main" id="{4F713A07-0E6A-4C48-A92D-5A5DB477F2F2}"/>
              </a:ext>
            </a:extLst>
          </p:cNvPr>
          <p:cNvSpPr>
            <a:spLocks xmlns:a="http://schemas.openxmlformats.org/drawingml/2006/main" noGrp="1"/>
          </p:cNvSpPr>
          <p:nvPr/>
        </p:nvSpPr>
        <p:spPr>
          <a:xfrm xmlns:a="http://schemas.openxmlformats.org/drawingml/2006/main">
            <a:off x="8248650" y="5924550"/>
            <a:ext cx="6153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D6556"/>
                </a:solidFill>
                <a:latin typeface="Noto Sans KR"/>
                <a:ea typeface="Noto Sans KR"/>
                <a:cs typeface="Noto Sans KR"/>
              </a:defRPr>
            </a:pPr>
            <a:r>
              <a:rPr sz="2250" b="1">
                <a:solidFill>
                  <a:srgbClr val="2D6556"/>
                </a:solidFill>
                <a:latin typeface="Noto Sans KR"/>
                <a:ea typeface="Noto Sans KR"/>
                <a:cs typeface="Noto Sans KR"/>
              </a:rPr>
              <a:t>인증과 운영 확장</a:t>
            </a:r>
          </a:p>
        </p:txBody>
      </p:sp>
      <p:sp>
        <p:nvSpPr>
          <p:cNvPr id="12" name="text">
            <a:extLst xmlns:a="http://schemas.openxmlformats.org/drawingml/2006/main">
              <a:ext uri="{FF2B5EF4-FFF2-40B4-BE49-F238E27FC236}">
                <a16:creationId xmlns:a16="http://schemas.microsoft.com/office/drawing/2014/main" id="{B341C7DF-CDEF-49EA-ADAF-11147FE8A97A}"/>
              </a:ext>
            </a:extLst>
          </p:cNvPr>
          <p:cNvSpPr>
            <a:spLocks xmlns:a="http://schemas.openxmlformats.org/drawingml/2006/main" noGrp="1"/>
          </p:cNvSpPr>
          <p:nvPr/>
        </p:nvSpPr>
        <p:spPr>
          <a:xfrm xmlns:a="http://schemas.openxmlformats.org/drawingml/2006/main">
            <a:off x="8248650" y="6410325"/>
            <a:ext cx="6153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13E39"/>
                </a:solidFill>
                <a:latin typeface="Noto Sans KR"/>
                <a:ea typeface="Noto Sans KR"/>
                <a:cs typeface="Noto Sans KR"/>
              </a:defRPr>
            </a:pPr>
            <a:r>
              <a:rPr sz="1875" b="0">
                <a:solidFill>
                  <a:srgbClr val="213E39"/>
                </a:solidFill>
                <a:latin typeface="Noto Sans KR"/>
                <a:ea typeface="Noto Sans KR"/>
                <a:cs typeface="Noto Sans KR"/>
              </a:rPr>
              <a:t>필요에 따라 계정 복구, 토큰 갱신과 운영 배포 구성을 확장합니다.</a:t>
            </a:r>
          </a:p>
        </p:txBody>
      </p:sp>
      <p:sp>
        <p:nvSpPr>
          <p:cNvPr id="13" name="text">
            <a:extLst xmlns:a="http://schemas.openxmlformats.org/drawingml/2006/main">
              <a:ext uri="{FF2B5EF4-FFF2-40B4-BE49-F238E27FC236}">
                <a16:creationId xmlns:a16="http://schemas.microsoft.com/office/drawing/2014/main" id="{9CDB0C17-0960-4E27-97F8-BB38535A2AD0}"/>
              </a:ext>
            </a:extLst>
          </p:cNvPr>
          <p:cNvSpPr>
            <a:spLocks xmlns:a="http://schemas.openxmlformats.org/drawingml/2006/main" noGrp="1"/>
          </p:cNvSpPr>
          <p:nvPr/>
        </p:nvSpPr>
        <p:spPr>
          <a:xfrm xmlns:a="http://schemas.openxmlformats.org/drawingml/2006/main">
            <a:off x="857250" y="7705725"/>
            <a:ext cx="1323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66766F"/>
                </a:solidFill>
                <a:latin typeface="Noto Sans KR"/>
                <a:ea typeface="Noto Sans KR"/>
                <a:cs typeface="Noto Sans KR"/>
              </a:defRPr>
            </a:pPr>
            <a:r>
              <a:rPr sz="1575" b="0">
                <a:solidFill>
                  <a:srgbClr val="66766F"/>
                </a:solidFill>
                <a:latin typeface="Noto Sans KR"/>
                <a:ea typeface="Noto Sans KR"/>
                <a:cs typeface="Noto Sans KR"/>
              </a:rPr>
              <a:t>요구사항 정리, 구현과 문서화 과정에 AI 협업을 적용했습니다.</a:t>
            </a:r>
          </a:p>
        </p:txBody>
      </p:sp>
    </p:spTree>
    <p:extLst>
      <p:ext uri="{BB962C8B-B14F-4D97-AF65-F5344CB8AC3E}">
        <p14:creationId xmlns:p14="http://schemas.microsoft.com/office/powerpoint/2010/main" val="19598220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2026-09-15T06:55:59.2900000Z</dcterms:created>
  <dcterms:modified xsi:type="dcterms:W3CDTF">2026-09-15T06:55:59.2900000Z</dcterms:modified>
</coreProperties>
</file>